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 id="2147483660" r:id="rId2"/>
  </p:sldMasterIdLst>
  <p:notesMasterIdLst>
    <p:notesMasterId r:id="rId27"/>
  </p:notesMasterIdLst>
  <p:sldIdLst>
    <p:sldId id="256" r:id="rId3"/>
    <p:sldId id="281" r:id="rId4"/>
    <p:sldId id="257" r:id="rId5"/>
    <p:sldId id="258" r:id="rId6"/>
    <p:sldId id="259" r:id="rId7"/>
    <p:sldId id="261" r:id="rId8"/>
    <p:sldId id="262" r:id="rId9"/>
    <p:sldId id="263" r:id="rId10"/>
    <p:sldId id="264" r:id="rId11"/>
    <p:sldId id="265" r:id="rId12"/>
    <p:sldId id="267" r:id="rId13"/>
    <p:sldId id="268" r:id="rId14"/>
    <p:sldId id="280" r:id="rId15"/>
    <p:sldId id="269" r:id="rId16"/>
    <p:sldId id="270" r:id="rId17"/>
    <p:sldId id="271" r:id="rId18"/>
    <p:sldId id="278" r:id="rId19"/>
    <p:sldId id="279" r:id="rId20"/>
    <p:sldId id="272" r:id="rId21"/>
    <p:sldId id="273" r:id="rId22"/>
    <p:sldId id="274" r:id="rId23"/>
    <p:sldId id="275" r:id="rId24"/>
    <p:sldId id="276" r:id="rId25"/>
    <p:sldId id="277" r:id="rId26"/>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438" autoAdjust="0"/>
  </p:normalViewPr>
  <p:slideViewPr>
    <p:cSldViewPr snapToGrid="0">
      <p:cViewPr varScale="1">
        <p:scale>
          <a:sx n="87" d="100"/>
          <a:sy n="87" d="100"/>
        </p:scale>
        <p:origin x="66" y="414"/>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microsoft.com/office/2016/11/relationships/changesInfo" Target="changesInfos/changesInfo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notesMaster" Target="notesMasters/notesMaster1.xml"/><Relationship Id="rId30"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浩铭 杨" userId="a5539c3cdb95f1cd" providerId="LiveId" clId="{CED2B997-8D4E-4AC8-AFB0-B3D3FE4592C1}"/>
    <pc:docChg chg="modSld">
      <pc:chgData name="浩铭 杨" userId="a5539c3cdb95f1cd" providerId="LiveId" clId="{CED2B997-8D4E-4AC8-AFB0-B3D3FE4592C1}" dt="2026-03-26T14:33:15.851" v="60" actId="20577"/>
      <pc:docMkLst>
        <pc:docMk/>
      </pc:docMkLst>
      <pc:sldChg chg="modSp mod modNotesTx">
        <pc:chgData name="浩铭 杨" userId="a5539c3cdb95f1cd" providerId="LiveId" clId="{CED2B997-8D4E-4AC8-AFB0-B3D3FE4592C1}" dt="2026-03-26T14:32:22.150" v="53" actId="20577"/>
        <pc:sldMkLst>
          <pc:docMk/>
          <pc:sldMk cId="0" sldId="256"/>
        </pc:sldMkLst>
        <pc:spChg chg="mod">
          <ac:chgData name="浩铭 杨" userId="a5539c3cdb95f1cd" providerId="LiveId" clId="{CED2B997-8D4E-4AC8-AFB0-B3D3FE4592C1}" dt="2026-03-26T14:30:32.488" v="25" actId="20577"/>
          <ac:spMkLst>
            <pc:docMk/>
            <pc:sldMk cId="0" sldId="256"/>
            <ac:spMk id="5" creationId="{00000000-0000-0000-0000-000000000000}"/>
          </ac:spMkLst>
        </pc:spChg>
      </pc:sldChg>
      <pc:sldChg chg="modSp mod">
        <pc:chgData name="浩铭 杨" userId="a5539c3cdb95f1cd" providerId="LiveId" clId="{CED2B997-8D4E-4AC8-AFB0-B3D3FE4592C1}" dt="2026-03-26T14:33:15.851" v="60" actId="20577"/>
        <pc:sldMkLst>
          <pc:docMk/>
          <pc:sldMk cId="0" sldId="262"/>
        </pc:sldMkLst>
        <pc:spChg chg="mod">
          <ac:chgData name="浩铭 杨" userId="a5539c3cdb95f1cd" providerId="LiveId" clId="{CED2B997-8D4E-4AC8-AFB0-B3D3FE4592C1}" dt="2026-03-26T14:33:15.851" v="60" actId="20577"/>
          <ac:spMkLst>
            <pc:docMk/>
            <pc:sldMk cId="0" sldId="262"/>
            <ac:spMk id="10"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12.04.2026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dirty="0" err="1">
                <a:solidFill>
                  <a:srgbClr val="000000"/>
                </a:solidFill>
              </a:rPr>
              <a:t>大家好，欢迎参加本次项目介绍汇报。今天我将为大家展示我们团队开发的“路评</a:t>
            </a:r>
            <a:r>
              <a:rPr lang="en-US" sz="1400" b="0" i="0" u="none" strike="noStrike" dirty="0">
                <a:solidFill>
                  <a:srgbClr val="000000"/>
                </a:solidFill>
              </a:rPr>
              <a:t>——</a:t>
            </a:r>
            <a:r>
              <a:rPr lang="zh-CN" altLang="en-US" sz="1400" b="0" i="0" u="none" strike="noStrike" dirty="0">
                <a:solidFill>
                  <a:srgbClr val="000000"/>
                </a:solidFill>
              </a:rPr>
              <a:t>基于</a:t>
            </a:r>
            <a:r>
              <a:rPr lang="en-US" altLang="zh-CN" sz="1400" b="0" i="0" u="none" strike="noStrike" dirty="0">
                <a:solidFill>
                  <a:srgbClr val="000000"/>
                </a:solidFill>
              </a:rPr>
              <a:t>flask</a:t>
            </a:r>
            <a:r>
              <a:rPr lang="zh-CN" altLang="en-US" sz="1400" b="0" i="0" u="none" strike="noStrike" dirty="0">
                <a:solidFill>
                  <a:srgbClr val="000000"/>
                </a:solidFill>
              </a:rPr>
              <a:t>及高德</a:t>
            </a:r>
            <a:r>
              <a:rPr lang="en-US" altLang="zh-CN" sz="1400" b="0" i="0" u="none" strike="noStrike" dirty="0">
                <a:solidFill>
                  <a:srgbClr val="000000"/>
                </a:solidFill>
              </a:rPr>
              <a:t>API</a:t>
            </a:r>
            <a:r>
              <a:rPr lang="en-US" sz="1400" b="0" i="0" u="none" strike="noStrike" dirty="0">
                <a:solidFill>
                  <a:srgbClr val="000000"/>
                </a:solidFill>
              </a:rPr>
              <a:t>自动驾驶路段实时适宜性分析平台”。这个平台旨在利用大数据和实时分析技术，为智能驾驶提供精准的路段适宜性评估，解决当前行业面临的痛点问题。</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dirty="0">
                <a:solidFill>
                  <a:srgbClr val="000000"/>
                </a:solidFill>
              </a:rPr>
              <a:t>本次汇报将分为五个部分。首先，我们会分析项目的背景和要解决的核心问题；接着，详细介绍系统的整体设计与架构；然后，展示平台的核心功能与所采用的技术栈；之后，分享我们的数据分析与实验结果；最后，对项目进行总结并展望未来的发展方向。</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首先，让我们进入第一部分：项目背景与问题。在这一部分，我们将探讨智能驾驶发展的现状以及我们平台试图解决的核心痛点。</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dirty="0" err="1">
                <a:solidFill>
                  <a:srgbClr val="000000"/>
                </a:solidFill>
              </a:rPr>
              <a:t>随着智能驾驶技术的飞速发展，我们看到了巨大的潜力，但同时也面临着一系列亟待解决的问题</a:t>
            </a:r>
            <a:r>
              <a:rPr lang="en-US" sz="1400" b="0" i="0" u="none" strike="noStrike" dirty="0">
                <a:solidFill>
                  <a:srgbClr val="000000"/>
                </a:solidFill>
              </a:rPr>
              <a:t>。</a:t>
            </a:r>
          </a:p>
          <a:p>
            <a:pPr indent="0" algn="l">
              <a:lnSpc>
                <a:spcPct val="100000"/>
              </a:lnSpc>
            </a:pPr>
            <a:r>
              <a:rPr lang="en-US" sz="1400" b="0" i="0" u="none" strike="noStrike" dirty="0" err="1">
                <a:solidFill>
                  <a:srgbClr val="000000"/>
                </a:solidFill>
              </a:rPr>
              <a:t>首先，缺乏一个量化的评估体系，导致驾驶员只能凭感觉判断是否开启自动驾驶，这带来了很大的安全隐患</a:t>
            </a:r>
            <a:r>
              <a:rPr lang="en-US" sz="1400" b="0" i="0" u="none" strike="noStrike" dirty="0">
                <a:solidFill>
                  <a:srgbClr val="000000"/>
                </a:solidFill>
              </a:rPr>
              <a:t>。</a:t>
            </a:r>
          </a:p>
          <a:p>
            <a:pPr indent="0" algn="l">
              <a:lnSpc>
                <a:spcPct val="100000"/>
              </a:lnSpc>
            </a:pPr>
            <a:r>
              <a:rPr lang="en-US" sz="1400" b="0" i="0" u="none" strike="noStrike" dirty="0" err="1">
                <a:solidFill>
                  <a:srgbClr val="000000"/>
                </a:solidFill>
              </a:rPr>
              <a:t>其次，交通、气象、道路等多源数据的融合非常困难，且难以保证实时性，这限制了系统的感知能力</a:t>
            </a:r>
            <a:r>
              <a:rPr lang="en-US" sz="1400" b="0" i="0" u="none" strike="noStrike" dirty="0">
                <a:solidFill>
                  <a:srgbClr val="000000"/>
                </a:solidFill>
              </a:rPr>
              <a:t>。</a:t>
            </a:r>
          </a:p>
          <a:p>
            <a:pPr indent="0" algn="l">
              <a:lnSpc>
                <a:spcPct val="100000"/>
              </a:lnSpc>
            </a:pPr>
            <a:r>
              <a:rPr lang="en-US" sz="1400" b="0" i="0" u="none" strike="noStrike" dirty="0">
                <a:solidFill>
                  <a:srgbClr val="000000"/>
                </a:solidFill>
              </a:rPr>
              <a:t>此外，单车智能系统“</a:t>
            </a:r>
            <a:r>
              <a:rPr lang="en-US" sz="1400" b="0" i="0" u="none" strike="noStrike" dirty="0" err="1">
                <a:solidFill>
                  <a:srgbClr val="000000"/>
                </a:solidFill>
              </a:rPr>
              <a:t>目光短浅</a:t>
            </a:r>
            <a:r>
              <a:rPr lang="en-US" sz="1400" b="0" i="0" u="none" strike="noStrike" dirty="0">
                <a:solidFill>
                  <a:srgbClr val="000000"/>
                </a:solidFill>
              </a:rPr>
              <a:t>”，</a:t>
            </a:r>
            <a:r>
              <a:rPr lang="en-US" sz="1400" b="0" i="0" u="none" strike="noStrike" dirty="0" err="1">
                <a:solidFill>
                  <a:srgbClr val="000000"/>
                </a:solidFill>
              </a:rPr>
              <a:t>无法获取全局的交通状况，限制了决策的科学性</a:t>
            </a:r>
            <a:r>
              <a:rPr lang="en-US" sz="1400" b="0" i="0" u="none" strike="noStrike" dirty="0">
                <a:solidFill>
                  <a:srgbClr val="000000"/>
                </a:solidFill>
              </a:rPr>
              <a:t>。</a:t>
            </a:r>
          </a:p>
          <a:p>
            <a:pPr indent="0" algn="l">
              <a:lnSpc>
                <a:spcPct val="100000"/>
              </a:lnSpc>
            </a:pPr>
            <a:r>
              <a:rPr lang="en-US" sz="1400" b="0" i="0" u="none" strike="noStrike" dirty="0" err="1">
                <a:solidFill>
                  <a:srgbClr val="000000"/>
                </a:solidFill>
              </a:rPr>
              <a:t>最后，数据获取的稳定性也是一个挑战，开放API的配额和异常问题时常发生</a:t>
            </a:r>
            <a:r>
              <a:rPr lang="en-US" sz="1400" b="0" i="0" u="none" strike="noStrike" dirty="0">
                <a:solidFill>
                  <a:srgbClr val="000000"/>
                </a:solidFill>
              </a:rPr>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针对这些问题，我们设计并开发了一套完整的解决方案。接下来，我将为大家介绍我们系统的整体设计与架构。</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我们的系统采用了清晰的三层架构。最上层是前端可视化层，负责与用户交互，展示地图和评估结果。中间是后端服务层，这是系统的大脑，负责处理所有的数据和算法。最底层是数据采集层，负责从高德地图API获取实时数据。这种分层设计使得系统各部分职责明确，易于维护和扩展。</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我们的数据来源非常清晰，全部基于高德地图的开放API。这包括地理编码、实时交通流、环境气象以及道路设施和事件数据。这些多源数据的融合为我们的评估提供了全面而坚实的基础。</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了解了系统架构后，我们来深入看看平台的核心功能模块和所采用的关键技术。</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我们的系统主要包含四个核心功能模块。数据采集模块确保了数据的稳定和高效获取；量化评分模块是系统的核心，将多源数据转化为客观的评分；可视化模块让用户能直观地看到评估结果；而API服务模块则为系统的集成和扩展提供了便利。</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我们采用了业界成熟且高效的技术栈。后端基于Python和Flask框架，保证了开发效率和系统的灵活性。前端则使用HTML5、CSS3和JavaScript构建了流畅的用户界面。整个系统的数据基石是高德地图的开放API。</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总结来说，我们的系统具备五大核心优势：数据的高实时性、系统运行的高稳定性、评估结果的量化精准性、友好的用户交互性以及良好的系统扩展性。这些优势共同构成了我们平台的核心价值。</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为了验证系统的性能和效果，我们进行了一系列的数据分析与实验。接下来，我将向大家展示我们的实验过程和结果。</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我们的实验主要目的是验证系统的实时性、准确性、稳定性和交互性。实验环境涵盖了主流的硬件配置和软件环境，并在南京市的不同区域、不同时段和不同天气条件下进行了全面测试。</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首先是实时数据采集测试，结果显示我们的系统数据获取速度快，实时性非常好。其次是评分准确性测试，我们将系统评分与人工评估进行对比，一致性高达98%，证明了我们评分体系的科学性和准确性。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在稳定性测试中，系统连续运行24小时无中断，并且能够快速处理各种异常情况。在交互功能测试中，所有操作都非常流畅，定位精度也很高，为用户提供了良好的使用体验。</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综合所有实验结果，我们可以得出结论：我们的系统在实时性、准确性、稳定性和交互性四个关键指标上都达到了设计要求，完全能够满足实际应用的需求。</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最后，我们对整个项目进行总结，并对未来的发展方向进行展望。</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我们的项目主要取得了以下成果：成功实现了多源数据的融合，建立了科学的量化评分体系，保障了系统的稳定运行，优化了用户体验，并为未来的扩展打下了坚实的基础。</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展望未来，我们将不断完善系统。计划引入更多数据维度，利用机器学习优化评分模型，并实现区域态势的热力图展示。同时，我们也希望能与更多外部系统对接，发挥更大的价值。</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我的汇报到此结束，感谢大家的聆听。现在是问答环节，欢迎大家提问。</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标题幻灯片" type="title">
  <p:cSld name="TITLE">
    <p:spTree>
      <p:nvGrpSpPr>
        <p:cNvPr id="1" name="Shape 11"/>
        <p:cNvGrpSpPr/>
        <p:nvPr/>
      </p:nvGrpSpPr>
      <p:grpSpPr>
        <a:xfrm>
          <a:off x="0" y="0"/>
          <a:ext cx="0" cy="0"/>
          <a:chOff x="0" y="0"/>
          <a:chExt cx="0" cy="0"/>
        </a:xfrm>
      </p:grpSpPr>
      <p:sp>
        <p:nvSpPr>
          <p:cNvPr id="12" name="Shape 30"/>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3" name="Shape 31"/>
          <p:cNvSpPr txBox="1">
            <a:spLocks noGrp="1"/>
          </p:cNvSpPr>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a:endParaRPr/>
          </a:p>
        </p:txBody>
      </p:sp>
      <p:sp>
        <p:nvSpPr>
          <p:cNvPr id="14" name="Shape 3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5" name="Shape 3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6" name="Shape 3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标题和内容" type="obj">
  <p:cSld name="OBJECT">
    <p:spTree>
      <p:nvGrpSpPr>
        <p:cNvPr id="1" name="Shape 17"/>
        <p:cNvGrpSpPr/>
        <p:nvPr/>
      </p:nvGrpSpPr>
      <p:grpSpPr>
        <a:xfrm>
          <a:off x="0" y="0"/>
          <a:ext cx="0" cy="0"/>
          <a:chOff x="0" y="0"/>
          <a:chExt cx="0" cy="0"/>
        </a:xfrm>
      </p:grpSpPr>
      <p:sp>
        <p:nvSpPr>
          <p:cNvPr id="18" name="Shape 54"/>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9" name="Shape 55"/>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20" name="Shape 5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1" name="Shape 5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2" name="Shape 5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节标题" type="secHead">
  <p:cSld name="SECTION_HEADER">
    <p:spTree>
      <p:nvGrpSpPr>
        <p:cNvPr id="1" name="Shape 23"/>
        <p:cNvGrpSpPr/>
        <p:nvPr/>
      </p:nvGrpSpPr>
      <p:grpSpPr>
        <a:xfrm>
          <a:off x="0" y="0"/>
          <a:ext cx="0" cy="0"/>
          <a:chOff x="0" y="0"/>
          <a:chExt cx="0" cy="0"/>
        </a:xfrm>
      </p:grpSpPr>
      <p:sp>
        <p:nvSpPr>
          <p:cNvPr id="24" name="Shape 59"/>
          <p:cNvSpPr txBox="1">
            <a:spLocks noGrp="1"/>
          </p:cNvSpPr>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25" name="Shape 60"/>
          <p:cNvSpPr txBox="1">
            <a:spLocks noGrp="1"/>
          </p:cNvSpPr>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a:endParaRPr/>
          </a:p>
        </p:txBody>
      </p:sp>
      <p:sp>
        <p:nvSpPr>
          <p:cNvPr id="26" name="Shape 6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7" name="Shape 6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8" name="Shape 6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两栏内容" type="twoObj">
  <p:cSld name="TWO_OBJECTS">
    <p:spTree>
      <p:nvGrpSpPr>
        <p:cNvPr id="1" name="Shape 29"/>
        <p:cNvGrpSpPr/>
        <p:nvPr/>
      </p:nvGrpSpPr>
      <p:grpSpPr>
        <a:xfrm>
          <a:off x="0" y="0"/>
          <a:ext cx="0" cy="0"/>
          <a:chOff x="0" y="0"/>
          <a:chExt cx="0" cy="0"/>
        </a:xfrm>
      </p:grpSpPr>
      <p:sp>
        <p:nvSpPr>
          <p:cNvPr id="30" name="Shape 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1" name="Shape 10"/>
          <p:cNvSpPr txBox="1">
            <a:spLocks noGrp="1"/>
          </p:cNvSpPr>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2" name="Shape 11"/>
          <p:cNvSpPr txBox="1">
            <a:spLocks noGrp="1"/>
          </p:cNvSpPr>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3" name="Shape 1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4" name="Shape 1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5" name="Shape 1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比较" type="twoTxTwoObj">
  <p:cSld name="TWO_OBJECTS_WITH_TEXT">
    <p:spTree>
      <p:nvGrpSpPr>
        <p:cNvPr id="1" name="Shape 36"/>
        <p:cNvGrpSpPr/>
        <p:nvPr/>
      </p:nvGrpSpPr>
      <p:grpSpPr>
        <a:xfrm>
          <a:off x="0" y="0"/>
          <a:ext cx="0" cy="0"/>
          <a:chOff x="0" y="0"/>
          <a:chExt cx="0" cy="0"/>
        </a:xfrm>
      </p:grpSpPr>
      <p:sp>
        <p:nvSpPr>
          <p:cNvPr id="37" name="Shape 35"/>
          <p:cNvSpPr txBox="1">
            <a:spLocks noGrp="1"/>
          </p:cNvSpPr>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8" name="Shape 36"/>
          <p:cNvSpPr txBox="1">
            <a:spLocks noGrp="1"/>
          </p:cNvSpPr>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39" name="Shape 37"/>
          <p:cNvSpPr txBox="1">
            <a:spLocks noGrp="1"/>
          </p:cNvSpPr>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0" name="Shape 38"/>
          <p:cNvSpPr txBox="1">
            <a:spLocks noGrp="1"/>
          </p:cNvSpPr>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41" name="Shape 39"/>
          <p:cNvSpPr txBox="1">
            <a:spLocks noGrp="1"/>
          </p:cNvSpPr>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2" name="Shape 40"/>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3" name="Shape 41"/>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4" name="Shape 42"/>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仅标题" type="titleOnly">
  <p:cSld name="TITLE_ONLY">
    <p:spTree>
      <p:nvGrpSpPr>
        <p:cNvPr id="1" name="Shape 45"/>
        <p:cNvGrpSpPr/>
        <p:nvPr/>
      </p:nvGrpSpPr>
      <p:grpSpPr>
        <a:xfrm>
          <a:off x="0" y="0"/>
          <a:ext cx="0" cy="0"/>
          <a:chOff x="0" y="0"/>
          <a:chExt cx="0" cy="0"/>
        </a:xfrm>
      </p:grpSpPr>
      <p:sp>
        <p:nvSpPr>
          <p:cNvPr id="46" name="Shape 20"/>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47" name="Shape 2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8" name="Shape 2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9" name="Shape 2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空白" type="blank">
  <p:cSld name="BLANK">
    <p:spTree>
      <p:nvGrpSpPr>
        <p:cNvPr id="1" name="Shape 50"/>
        <p:cNvGrpSpPr/>
        <p:nvPr/>
      </p:nvGrpSpPr>
      <p:grpSpPr>
        <a:xfrm>
          <a:off x="0" y="0"/>
          <a:ext cx="0" cy="0"/>
          <a:chOff x="0" y="0"/>
          <a:chExt cx="0" cy="0"/>
        </a:xfrm>
      </p:grpSpPr>
      <p:sp>
        <p:nvSpPr>
          <p:cNvPr id="51" name="Shape 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2" name="Shape 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3" name="Shape 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内容与标题" type="objTx">
  <p:cSld name="OBJECT_WITH_CAPTION_TEXT">
    <p:spTree>
      <p:nvGrpSpPr>
        <p:cNvPr id="1" name="Shape 54"/>
        <p:cNvGrpSpPr/>
        <p:nvPr/>
      </p:nvGrpSpPr>
      <p:grpSpPr>
        <a:xfrm>
          <a:off x="0" y="0"/>
          <a:ext cx="0" cy="0"/>
          <a:chOff x="0" y="0"/>
          <a:chExt cx="0" cy="0"/>
        </a:xfrm>
      </p:grpSpPr>
      <p:sp>
        <p:nvSpPr>
          <p:cNvPr id="55" name="Shape 43"/>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56" name="Shape 44"/>
          <p:cNvSpPr txBox="1">
            <a:spLocks noGrp="1"/>
          </p:cNvSpPr>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a:endParaRPr/>
          </a:p>
        </p:txBody>
      </p:sp>
      <p:sp>
        <p:nvSpPr>
          <p:cNvPr id="57" name="Shape 45"/>
          <p:cNvSpPr txBox="1">
            <a:spLocks noGrp="1"/>
          </p:cNvSpPr>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58" name="Shape 4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9" name="Shape 4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0" name="Shape 4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图片与标题" type="picTx">
  <p:cSld name="PICTURE_WITH_CAPTION_TEXT">
    <p:spTree>
      <p:nvGrpSpPr>
        <p:cNvPr id="1" name="Shape 61"/>
        <p:cNvGrpSpPr/>
        <p:nvPr/>
      </p:nvGrpSpPr>
      <p:grpSpPr>
        <a:xfrm>
          <a:off x="0" y="0"/>
          <a:ext cx="0" cy="0"/>
          <a:chOff x="0" y="0"/>
          <a:chExt cx="0" cy="0"/>
        </a:xfrm>
      </p:grpSpPr>
      <p:sp>
        <p:nvSpPr>
          <p:cNvPr id="62" name="Shape 24"/>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63" name="Shape 25"/>
          <p:cNvSpPr>
            <a:spLocks noGrp="1"/>
          </p:cNvSpPr>
          <p:nvPr>
            <p:ph type="pic" idx="2"/>
          </p:nvPr>
        </p:nvSpPr>
        <p:spPr>
          <a:xfrm>
            <a:off x="3887391" y="740569"/>
            <a:ext cx="4629150" cy="3655219"/>
          </a:xfrm>
          <a:prstGeom prst="rect">
            <a:avLst/>
          </a:prstGeom>
          <a:noFill/>
          <a:ln>
            <a:noFill/>
          </a:ln>
        </p:spPr>
      </p:sp>
      <p:sp>
        <p:nvSpPr>
          <p:cNvPr id="64" name="Shape 26"/>
          <p:cNvSpPr txBox="1">
            <a:spLocks noGrp="1"/>
          </p:cNvSpPr>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65" name="Shape 2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6" name="Shape 2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7" name="Shape 2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标题和竖排文字" type="vertTx">
  <p:cSld name="VERTICAL_TEXT">
    <p:spTree>
      <p:nvGrpSpPr>
        <p:cNvPr id="1" name="Shape 68"/>
        <p:cNvGrpSpPr/>
        <p:nvPr/>
      </p:nvGrpSpPr>
      <p:grpSpPr>
        <a:xfrm>
          <a:off x="0" y="0"/>
          <a:ext cx="0" cy="0"/>
          <a:chOff x="0" y="0"/>
          <a:chExt cx="0" cy="0"/>
        </a:xfrm>
      </p:grpSpPr>
      <p:sp>
        <p:nvSpPr>
          <p:cNvPr id="69" name="Shape 4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0" name="Shape 50"/>
          <p:cNvSpPr txBox="1">
            <a:spLocks noGrp="1"/>
          </p:cNvSpPr>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1" name="Shape 5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2" name="Shape 5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3" name="Shape 5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竖排标题与文本" type="vertTitleAndTx">
  <p:cSld name="VERTICAL_TITLE_AND_VERTICAL_TEXT">
    <p:spTree>
      <p:nvGrpSpPr>
        <p:cNvPr id="1" name="Shape 74"/>
        <p:cNvGrpSpPr/>
        <p:nvPr/>
      </p:nvGrpSpPr>
      <p:grpSpPr>
        <a:xfrm>
          <a:off x="0" y="0"/>
          <a:ext cx="0" cy="0"/>
          <a:chOff x="0" y="0"/>
          <a:chExt cx="0" cy="0"/>
        </a:xfrm>
      </p:grpSpPr>
      <p:sp>
        <p:nvSpPr>
          <p:cNvPr id="75" name="Shape 15"/>
          <p:cNvSpPr txBox="1">
            <a:spLocks noGrp="1"/>
          </p:cNvSpPr>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6" name="Shape 16"/>
          <p:cNvSpPr txBox="1">
            <a:spLocks noGrp="1"/>
          </p:cNvSpPr>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7" name="Shape 1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8" name="Shape 1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9" name="Shape 1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Shape 1"/>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a:buNone/>
              <a:defRPr sz="3300" b="0" i="0" u="none" strike="noStrike" cap="non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a:endParaRPr/>
          </a:p>
        </p:txBody>
      </p:sp>
      <p:sp>
        <p:nvSpPr>
          <p:cNvPr id="7" name="Shape 2"/>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a:buChar char="•"/>
              <a:defRPr sz="2100" b="0" i="0" u="none" strike="noStrike" cap="none">
                <a:solidFill>
                  <a:schemeClr val="dk1"/>
                </a:solidFill>
                <a:latin typeface="Arial"/>
                <a:ea typeface="Arial"/>
                <a:cs typeface="Arial"/>
                <a:sym typeface="Arial"/>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8" name="Shape 3"/>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9" name="Shape 4"/>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10" name="Shape 5"/>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a:ea typeface="Arial"/>
                <a:cs typeface="Arial"/>
                <a:sym typeface="Arial"/>
              </a:defRPr>
            </a:lvl1pPr>
            <a:lvl2pPr marL="0" marR="0" lvl="1" indent="0" algn="r" rtl="0">
              <a:spcBef>
                <a:spcPts val="0"/>
              </a:spcBef>
              <a:buNone/>
              <a:defRPr sz="900" b="0" i="0" u="none" strike="noStrike" cap="none">
                <a:solidFill>
                  <a:srgbClr val="888888"/>
                </a:solidFill>
                <a:latin typeface="Arial"/>
                <a:ea typeface="Arial"/>
                <a:cs typeface="Arial"/>
                <a:sym typeface="Arial"/>
              </a:defRPr>
            </a:lvl2pPr>
            <a:lvl3pPr marL="0" marR="0" lvl="2" indent="0" algn="r" rtl="0">
              <a:spcBef>
                <a:spcPts val="0"/>
              </a:spcBef>
              <a:buNone/>
              <a:defRPr sz="900" b="0" i="0" u="none" strike="noStrike" cap="none">
                <a:solidFill>
                  <a:srgbClr val="888888"/>
                </a:solidFill>
                <a:latin typeface="Arial"/>
                <a:ea typeface="Arial"/>
                <a:cs typeface="Arial"/>
                <a:sym typeface="Arial"/>
              </a:defRPr>
            </a:lvl3pPr>
            <a:lvl4pPr marL="0" marR="0" lvl="3" indent="0" algn="r" rtl="0">
              <a:spcBef>
                <a:spcPts val="0"/>
              </a:spcBef>
              <a:buNone/>
              <a:defRPr sz="900" b="0" i="0" u="none" strike="noStrike" cap="none">
                <a:solidFill>
                  <a:srgbClr val="888888"/>
                </a:solidFill>
                <a:latin typeface="Arial"/>
                <a:ea typeface="Arial"/>
                <a:cs typeface="Arial"/>
                <a:sym typeface="Arial"/>
              </a:defRPr>
            </a:lvl4pPr>
            <a:lvl5pPr marL="0" marR="0" lvl="4" indent="0" algn="r" rtl="0">
              <a:spcBef>
                <a:spcPts val="0"/>
              </a:spcBef>
              <a:buNone/>
              <a:defRPr sz="900" b="0" i="0" u="none" strike="noStrike" cap="none">
                <a:solidFill>
                  <a:srgbClr val="888888"/>
                </a:solidFill>
                <a:latin typeface="Arial"/>
                <a:ea typeface="Arial"/>
                <a:cs typeface="Arial"/>
                <a:sym typeface="Arial"/>
              </a:defRPr>
            </a:lvl5pPr>
            <a:lvl6pPr marL="0" marR="0" lvl="5" indent="0" algn="r" rtl="0">
              <a:spcBef>
                <a:spcPts val="0"/>
              </a:spcBef>
              <a:buNone/>
              <a:defRPr sz="900" b="0" i="0" u="none" strike="noStrike" cap="none">
                <a:solidFill>
                  <a:srgbClr val="888888"/>
                </a:solidFill>
                <a:latin typeface="Arial"/>
                <a:ea typeface="Arial"/>
                <a:cs typeface="Arial"/>
                <a:sym typeface="Arial"/>
              </a:defRPr>
            </a:lvl6pPr>
            <a:lvl7pPr marL="0" marR="0" lvl="6" indent="0" algn="r" rtl="0">
              <a:spcBef>
                <a:spcPts val="0"/>
              </a:spcBef>
              <a:buNone/>
              <a:defRPr sz="900" b="0" i="0" u="none" strike="noStrike" cap="none">
                <a:solidFill>
                  <a:srgbClr val="888888"/>
                </a:solidFill>
                <a:latin typeface="Arial"/>
                <a:ea typeface="Arial"/>
                <a:cs typeface="Arial"/>
                <a:sym typeface="Arial"/>
              </a:defRPr>
            </a:lvl7pPr>
            <a:lvl8pPr marL="0" marR="0" lvl="7" indent="0" algn="r" rtl="0">
              <a:spcBef>
                <a:spcPts val="0"/>
              </a:spcBef>
              <a:buNone/>
              <a:defRPr sz="900" b="0" i="0" u="none" strike="noStrike" cap="none">
                <a:solidFill>
                  <a:srgbClr val="888888"/>
                </a:solidFill>
                <a:latin typeface="Arial"/>
                <a:ea typeface="Arial"/>
                <a:cs typeface="Arial"/>
                <a:sym typeface="Arial"/>
              </a:defRPr>
            </a:lvl8pPr>
            <a:lvl9pPr marL="0" marR="0" lvl="8" indent="0" algn="r" rtl="0">
              <a:spcBef>
                <a:spcPts val="0"/>
              </a:spcBef>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zh-C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默认主题">
    <p:bg>
      <p:bgPr>
        <a:solidFill>
          <a:srgbClr val="FFFFFF">
            <a:alpha val="100000"/>
          </a:srgbClr>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5748369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3.jpeg"/><Relationship Id="rId7" Type="http://schemas.openxmlformats.org/officeDocument/2006/relationships/image" Target="../media/image7.svg"/><Relationship Id="rId2" Type="http://schemas.openxmlformats.org/officeDocument/2006/relationships/notesSlide" Target="../notesSlides/notesSlide2.xml"/><Relationship Id="rId1" Type="http://schemas.openxmlformats.org/officeDocument/2006/relationships/slideLayout" Target="../slideLayouts/slideLayout12.xml"/><Relationship Id="rId6" Type="http://schemas.openxmlformats.org/officeDocument/2006/relationships/image" Target="../media/image6.svg"/><Relationship Id="rId5" Type="http://schemas.openxmlformats.org/officeDocument/2006/relationships/image" Target="../media/image5.svg"/><Relationship Id="rId4" Type="http://schemas.openxmlformats.org/officeDocument/2006/relationships/image" Target="../media/image4.svg"/></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3.jpeg"/><Relationship Id="rId7" Type="http://schemas.openxmlformats.org/officeDocument/2006/relationships/image" Target="../media/image12.jpeg"/><Relationship Id="rId2" Type="http://schemas.openxmlformats.org/officeDocument/2006/relationships/notesSlide" Target="../notesSlides/notesSlide4.xml"/><Relationship Id="rId1" Type="http://schemas.openxmlformats.org/officeDocument/2006/relationships/slideLayout" Target="../slideLayouts/slideLayout12.xml"/><Relationship Id="rId6" Type="http://schemas.openxmlformats.org/officeDocument/2006/relationships/image" Target="../media/image11.svg"/><Relationship Id="rId5" Type="http://schemas.openxmlformats.org/officeDocument/2006/relationships/image" Target="../media/image10.svg"/><Relationship Id="rId4" Type="http://schemas.openxmlformats.org/officeDocument/2006/relationships/image" Target="../media/image9.svg"/></Relationships>
</file>

<file path=ppt/slides/_rels/slide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5.xml"/><Relationship Id="rId1" Type="http://schemas.openxmlformats.org/officeDocument/2006/relationships/slideLayout" Target="../slideLayouts/slideLayout12.xml"/><Relationship Id="rId4" Type="http://schemas.openxmlformats.org/officeDocument/2006/relationships/image" Target="../media/image13.svg"/></Relationships>
</file>

<file path=ppt/slides/_rels/slide7.xml.rels><?xml version="1.0" encoding="UTF-8" standalone="yes"?>
<Relationships xmlns="http://schemas.openxmlformats.org/package/2006/relationships"><Relationship Id="rId3" Type="http://schemas.openxmlformats.org/officeDocument/2006/relationships/image" Target="../media/image3.jpeg"/><Relationship Id="rId7" Type="http://schemas.openxmlformats.org/officeDocument/2006/relationships/image" Target="../media/image17.svg"/><Relationship Id="rId2" Type="http://schemas.openxmlformats.org/officeDocument/2006/relationships/notesSlide" Target="../notesSlides/notesSlide6.xml"/><Relationship Id="rId1" Type="http://schemas.openxmlformats.org/officeDocument/2006/relationships/slideLayout" Target="../slideLayouts/slideLayout12.xml"/><Relationship Id="rId6" Type="http://schemas.openxmlformats.org/officeDocument/2006/relationships/image" Target="../media/image16.svg"/><Relationship Id="rId5" Type="http://schemas.openxmlformats.org/officeDocument/2006/relationships/image" Target="../media/image15.svg"/><Relationship Id="rId4" Type="http://schemas.openxmlformats.org/officeDocument/2006/relationships/image" Target="../media/image14.jpeg"/></Relationships>
</file>

<file path=ppt/slides/_rels/slide8.xml.rels><?xml version="1.0" encoding="UTF-8" standalone="yes"?>
<Relationships xmlns="http://schemas.openxmlformats.org/package/2006/relationships"><Relationship Id="rId8" Type="http://schemas.openxmlformats.org/officeDocument/2006/relationships/image" Target="../media/image22.jpeg"/><Relationship Id="rId3" Type="http://schemas.openxmlformats.org/officeDocument/2006/relationships/image" Target="../media/image3.jpeg"/><Relationship Id="rId7" Type="http://schemas.openxmlformats.org/officeDocument/2006/relationships/image" Target="../media/image21.svg"/><Relationship Id="rId2" Type="http://schemas.openxmlformats.org/officeDocument/2006/relationships/notesSlide" Target="../notesSlides/notesSlide7.xml"/><Relationship Id="rId1" Type="http://schemas.openxmlformats.org/officeDocument/2006/relationships/slideLayout" Target="../slideLayouts/slideLayout12.xml"/><Relationship Id="rId6" Type="http://schemas.openxmlformats.org/officeDocument/2006/relationships/image" Target="../media/image20.svg"/><Relationship Id="rId5" Type="http://schemas.openxmlformats.org/officeDocument/2006/relationships/image" Target="../media/image19.svg"/><Relationship Id="rId4" Type="http://schemas.openxmlformats.org/officeDocument/2006/relationships/image" Target="../media/image18.svg"/></Relationships>
</file>

<file path=ppt/slides/_rels/slide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8.xml"/><Relationship Id="rId1" Type="http://schemas.openxmlformats.org/officeDocument/2006/relationships/slideLayout" Target="../slideLayouts/slideLayout12.xml"/><Relationship Id="rId6" Type="http://schemas.openxmlformats.org/officeDocument/2006/relationships/image" Target="../media/image24.svg"/><Relationship Id="rId5" Type="http://schemas.openxmlformats.org/officeDocument/2006/relationships/image" Target="../media/image23.svg"/><Relationship Id="rId4" Type="http://schemas.openxmlformats.org/officeDocument/2006/relationships/image" Target="../media/image7.svg"/></Relationships>
</file>

<file path=ppt/slides/_rels/slide10.xml.rels><?xml version="1.0" encoding="UTF-8" standalone="yes"?>
<Relationships xmlns="http://schemas.openxmlformats.org/package/2006/relationships"><Relationship Id="rId3" Type="http://schemas.openxmlformats.org/officeDocument/2006/relationships/image" Target="../media/image3.jpeg"/><Relationship Id="rId7" Type="http://schemas.openxmlformats.org/officeDocument/2006/relationships/image" Target="../media/image28.jpeg"/><Relationship Id="rId2" Type="http://schemas.openxmlformats.org/officeDocument/2006/relationships/notesSlide" Target="../notesSlides/notesSlide9.xml"/><Relationship Id="rId1" Type="http://schemas.openxmlformats.org/officeDocument/2006/relationships/slideLayout" Target="../slideLayouts/slideLayout12.xml"/><Relationship Id="rId6" Type="http://schemas.openxmlformats.org/officeDocument/2006/relationships/image" Target="../media/image27.jpeg"/><Relationship Id="rId5" Type="http://schemas.openxmlformats.org/officeDocument/2006/relationships/image" Target="../media/image26.jpeg"/><Relationship Id="rId4" Type="http://schemas.openxmlformats.org/officeDocument/2006/relationships/image" Target="../media/image25.jpeg"/></Relationships>
</file>

<file path=ppt/slides/_rels/slide11.xml.rels><?xml version="1.0" encoding="UTF-8" standalone="yes"?>
<Relationships xmlns="http://schemas.openxmlformats.org/package/2006/relationships"><Relationship Id="rId8" Type="http://schemas.openxmlformats.org/officeDocument/2006/relationships/image" Target="../media/image33.jpeg"/><Relationship Id="rId3" Type="http://schemas.openxmlformats.org/officeDocument/2006/relationships/image" Target="../media/image3.jpeg"/><Relationship Id="rId7" Type="http://schemas.openxmlformats.org/officeDocument/2006/relationships/image" Target="../media/image32.svg"/><Relationship Id="rId2" Type="http://schemas.openxmlformats.org/officeDocument/2006/relationships/notesSlide" Target="../notesSlides/notesSlide10.xml"/><Relationship Id="rId1" Type="http://schemas.openxmlformats.org/officeDocument/2006/relationships/slideLayout" Target="../slideLayouts/slideLayout12.xml"/><Relationship Id="rId6" Type="http://schemas.openxmlformats.org/officeDocument/2006/relationships/image" Target="../media/image31.svg"/><Relationship Id="rId11" Type="http://schemas.openxmlformats.org/officeDocument/2006/relationships/image" Target="../media/image18.svg"/><Relationship Id="rId5" Type="http://schemas.openxmlformats.org/officeDocument/2006/relationships/image" Target="../media/image30.jpeg"/><Relationship Id="rId10" Type="http://schemas.openxmlformats.org/officeDocument/2006/relationships/image" Target="../media/image35.jpeg"/><Relationship Id="rId4" Type="http://schemas.openxmlformats.org/officeDocument/2006/relationships/image" Target="../media/image29.jpeg"/><Relationship Id="rId9" Type="http://schemas.openxmlformats.org/officeDocument/2006/relationships/image" Target="../media/image34.jpeg"/></Relationships>
</file>

<file path=ppt/slides/_rels/slide12.xml.rels><?xml version="1.0" encoding="UTF-8" standalone="yes"?>
<Relationships xmlns="http://schemas.openxmlformats.org/package/2006/relationships"><Relationship Id="rId8" Type="http://schemas.openxmlformats.org/officeDocument/2006/relationships/image" Target="../media/image40.svg"/><Relationship Id="rId3" Type="http://schemas.openxmlformats.org/officeDocument/2006/relationships/image" Target="../media/image3.jpeg"/><Relationship Id="rId7" Type="http://schemas.openxmlformats.org/officeDocument/2006/relationships/image" Target="../media/image39.svg"/><Relationship Id="rId2" Type="http://schemas.openxmlformats.org/officeDocument/2006/relationships/notesSlide" Target="../notesSlides/notesSlide11.xml"/><Relationship Id="rId1" Type="http://schemas.openxmlformats.org/officeDocument/2006/relationships/slideLayout" Target="../slideLayouts/slideLayout12.xml"/><Relationship Id="rId6" Type="http://schemas.openxmlformats.org/officeDocument/2006/relationships/image" Target="../media/image38.svg"/><Relationship Id="rId5" Type="http://schemas.openxmlformats.org/officeDocument/2006/relationships/image" Target="../media/image37.svg"/><Relationship Id="rId4" Type="http://schemas.openxmlformats.org/officeDocument/2006/relationships/image" Target="../media/image36.svg"/></Relationships>
</file>

<file path=ppt/slides/_rels/slide13.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2.xml"/><Relationship Id="rId1" Type="http://schemas.openxmlformats.org/officeDocument/2006/relationships/slideLayout" Target="../slideLayouts/slideLayout12.xml"/><Relationship Id="rId4" Type="http://schemas.openxmlformats.org/officeDocument/2006/relationships/image" Target="../media/image7.svg"/></Relationships>
</file>

<file path=ppt/slides/_rels/slide15.xml.rels><?xml version="1.0" encoding="UTF-8" standalone="yes"?>
<Relationships xmlns="http://schemas.openxmlformats.org/package/2006/relationships"><Relationship Id="rId8" Type="http://schemas.openxmlformats.org/officeDocument/2006/relationships/image" Target="../media/image39.svg"/><Relationship Id="rId13" Type="http://schemas.openxmlformats.org/officeDocument/2006/relationships/image" Target="../media/image50.svg"/><Relationship Id="rId3" Type="http://schemas.openxmlformats.org/officeDocument/2006/relationships/image" Target="../media/image3.jpeg"/><Relationship Id="rId7" Type="http://schemas.openxmlformats.org/officeDocument/2006/relationships/image" Target="../media/image45.svg"/><Relationship Id="rId12" Type="http://schemas.openxmlformats.org/officeDocument/2006/relationships/image" Target="../media/image49.svg"/><Relationship Id="rId2" Type="http://schemas.openxmlformats.org/officeDocument/2006/relationships/notesSlide" Target="../notesSlides/notesSlide13.xml"/><Relationship Id="rId1" Type="http://schemas.openxmlformats.org/officeDocument/2006/relationships/slideLayout" Target="../slideLayouts/slideLayout12.xml"/><Relationship Id="rId6" Type="http://schemas.openxmlformats.org/officeDocument/2006/relationships/image" Target="../media/image44.svg"/><Relationship Id="rId11" Type="http://schemas.openxmlformats.org/officeDocument/2006/relationships/image" Target="../media/image48.svg"/><Relationship Id="rId5" Type="http://schemas.openxmlformats.org/officeDocument/2006/relationships/image" Target="../media/image43.svg"/><Relationship Id="rId10" Type="http://schemas.openxmlformats.org/officeDocument/2006/relationships/image" Target="../media/image47.svg"/><Relationship Id="rId4" Type="http://schemas.openxmlformats.org/officeDocument/2006/relationships/image" Target="../media/image42.svg"/><Relationship Id="rId9" Type="http://schemas.openxmlformats.org/officeDocument/2006/relationships/image" Target="../media/image46.svg"/></Relationships>
</file>

<file path=ppt/slides/_rels/slide1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4.xml"/><Relationship Id="rId1" Type="http://schemas.openxmlformats.org/officeDocument/2006/relationships/slideLayout" Target="../slideLayouts/slideLayout12.xml"/><Relationship Id="rId5" Type="http://schemas.openxmlformats.org/officeDocument/2006/relationships/image" Target="../media/image52.svg"/><Relationship Id="rId4" Type="http://schemas.openxmlformats.org/officeDocument/2006/relationships/image" Target="../media/image51.svg"/></Relationships>
</file>

<file path=ppt/slides/_rels/slide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5.xml"/><Relationship Id="rId1" Type="http://schemas.openxmlformats.org/officeDocument/2006/relationships/slideLayout" Target="../slideLayouts/slideLayout12.xml"/><Relationship Id="rId5" Type="http://schemas.openxmlformats.org/officeDocument/2006/relationships/image" Target="../media/image39.svg"/><Relationship Id="rId4" Type="http://schemas.openxmlformats.org/officeDocument/2006/relationships/image" Target="../media/image54.svg"/></Relationships>
</file>

<file path=ppt/slides/_rels/slide20.xml.rels><?xml version="1.0" encoding="UTF-8" standalone="yes"?>
<Relationships xmlns="http://schemas.openxmlformats.org/package/2006/relationships"><Relationship Id="rId3" Type="http://schemas.openxmlformats.org/officeDocument/2006/relationships/image" Target="../media/image3.jpeg"/><Relationship Id="rId7" Type="http://schemas.openxmlformats.org/officeDocument/2006/relationships/image" Target="../media/image57.svg"/><Relationship Id="rId2" Type="http://schemas.openxmlformats.org/officeDocument/2006/relationships/notesSlide" Target="../notesSlides/notesSlide16.xml"/><Relationship Id="rId1" Type="http://schemas.openxmlformats.org/officeDocument/2006/relationships/slideLayout" Target="../slideLayouts/slideLayout12.xml"/><Relationship Id="rId6" Type="http://schemas.openxmlformats.org/officeDocument/2006/relationships/image" Target="../media/image37.svg"/><Relationship Id="rId5" Type="http://schemas.openxmlformats.org/officeDocument/2006/relationships/image" Target="../media/image56.svg"/><Relationship Id="rId4" Type="http://schemas.openxmlformats.org/officeDocument/2006/relationships/image" Target="../media/image55.svg"/></Relationships>
</file>

<file path=ppt/slides/_rels/slide2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7.xml"/><Relationship Id="rId1" Type="http://schemas.openxmlformats.org/officeDocument/2006/relationships/slideLayout" Target="../slideLayouts/slideLayout12.xml"/><Relationship Id="rId4" Type="http://schemas.openxmlformats.org/officeDocument/2006/relationships/image" Target="../media/image58.svg"/></Relationships>
</file>

<file path=ppt/slides/_rels/slide22.xml.rels><?xml version="1.0" encoding="UTF-8" standalone="yes"?>
<Relationships xmlns="http://schemas.openxmlformats.org/package/2006/relationships"><Relationship Id="rId8" Type="http://schemas.openxmlformats.org/officeDocument/2006/relationships/image" Target="../media/image62.svg"/><Relationship Id="rId3" Type="http://schemas.openxmlformats.org/officeDocument/2006/relationships/image" Target="../media/image3.jpeg"/><Relationship Id="rId7" Type="http://schemas.openxmlformats.org/officeDocument/2006/relationships/image" Target="../media/image61.svg"/><Relationship Id="rId2" Type="http://schemas.openxmlformats.org/officeDocument/2006/relationships/notesSlide" Target="../notesSlides/notesSlide18.xml"/><Relationship Id="rId1" Type="http://schemas.openxmlformats.org/officeDocument/2006/relationships/slideLayout" Target="../slideLayouts/slideLayout12.xml"/><Relationship Id="rId6" Type="http://schemas.openxmlformats.org/officeDocument/2006/relationships/image" Target="../media/image60.svg"/><Relationship Id="rId5" Type="http://schemas.openxmlformats.org/officeDocument/2006/relationships/image" Target="../media/image59.svg"/><Relationship Id="rId4" Type="http://schemas.openxmlformats.org/officeDocument/2006/relationships/image" Target="../media/image58.svg"/></Relationships>
</file>

<file path=ppt/slides/_rels/slide23.xml.rels><?xml version="1.0" encoding="UTF-8" standalone="yes"?>
<Relationships xmlns="http://schemas.openxmlformats.org/package/2006/relationships"><Relationship Id="rId3" Type="http://schemas.openxmlformats.org/officeDocument/2006/relationships/image" Target="../media/image3.jpeg"/><Relationship Id="rId7" Type="http://schemas.openxmlformats.org/officeDocument/2006/relationships/image" Target="../media/image64.svg"/><Relationship Id="rId2" Type="http://schemas.openxmlformats.org/officeDocument/2006/relationships/notesSlide" Target="../notesSlides/notesSlide19.xml"/><Relationship Id="rId1" Type="http://schemas.openxmlformats.org/officeDocument/2006/relationships/slideLayout" Target="../slideLayouts/slideLayout12.xml"/><Relationship Id="rId6" Type="http://schemas.openxmlformats.org/officeDocument/2006/relationships/image" Target="../media/image56.svg"/><Relationship Id="rId5" Type="http://schemas.openxmlformats.org/officeDocument/2006/relationships/image" Target="../media/image63.svg"/><Relationship Id="rId4" Type="http://schemas.openxmlformats.org/officeDocument/2006/relationships/image" Target="../media/image58.svg"/></Relationships>
</file>

<file path=ppt/slides/_rels/slide2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0.xml"/><Relationship Id="rId1" Type="http://schemas.openxmlformats.org/officeDocument/2006/relationships/slideLayout" Target="../slideLayouts/slideLayout12.xml"/><Relationship Id="rId4" Type="http://schemas.openxmlformats.org/officeDocument/2006/relationships/image" Target="../media/image65.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A1428">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l="1111" r="1111"/>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0B1930">
              <a:alpha val="60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0" y="0"/>
            <a:ext cx="12192000" cy="50800"/>
          </a:xfrm>
          <a:prstGeom prst="roundRect">
            <a:avLst>
              <a:gd name="adj" fmla="val 0"/>
            </a:avLst>
          </a:prstGeom>
          <a:gradFill rotWithShape="1">
            <a:gsLst>
              <a:gs pos="0">
                <a:srgbClr val="00A9E0">
                  <a:alpha val="100000"/>
                </a:srgbClr>
              </a:gs>
              <a:gs pos="100000">
                <a:srgbClr val="40E0D0">
                  <a:alpha val="100000"/>
                </a:srgbClr>
              </a:gs>
            </a:gsLst>
            <a:lin ang="0"/>
          </a:gradFill>
          <a:ln w="25400" cap="flat" cmpd="sng">
            <a:no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635000" y="2032000"/>
            <a:ext cx="10922000" cy="1270000"/>
          </a:xfrm>
          <a:prstGeom prst="rect">
            <a:avLst/>
          </a:prstGeom>
          <a:noFill/>
          <a:ln w="12700" cap="flat" cmpd="sng">
            <a:noFill/>
            <a:prstDash val="solid"/>
            <a:round/>
          </a:ln>
          <a:effectLst>
            <a:outerShdw blurRad="127000" dist="50800" dir="2700000" algn="tl" rotWithShape="0">
              <a:srgbClr val="00A9E0">
                <a:alpha val="50000"/>
              </a:srgbClr>
            </a:outerShdw>
          </a:effectLst>
        </p:spPr>
        <p:txBody>
          <a:bodyPr vert="horz" wrap="square" lIns="0" tIns="0" rIns="0" bIns="0" rtlCol="0" anchor="ctr" anchorCtr="0"/>
          <a:lstStyle/>
          <a:p>
            <a:pPr indent="0" algn="ctr">
              <a:lnSpc>
                <a:spcPct val="125000"/>
              </a:lnSpc>
              <a:defRPr/>
            </a:pPr>
            <a:r>
              <a:rPr lang="en-US" sz="3600" b="1" i="0" u="none" strike="noStrike" dirty="0" err="1">
                <a:solidFill>
                  <a:srgbClr val="FFFFFF"/>
                </a:solidFill>
                <a:latin typeface="Noto Sans SC"/>
                <a:ea typeface="Noto Sans SC"/>
                <a:cs typeface="Noto Sans SC"/>
                <a:sym typeface="Noto Sans SC"/>
              </a:rPr>
              <a:t>路评</a:t>
            </a:r>
            <a:r>
              <a:rPr lang="en-US" sz="3600" b="1" i="0" u="none" strike="noStrike" dirty="0">
                <a:solidFill>
                  <a:srgbClr val="FFFFFF"/>
                </a:solidFill>
                <a:latin typeface="Noto Sans SC"/>
                <a:ea typeface="Noto Sans SC"/>
                <a:cs typeface="Noto Sans SC"/>
                <a:sym typeface="Noto Sans SC"/>
              </a:rPr>
              <a:t>——</a:t>
            </a:r>
            <a:r>
              <a:rPr lang="zh-CN" altLang="en-US" sz="3600" b="1" i="0" u="none" strike="noStrike" dirty="0">
                <a:solidFill>
                  <a:srgbClr val="FFFFFF"/>
                </a:solidFill>
                <a:latin typeface="Noto Sans SC"/>
                <a:ea typeface="Noto Sans SC"/>
                <a:cs typeface="Noto Sans SC"/>
                <a:sym typeface="Noto Sans SC"/>
              </a:rPr>
              <a:t>基于</a:t>
            </a:r>
            <a:r>
              <a:rPr lang="en-US" altLang="zh-CN" sz="3600" b="1" i="0" u="none" strike="noStrike" dirty="0">
                <a:solidFill>
                  <a:srgbClr val="FFFFFF"/>
                </a:solidFill>
                <a:latin typeface="Noto Sans SC"/>
                <a:ea typeface="Noto Sans SC"/>
                <a:cs typeface="Noto Sans SC"/>
                <a:sym typeface="Noto Sans SC"/>
              </a:rPr>
              <a:t>Flask</a:t>
            </a:r>
            <a:r>
              <a:rPr lang="zh-CN" altLang="en-US" sz="3600" b="1" i="0" u="none" strike="noStrike" dirty="0">
                <a:solidFill>
                  <a:srgbClr val="FFFFFF"/>
                </a:solidFill>
                <a:latin typeface="Noto Sans SC"/>
                <a:ea typeface="Noto Sans SC"/>
                <a:cs typeface="Noto Sans SC"/>
                <a:sym typeface="Noto Sans SC"/>
              </a:rPr>
              <a:t>及高德</a:t>
            </a:r>
            <a:r>
              <a:rPr lang="en-US" altLang="zh-CN" sz="3600" b="1" i="0" u="none" strike="noStrike" dirty="0">
                <a:solidFill>
                  <a:srgbClr val="FFFFFF"/>
                </a:solidFill>
                <a:latin typeface="Noto Sans SC"/>
                <a:ea typeface="Noto Sans SC"/>
                <a:cs typeface="Noto Sans SC"/>
                <a:sym typeface="Noto Sans SC"/>
              </a:rPr>
              <a:t>API</a:t>
            </a:r>
            <a:r>
              <a:rPr lang="zh-CN" altLang="en-US" sz="3600" b="1" i="0" u="none" strike="noStrike" dirty="0">
                <a:solidFill>
                  <a:srgbClr val="FFFFFF"/>
                </a:solidFill>
                <a:latin typeface="Noto Sans SC"/>
                <a:ea typeface="Noto Sans SC"/>
                <a:cs typeface="Noto Sans SC"/>
                <a:sym typeface="Noto Sans SC"/>
              </a:rPr>
              <a:t>的</a:t>
            </a:r>
            <a:r>
              <a:rPr lang="en-US" sz="3600" b="1" i="0" u="none" strike="noStrike" dirty="0" err="1">
                <a:solidFill>
                  <a:srgbClr val="FFFFFF"/>
                </a:solidFill>
                <a:latin typeface="Noto Sans SC"/>
                <a:ea typeface="Noto Sans SC"/>
                <a:cs typeface="Noto Sans SC"/>
                <a:sym typeface="Noto Sans SC"/>
              </a:rPr>
              <a:t>自动驾驶路段实时适宜性分析平台</a:t>
            </a:r>
            <a:endParaRPr lang="en-US" sz="1100" dirty="0"/>
          </a:p>
        </p:txBody>
      </p:sp>
      <p:sp>
        <p:nvSpPr>
          <p:cNvPr id="6" name="AutoShape 6"/>
          <p:cNvSpPr/>
          <p:nvPr/>
        </p:nvSpPr>
        <p:spPr>
          <a:xfrm>
            <a:off x="5334000" y="3429000"/>
            <a:ext cx="1524000" cy="38100"/>
          </a:xfrm>
          <a:prstGeom prst="roundRect">
            <a:avLst>
              <a:gd name="adj" fmla="val 0"/>
            </a:avLst>
          </a:prstGeom>
          <a:solidFill>
            <a:srgbClr val="FF8C0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7" name="AutoShape 7"/>
          <p:cNvSpPr/>
          <p:nvPr/>
        </p:nvSpPr>
        <p:spPr>
          <a:xfrm>
            <a:off x="1016000" y="3683000"/>
            <a:ext cx="10160000" cy="508000"/>
          </a:xfrm>
          <a:prstGeom prst="rect">
            <a:avLst/>
          </a:prstGeom>
          <a:noFill/>
          <a:ln w="12700" cap="flat" cmpd="sng">
            <a:noFill/>
            <a:prstDash val="solid"/>
            <a:round/>
          </a:ln>
        </p:spPr>
        <p:txBody>
          <a:bodyPr vert="horz" wrap="none" lIns="0" tIns="0" rIns="0" bIns="0" rtlCol="0" anchor="t" anchorCtr="0"/>
          <a:lstStyle/>
          <a:p>
            <a:pPr indent="0" algn="ctr">
              <a:lnSpc>
                <a:spcPct val="125000"/>
              </a:lnSpc>
              <a:defRPr/>
            </a:pPr>
            <a:r>
              <a:rPr lang="en-US" sz="2000" b="0" i="0" u="none" strike="noStrike" spc="400">
                <a:solidFill>
                  <a:srgbClr val="40E0D0"/>
                </a:solidFill>
                <a:latin typeface="Noto Sans SC"/>
                <a:ea typeface="Noto Sans SC"/>
                <a:cs typeface="Noto Sans SC"/>
                <a:sym typeface="Noto Sans SC"/>
              </a:rPr>
              <a:t>项目介绍汇报</a:t>
            </a:r>
            <a:endParaRPr lang="en-US" sz="1100"/>
          </a:p>
        </p:txBody>
      </p:sp>
      <p:sp>
        <p:nvSpPr>
          <p:cNvPr id="8" name="AutoShape 8"/>
          <p:cNvSpPr/>
          <p:nvPr/>
        </p:nvSpPr>
        <p:spPr>
          <a:xfrm>
            <a:off x="0" y="6096000"/>
            <a:ext cx="12192000" cy="381000"/>
          </a:xfrm>
          <a:prstGeom prst="rect">
            <a:avLst/>
          </a:prstGeom>
          <a:noFill/>
          <a:ln w="12700" cap="flat" cmpd="sng">
            <a:noFill/>
            <a:prstDash val="solid"/>
            <a:round/>
          </a:ln>
        </p:spPr>
        <p:txBody>
          <a:bodyPr vert="horz" wrap="none" lIns="0" tIns="0" rIns="0" bIns="0" rtlCol="0" anchor="ctr" anchorCtr="0"/>
          <a:lstStyle/>
          <a:p>
            <a:pPr indent="0" algn="ctr">
              <a:lnSpc>
                <a:spcPct val="125000"/>
              </a:lnSpc>
              <a:defRPr/>
            </a:pPr>
            <a:r>
              <a:rPr lang="en-US" sz="1200" b="0" i="0" u="none" strike="noStrike">
                <a:solidFill>
                  <a:srgbClr val="FFFFFF">
                    <a:alpha val="60000"/>
                  </a:srgbClr>
                </a:solidFill>
                <a:latin typeface="Noto Sans SC"/>
                <a:ea typeface="Noto Sans SC"/>
                <a:cs typeface="Noto Sans SC"/>
                <a:sym typeface="Noto Sans SC"/>
              </a:rPr>
              <a:t>SMART DRIVING · REAL-TIME ANALYSIS · BIG DATA</a:t>
            </a:r>
            <a:endParaRPr lang="en-US" sz="1100"/>
          </a:p>
        </p:txBody>
      </p:sp>
      <p:sp>
        <p:nvSpPr>
          <p:cNvPr id="9" name="AutoShape 9"/>
          <p:cNvSpPr/>
          <p:nvPr/>
        </p:nvSpPr>
        <p:spPr>
          <a:xfrm>
            <a:off x="508000" y="508000"/>
            <a:ext cx="508000" cy="50800"/>
          </a:xfrm>
          <a:prstGeom prst="roundRect">
            <a:avLst>
              <a:gd name="adj" fmla="val 0"/>
            </a:avLst>
          </a:prstGeom>
          <a:solidFill>
            <a:srgbClr val="00A9E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0" name="AutoShape 10"/>
          <p:cNvSpPr/>
          <p:nvPr/>
        </p:nvSpPr>
        <p:spPr>
          <a:xfrm>
            <a:off x="508000" y="508000"/>
            <a:ext cx="50800" cy="508000"/>
          </a:xfrm>
          <a:prstGeom prst="roundRect">
            <a:avLst>
              <a:gd name="adj" fmla="val 0"/>
            </a:avLst>
          </a:prstGeom>
          <a:solidFill>
            <a:srgbClr val="00A9E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1" name="AutoShape 11"/>
          <p:cNvSpPr/>
          <p:nvPr/>
        </p:nvSpPr>
        <p:spPr>
          <a:xfrm>
            <a:off x="11176000" y="6299200"/>
            <a:ext cx="508000" cy="50800"/>
          </a:xfrm>
          <a:prstGeom prst="roundRect">
            <a:avLst>
              <a:gd name="adj" fmla="val 0"/>
            </a:avLst>
          </a:prstGeom>
          <a:solidFill>
            <a:srgbClr val="00A9E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2" name="AutoShape 12"/>
          <p:cNvSpPr/>
          <p:nvPr/>
        </p:nvSpPr>
        <p:spPr>
          <a:xfrm>
            <a:off x="11633200" y="5842000"/>
            <a:ext cx="50800" cy="508000"/>
          </a:xfrm>
          <a:prstGeom prst="roundRect">
            <a:avLst>
              <a:gd name="adj" fmla="val 0"/>
            </a:avLst>
          </a:prstGeom>
          <a:solidFill>
            <a:srgbClr val="00A9E0">
              <a:alpha val="100000"/>
            </a:srgbClr>
          </a:solidFill>
          <a:ln w="25400" cap="flat" cmpd="sng">
            <a:noFill/>
            <a:prstDash val="solid"/>
            <a:round/>
          </a:ln>
        </p:spPr>
        <p:txBody>
          <a:bodyPr vert="horz" wrap="square" lIns="63500" tIns="63500" rIns="63500" bIns="63500" rtlCol="0" anchor="ctr"/>
          <a:lstStyle/>
          <a:p>
            <a:pPr algn="ctr">
              <a:defRPr/>
            </a:pP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8D5105-353B-9AED-D419-027B387D5AC4}"/>
            </a:ext>
          </a:extLst>
        </p:cNvPr>
        <p:cNvGrpSpPr/>
        <p:nvPr/>
      </p:nvGrpSpPr>
      <p:grpSpPr>
        <a:xfrm>
          <a:off x="0" y="0"/>
          <a:ext cx="0" cy="0"/>
          <a:chOff x="0" y="0"/>
          <a:chExt cx="0" cy="0"/>
        </a:xfrm>
      </p:grpSpPr>
      <p:pic>
        <p:nvPicPr>
          <p:cNvPr id="3" name="图片 2">
            <a:extLst>
              <a:ext uri="{FF2B5EF4-FFF2-40B4-BE49-F238E27FC236}">
                <a16:creationId xmlns:a16="http://schemas.microsoft.com/office/drawing/2014/main" id="{67A16053-C9E0-F9E5-C5D0-EB8AD60926AB}"/>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18652243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E1E1E">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l="1111" r="1111"/>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0F172A">
              <a:alpha val="85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762000" y="1016000"/>
            <a:ext cx="100584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FFFFFF"/>
                </a:solidFill>
                <a:latin typeface="Noto Sans SC"/>
                <a:ea typeface="Noto Sans SC"/>
                <a:cs typeface="Noto Sans SC"/>
                <a:sym typeface="Noto Sans SC"/>
              </a:rPr>
              <a:t>目录</a:t>
            </a:r>
            <a:endParaRPr lang="en-US" sz="1100"/>
          </a:p>
        </p:txBody>
      </p:sp>
      <p:sp>
        <p:nvSpPr>
          <p:cNvPr id="5" name="AutoShape 5"/>
          <p:cNvSpPr/>
          <p:nvPr/>
        </p:nvSpPr>
        <p:spPr>
          <a:xfrm>
            <a:off x="762000" y="1714500"/>
            <a:ext cx="762000" cy="50800"/>
          </a:xfrm>
          <a:prstGeom prst="roundRect">
            <a:avLst>
              <a:gd name="adj" fmla="val 0"/>
            </a:avLst>
          </a:prstGeom>
          <a:solidFill>
            <a:srgbClr val="00A9E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762000" y="2032000"/>
            <a:ext cx="10668000" cy="711200"/>
          </a:xfrm>
          <a:prstGeom prst="roundRect">
            <a:avLst>
              <a:gd name="adj" fmla="val 17857"/>
            </a:avLst>
          </a:prstGeom>
          <a:solidFill>
            <a:srgbClr val="FFFFFF">
              <a:alpha val="5000"/>
            </a:srgbClr>
          </a:solidFill>
          <a:ln w="12700" cap="flat" cmpd="sng">
            <a:solidFill>
              <a:srgbClr val="00A9E0">
                <a:alpha val="30000"/>
              </a:srgbClr>
            </a:solidFill>
            <a:prstDash val="solid"/>
            <a:round/>
          </a:ln>
        </p:spPr>
        <p:txBody>
          <a:bodyPr vert="horz" wrap="square" lIns="63500" tIns="63500" rIns="63500" bIns="63500" rtlCol="0" anchor="ctr"/>
          <a:lstStyle/>
          <a:p>
            <a:pPr algn="ctr">
              <a:defRPr/>
            </a:pPr>
            <a:endParaRPr/>
          </a:p>
        </p:txBody>
      </p:sp>
      <p:pic>
        <p:nvPicPr>
          <p:cNvPr id="7" name="Picture 7"/>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2209800"/>
            <a:ext cx="355600" cy="355600"/>
          </a:xfrm>
          <a:prstGeom prst="rect">
            <a:avLst/>
          </a:prstGeom>
        </p:spPr>
      </p:pic>
      <p:sp>
        <p:nvSpPr>
          <p:cNvPr id="8" name="AutoShape 8"/>
          <p:cNvSpPr/>
          <p:nvPr/>
        </p:nvSpPr>
        <p:spPr>
          <a:xfrm>
            <a:off x="1524000" y="2197100"/>
            <a:ext cx="889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Noto Sans SC"/>
                <a:ea typeface="Noto Sans SC"/>
                <a:cs typeface="Noto Sans SC"/>
                <a:sym typeface="Noto Sans SC"/>
              </a:rPr>
              <a:t>01. 项目背景与问题</a:t>
            </a:r>
            <a:endParaRPr lang="en-US" sz="1100"/>
          </a:p>
        </p:txBody>
      </p:sp>
      <p:sp>
        <p:nvSpPr>
          <p:cNvPr id="9" name="AutoShape 9"/>
          <p:cNvSpPr/>
          <p:nvPr/>
        </p:nvSpPr>
        <p:spPr>
          <a:xfrm>
            <a:off x="762000" y="2870200"/>
            <a:ext cx="10668000" cy="711200"/>
          </a:xfrm>
          <a:prstGeom prst="roundRect">
            <a:avLst>
              <a:gd name="adj" fmla="val 17857"/>
            </a:avLst>
          </a:prstGeom>
          <a:solidFill>
            <a:srgbClr val="FFFFFF">
              <a:alpha val="5000"/>
            </a:srgbClr>
          </a:solidFill>
          <a:ln w="12700" cap="flat" cmpd="sng">
            <a:solidFill>
              <a:srgbClr val="00A9E0">
                <a:alpha val="30000"/>
              </a:srgbClr>
            </a:solidFill>
            <a:prstDash val="solid"/>
            <a:round/>
          </a:ln>
        </p:spPr>
        <p:txBody>
          <a:bodyPr vert="horz" wrap="square" lIns="63500" tIns="63500" rIns="63500" bIns="63500" rtlCol="0" anchor="ctr"/>
          <a:lstStyle/>
          <a:p>
            <a:pPr algn="ctr">
              <a:defRPr/>
            </a:pPr>
            <a:endParaRPr/>
          </a:p>
        </p:txBody>
      </p:sp>
      <p:pic>
        <p:nvPicPr>
          <p:cNvPr id="10" name="Picture 10"/>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3048000"/>
            <a:ext cx="355600" cy="355600"/>
          </a:xfrm>
          <a:prstGeom prst="rect">
            <a:avLst/>
          </a:prstGeom>
        </p:spPr>
      </p:pic>
      <p:sp>
        <p:nvSpPr>
          <p:cNvPr id="11" name="AutoShape 11"/>
          <p:cNvSpPr/>
          <p:nvPr/>
        </p:nvSpPr>
        <p:spPr>
          <a:xfrm>
            <a:off x="1524000" y="3035300"/>
            <a:ext cx="889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Noto Sans SC"/>
                <a:ea typeface="Noto Sans SC"/>
                <a:cs typeface="Noto Sans SC"/>
                <a:sym typeface="Noto Sans SC"/>
              </a:rPr>
              <a:t>02. 系统设计与架构</a:t>
            </a:r>
            <a:endParaRPr lang="en-US" sz="1100"/>
          </a:p>
        </p:txBody>
      </p:sp>
      <p:sp>
        <p:nvSpPr>
          <p:cNvPr id="12" name="AutoShape 12"/>
          <p:cNvSpPr/>
          <p:nvPr/>
        </p:nvSpPr>
        <p:spPr>
          <a:xfrm>
            <a:off x="762000" y="3708400"/>
            <a:ext cx="10668000" cy="711200"/>
          </a:xfrm>
          <a:prstGeom prst="roundRect">
            <a:avLst>
              <a:gd name="adj" fmla="val 17857"/>
            </a:avLst>
          </a:prstGeom>
          <a:solidFill>
            <a:srgbClr val="FFFFFF">
              <a:alpha val="5000"/>
            </a:srgbClr>
          </a:solidFill>
          <a:ln w="12700" cap="flat" cmpd="sng">
            <a:solidFill>
              <a:srgbClr val="00A9E0">
                <a:alpha val="30000"/>
              </a:srgbClr>
            </a:solidFill>
            <a:prstDash val="solid"/>
            <a:round/>
          </a:ln>
        </p:spPr>
        <p:txBody>
          <a:bodyPr vert="horz" wrap="square" lIns="63500" tIns="63500" rIns="63500" bIns="63500" rtlCol="0" anchor="ctr"/>
          <a:lstStyle/>
          <a:p>
            <a:pPr algn="ctr">
              <a:defRPr/>
            </a:pPr>
            <a:endParaRPr/>
          </a:p>
        </p:txBody>
      </p:sp>
      <p:pic>
        <p:nvPicPr>
          <p:cNvPr id="13" name="Picture 1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16000" y="3886200"/>
            <a:ext cx="355600" cy="355600"/>
          </a:xfrm>
          <a:prstGeom prst="rect">
            <a:avLst/>
          </a:prstGeom>
        </p:spPr>
      </p:pic>
      <p:sp>
        <p:nvSpPr>
          <p:cNvPr id="14" name="AutoShape 14"/>
          <p:cNvSpPr/>
          <p:nvPr/>
        </p:nvSpPr>
        <p:spPr>
          <a:xfrm>
            <a:off x="1524000" y="3873500"/>
            <a:ext cx="889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Noto Sans SC"/>
                <a:ea typeface="Noto Sans SC"/>
                <a:cs typeface="Noto Sans SC"/>
                <a:sym typeface="Noto Sans SC"/>
              </a:rPr>
              <a:t>03. 核心功能与技术</a:t>
            </a:r>
            <a:endParaRPr lang="en-US" sz="1100"/>
          </a:p>
        </p:txBody>
      </p:sp>
      <p:sp>
        <p:nvSpPr>
          <p:cNvPr id="15" name="AutoShape 15"/>
          <p:cNvSpPr/>
          <p:nvPr/>
        </p:nvSpPr>
        <p:spPr>
          <a:xfrm>
            <a:off x="762000" y="4546600"/>
            <a:ext cx="10668000" cy="711200"/>
          </a:xfrm>
          <a:prstGeom prst="roundRect">
            <a:avLst>
              <a:gd name="adj" fmla="val 17857"/>
            </a:avLst>
          </a:prstGeom>
          <a:solidFill>
            <a:srgbClr val="FFFFFF">
              <a:alpha val="5000"/>
            </a:srgbClr>
          </a:solidFill>
          <a:ln w="12700" cap="flat" cmpd="sng">
            <a:solidFill>
              <a:srgbClr val="00A9E0">
                <a:alpha val="30000"/>
              </a:srgbClr>
            </a:solidFill>
            <a:prstDash val="solid"/>
            <a:round/>
          </a:ln>
        </p:spPr>
        <p:txBody>
          <a:bodyPr vert="horz" wrap="square" lIns="63500" tIns="63500" rIns="63500" bIns="63500" rtlCol="0" anchor="ctr"/>
          <a:lstStyle/>
          <a:p>
            <a:pPr algn="ctr">
              <a:defRPr/>
            </a:pPr>
            <a:endParaRPr/>
          </a:p>
        </p:txBody>
      </p:sp>
      <p:pic>
        <p:nvPicPr>
          <p:cNvPr id="16" name="Picture 1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16000" y="4724400"/>
            <a:ext cx="355600" cy="355600"/>
          </a:xfrm>
          <a:prstGeom prst="rect">
            <a:avLst/>
          </a:prstGeom>
        </p:spPr>
      </p:pic>
      <p:sp>
        <p:nvSpPr>
          <p:cNvPr id="17" name="AutoShape 17"/>
          <p:cNvSpPr/>
          <p:nvPr/>
        </p:nvSpPr>
        <p:spPr>
          <a:xfrm>
            <a:off x="1524000" y="4711700"/>
            <a:ext cx="889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Noto Sans SC"/>
                <a:ea typeface="Noto Sans SC"/>
                <a:cs typeface="Noto Sans SC"/>
                <a:sym typeface="Noto Sans SC"/>
              </a:rPr>
              <a:t>04. 数据分析与实验</a:t>
            </a:r>
            <a:endParaRPr lang="en-US" sz="1100"/>
          </a:p>
        </p:txBody>
      </p:sp>
      <p:sp>
        <p:nvSpPr>
          <p:cNvPr id="18" name="AutoShape 18"/>
          <p:cNvSpPr/>
          <p:nvPr/>
        </p:nvSpPr>
        <p:spPr>
          <a:xfrm>
            <a:off x="762000" y="5384800"/>
            <a:ext cx="10668000" cy="711200"/>
          </a:xfrm>
          <a:prstGeom prst="roundRect">
            <a:avLst>
              <a:gd name="adj" fmla="val 17857"/>
            </a:avLst>
          </a:prstGeom>
          <a:solidFill>
            <a:srgbClr val="FFFFFF">
              <a:alpha val="5000"/>
            </a:srgbClr>
          </a:solidFill>
          <a:ln w="12700" cap="flat" cmpd="sng">
            <a:solidFill>
              <a:srgbClr val="00A9E0">
                <a:alpha val="30000"/>
              </a:srgbClr>
            </a:solidFill>
            <a:prstDash val="solid"/>
            <a:round/>
          </a:ln>
        </p:spPr>
        <p:txBody>
          <a:bodyPr vert="horz" wrap="square" lIns="63500" tIns="63500" rIns="63500" bIns="63500" rtlCol="0" anchor="ctr"/>
          <a:lstStyle/>
          <a:p>
            <a:pPr algn="ctr">
              <a:defRPr/>
            </a:pPr>
            <a:endParaRPr/>
          </a:p>
        </p:txBody>
      </p:sp>
      <p:pic>
        <p:nvPicPr>
          <p:cNvPr id="19" name="Picture 19"/>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16000" y="5562600"/>
            <a:ext cx="355600" cy="355600"/>
          </a:xfrm>
          <a:prstGeom prst="rect">
            <a:avLst/>
          </a:prstGeom>
        </p:spPr>
      </p:pic>
      <p:sp>
        <p:nvSpPr>
          <p:cNvPr id="20" name="AutoShape 20"/>
          <p:cNvSpPr/>
          <p:nvPr/>
        </p:nvSpPr>
        <p:spPr>
          <a:xfrm>
            <a:off x="1524000" y="5549900"/>
            <a:ext cx="889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Noto Sans SC"/>
                <a:ea typeface="Noto Sans SC"/>
                <a:cs typeface="Noto Sans SC"/>
                <a:sym typeface="Noto Sans SC"/>
              </a:rPr>
              <a:t>05. 总结与展望</a:t>
            </a:r>
            <a:endParaRPr lang="en-US" sz="11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F2329">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l="1111" r="1111"/>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14181E">
              <a:alpha val="70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0" y="0"/>
            <a:ext cx="12192000" cy="50800"/>
          </a:xfrm>
          <a:prstGeom prst="roundRect">
            <a:avLst>
              <a:gd name="adj" fmla="val 0"/>
            </a:avLst>
          </a:prstGeom>
          <a:gradFill rotWithShape="1">
            <a:gsLst>
              <a:gs pos="0">
                <a:srgbClr val="00A9E0">
                  <a:alpha val="100000"/>
                </a:srgbClr>
              </a:gs>
              <a:gs pos="100000">
                <a:srgbClr val="40E0D0">
                  <a:alpha val="100000"/>
                </a:srgbClr>
              </a:gs>
            </a:gsLst>
            <a:lin ang="0"/>
          </a:gradFill>
          <a:ln w="25400" cap="flat" cmpd="sng">
            <a:no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0" y="2032000"/>
            <a:ext cx="12192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1" i="0" u="none" strike="noStrike">
                <a:solidFill>
                  <a:srgbClr val="40E0D0"/>
                </a:solidFill>
                <a:latin typeface="Noto Sans SC"/>
                <a:ea typeface="Noto Sans SC"/>
                <a:cs typeface="Noto Sans SC"/>
                <a:sym typeface="Noto Sans SC"/>
              </a:rPr>
              <a:t>CHAPTER 01</a:t>
            </a:r>
            <a:endParaRPr lang="en-US" sz="1100"/>
          </a:p>
        </p:txBody>
      </p:sp>
      <p:sp>
        <p:nvSpPr>
          <p:cNvPr id="6" name="AutoShape 6"/>
          <p:cNvSpPr/>
          <p:nvPr/>
        </p:nvSpPr>
        <p:spPr>
          <a:xfrm>
            <a:off x="1016000" y="2413000"/>
            <a:ext cx="10160000" cy="762000"/>
          </a:xfrm>
          <a:prstGeom prst="rect">
            <a:avLst/>
          </a:prstGeom>
          <a:noFill/>
          <a:ln w="12700" cap="flat" cmpd="sng">
            <a:noFill/>
            <a:prstDash val="solid"/>
            <a:round/>
          </a:ln>
        </p:spPr>
        <p:txBody>
          <a:bodyPr vert="horz" wrap="none" lIns="0" tIns="0" rIns="0" bIns="0" rtlCol="0" anchor="ctr" anchorCtr="0"/>
          <a:lstStyle/>
          <a:p>
            <a:pPr indent="0" algn="ctr">
              <a:lnSpc>
                <a:spcPct val="125000"/>
              </a:lnSpc>
              <a:defRPr/>
            </a:pPr>
            <a:r>
              <a:rPr lang="en-US" sz="3600" b="1" i="0" u="none" strike="noStrike">
                <a:solidFill>
                  <a:srgbClr val="FFFFFF"/>
                </a:solidFill>
                <a:latin typeface="Noto Sans SC"/>
                <a:ea typeface="Noto Sans SC"/>
                <a:cs typeface="Noto Sans SC"/>
                <a:sym typeface="Noto Sans SC"/>
              </a:rPr>
              <a:t>项目背景与问题</a:t>
            </a:r>
            <a:endParaRPr lang="en-US" sz="1100"/>
          </a:p>
        </p:txBody>
      </p:sp>
      <p:sp>
        <p:nvSpPr>
          <p:cNvPr id="7" name="AutoShape 7"/>
          <p:cNvSpPr/>
          <p:nvPr/>
        </p:nvSpPr>
        <p:spPr>
          <a:xfrm>
            <a:off x="5715000" y="3302000"/>
            <a:ext cx="762000" cy="50800"/>
          </a:xfrm>
          <a:prstGeom prst="roundRect">
            <a:avLst>
              <a:gd name="adj" fmla="val 0"/>
            </a:avLst>
          </a:prstGeom>
          <a:solidFill>
            <a:srgbClr val="FF8C0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8" name="AutoShape 8"/>
          <p:cNvSpPr/>
          <p:nvPr/>
        </p:nvSpPr>
        <p:spPr>
          <a:xfrm>
            <a:off x="1651000" y="3556000"/>
            <a:ext cx="8890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0" i="0" u="none" strike="noStrike">
                <a:solidFill>
                  <a:srgbClr val="FFFFFF">
                    <a:alpha val="70196"/>
                  </a:srgbClr>
                </a:solidFill>
                <a:latin typeface="Noto Sans SC"/>
                <a:ea typeface="Noto Sans SC"/>
                <a:cs typeface="Noto Sans SC"/>
                <a:sym typeface="Noto Sans SC"/>
              </a:rPr>
              <a:t>智能驾驶发展现状与平台核心痛点分析</a:t>
            </a:r>
            <a:endParaRPr lang="en-US" sz="1100"/>
          </a:p>
        </p:txBody>
      </p:sp>
      <p:sp>
        <p:nvSpPr>
          <p:cNvPr id="9" name="AutoShape 9"/>
          <p:cNvSpPr/>
          <p:nvPr/>
        </p:nvSpPr>
        <p:spPr>
          <a:xfrm>
            <a:off x="6057900" y="5842000"/>
            <a:ext cx="76200" cy="76200"/>
          </a:xfrm>
          <a:prstGeom prst="roundRect">
            <a:avLst>
              <a:gd name="adj" fmla="val 0"/>
            </a:avLst>
          </a:prstGeom>
          <a:solidFill>
            <a:srgbClr val="00A9E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0" name="AutoShape 10"/>
          <p:cNvSpPr/>
          <p:nvPr/>
        </p:nvSpPr>
        <p:spPr>
          <a:xfrm>
            <a:off x="5905500" y="5842000"/>
            <a:ext cx="76200" cy="76200"/>
          </a:xfrm>
          <a:prstGeom prst="roundRect">
            <a:avLst>
              <a:gd name="adj" fmla="val 0"/>
            </a:avLst>
          </a:prstGeom>
          <a:solidFill>
            <a:srgbClr val="00A9E0">
              <a:alpha val="50000"/>
            </a:srgbClr>
          </a:solidFill>
          <a:ln w="25400" cap="flat" cmpd="sng">
            <a:noFill/>
            <a:prstDash val="solid"/>
            <a:round/>
          </a:ln>
        </p:spPr>
        <p:txBody>
          <a:bodyPr vert="horz" wrap="square" lIns="63500" tIns="63500" rIns="63500" bIns="63500" rtlCol="0" anchor="ctr"/>
          <a:lstStyle/>
          <a:p>
            <a:pPr algn="ctr">
              <a:defRPr/>
            </a:pPr>
            <a:endParaRPr/>
          </a:p>
        </p:txBody>
      </p:sp>
      <p:sp>
        <p:nvSpPr>
          <p:cNvPr id="11" name="AutoShape 11"/>
          <p:cNvSpPr/>
          <p:nvPr/>
        </p:nvSpPr>
        <p:spPr>
          <a:xfrm>
            <a:off x="6210300" y="5842000"/>
            <a:ext cx="76200" cy="76200"/>
          </a:xfrm>
          <a:prstGeom prst="roundRect">
            <a:avLst>
              <a:gd name="adj" fmla="val 0"/>
            </a:avLst>
          </a:prstGeom>
          <a:solidFill>
            <a:srgbClr val="00A9E0">
              <a:alpha val="50000"/>
            </a:srgbClr>
          </a:solidFill>
          <a:ln w="25400" cap="flat" cmpd="sng">
            <a:noFill/>
            <a:prstDash val="solid"/>
            <a:round/>
          </a:ln>
        </p:spPr>
        <p:txBody>
          <a:bodyPr vert="horz" wrap="square" lIns="63500" tIns="63500" rIns="63500" bIns="63500" rtlCol="0" anchor="ctr"/>
          <a:lstStyle/>
          <a:p>
            <a:pPr algn="ctr">
              <a:defRPr/>
            </a:pP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41414">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l="1111" r="1111"/>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0F172A">
              <a:alpha val="70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762000" y="1016000"/>
            <a:ext cx="20320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dirty="0" err="1">
                <a:solidFill>
                  <a:srgbClr val="FFFFFF"/>
                </a:solidFill>
                <a:latin typeface="Noto Sans SC"/>
                <a:ea typeface="Noto Sans SC"/>
                <a:cs typeface="Noto Sans SC"/>
                <a:sym typeface="Noto Sans SC"/>
              </a:rPr>
              <a:t>项目背景</a:t>
            </a:r>
            <a:r>
              <a:rPr lang="zh-CN" altLang="en-US" sz="3600" b="1" dirty="0">
                <a:solidFill>
                  <a:srgbClr val="FFFFFF"/>
                </a:solidFill>
                <a:latin typeface="Noto Sans SC"/>
                <a:ea typeface="Noto Sans SC"/>
                <a:cs typeface="Noto Sans SC"/>
                <a:sym typeface="Noto Sans SC"/>
              </a:rPr>
              <a:t>与问题</a:t>
            </a:r>
            <a:endParaRPr lang="en-US" sz="1100" dirty="0"/>
          </a:p>
        </p:txBody>
      </p:sp>
      <p:sp>
        <p:nvSpPr>
          <p:cNvPr id="5" name="AutoShape 5"/>
          <p:cNvSpPr/>
          <p:nvPr/>
        </p:nvSpPr>
        <p:spPr>
          <a:xfrm>
            <a:off x="762000" y="1625600"/>
            <a:ext cx="762000" cy="50800"/>
          </a:xfrm>
          <a:prstGeom prst="roundRect">
            <a:avLst>
              <a:gd name="adj" fmla="val 0"/>
            </a:avLst>
          </a:prstGeom>
          <a:solidFill>
            <a:srgbClr val="00A9E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762000" y="1888574"/>
            <a:ext cx="5588000" cy="3556000"/>
          </a:xfrm>
          <a:prstGeom prst="roundRect">
            <a:avLst>
              <a:gd name="adj" fmla="val 3571"/>
            </a:avLst>
          </a:prstGeom>
          <a:solidFill>
            <a:srgbClr val="FFFFFF">
              <a:alpha val="5000"/>
            </a:srgbClr>
          </a:solidFill>
          <a:ln w="12700" cap="flat" cmpd="sng">
            <a:solidFill>
              <a:srgbClr val="00A9E0">
                <a:alpha val="30000"/>
              </a:srgbClr>
            </a:solidFill>
            <a:prstDash val="solid"/>
            <a:round/>
          </a:ln>
        </p:spPr>
        <p:txBody>
          <a:bodyPr vert="horz" wrap="square" lIns="63500" tIns="63500" rIns="63500" bIns="63500" rtlCol="0" anchor="ctr"/>
          <a:lstStyle/>
          <a:p>
            <a:pPr algn="ctr">
              <a:defRPr/>
            </a:pPr>
            <a:endParaRPr/>
          </a:p>
        </p:txBody>
      </p:sp>
      <p:pic>
        <p:nvPicPr>
          <p:cNvPr id="7" name="Picture 7"/>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90600" y="2327978"/>
            <a:ext cx="304800" cy="304800"/>
          </a:xfrm>
          <a:prstGeom prst="rect">
            <a:avLst/>
          </a:prstGeom>
        </p:spPr>
      </p:pic>
      <p:sp>
        <p:nvSpPr>
          <p:cNvPr id="8" name="AutoShape 8"/>
          <p:cNvSpPr/>
          <p:nvPr/>
        </p:nvSpPr>
        <p:spPr>
          <a:xfrm>
            <a:off x="1384224" y="2253148"/>
            <a:ext cx="4826000" cy="635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600" b="1" i="0" u="none" strike="noStrike" dirty="0" err="1">
                <a:solidFill>
                  <a:srgbClr val="FFFFFF"/>
                </a:solidFill>
                <a:latin typeface="Noto Sans SC"/>
                <a:ea typeface="Noto Sans SC"/>
                <a:cs typeface="Noto Sans SC"/>
                <a:sym typeface="Noto Sans SC"/>
              </a:rPr>
              <a:t>缺乏量化评估体系</a:t>
            </a:r>
            <a:endParaRPr lang="en-US" sz="1100" dirty="0"/>
          </a:p>
          <a:p>
            <a:pPr indent="0" algn="l">
              <a:lnSpc>
                <a:spcPct val="125000"/>
              </a:lnSpc>
            </a:pPr>
            <a:r>
              <a:rPr lang="en-US" sz="1200" b="0" i="0" u="none" strike="noStrike" dirty="0" err="1">
                <a:solidFill>
                  <a:srgbClr val="FFFFFF">
                    <a:alpha val="70196"/>
                  </a:srgbClr>
                </a:solidFill>
                <a:latin typeface="Noto Sans SC"/>
                <a:ea typeface="Noto Sans SC"/>
                <a:cs typeface="Noto Sans SC"/>
                <a:sym typeface="Noto Sans SC"/>
              </a:rPr>
              <a:t>驾驶员主观判断风险高，无科学量化标准支撑决策</a:t>
            </a:r>
            <a:r>
              <a:rPr lang="en-US" sz="1200" b="0" i="0" u="none" strike="noStrike" dirty="0">
                <a:solidFill>
                  <a:srgbClr val="FFFFFF">
                    <a:alpha val="70196"/>
                  </a:srgbClr>
                </a:solidFill>
                <a:latin typeface="Noto Sans SC"/>
                <a:ea typeface="Noto Sans SC"/>
                <a:cs typeface="Noto Sans SC"/>
                <a:sym typeface="Noto Sans SC"/>
              </a:rPr>
              <a:t>。</a:t>
            </a:r>
          </a:p>
        </p:txBody>
      </p:sp>
      <p:pic>
        <p:nvPicPr>
          <p:cNvPr id="9" name="Picture 9"/>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90752" y="3302152"/>
            <a:ext cx="304800" cy="304800"/>
          </a:xfrm>
          <a:prstGeom prst="rect">
            <a:avLst/>
          </a:prstGeom>
        </p:spPr>
      </p:pic>
      <p:sp>
        <p:nvSpPr>
          <p:cNvPr id="10" name="AutoShape 10"/>
          <p:cNvSpPr/>
          <p:nvPr/>
        </p:nvSpPr>
        <p:spPr>
          <a:xfrm>
            <a:off x="1409776" y="3242987"/>
            <a:ext cx="4826000" cy="635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600" b="1" i="0" u="none" strike="noStrike" dirty="0" err="1">
                <a:solidFill>
                  <a:srgbClr val="FFFFFF"/>
                </a:solidFill>
                <a:latin typeface="Noto Sans SC"/>
                <a:ea typeface="Noto Sans SC"/>
                <a:cs typeface="Noto Sans SC"/>
                <a:sym typeface="Noto Sans SC"/>
              </a:rPr>
              <a:t>多源异构数据融合难</a:t>
            </a:r>
            <a:endParaRPr lang="en-US" sz="1100" dirty="0"/>
          </a:p>
          <a:p>
            <a:pPr indent="0" algn="l">
              <a:lnSpc>
                <a:spcPct val="125000"/>
              </a:lnSpc>
            </a:pPr>
            <a:r>
              <a:rPr lang="en-US" sz="1200" b="0" i="0" u="none" strike="noStrike" dirty="0" err="1">
                <a:solidFill>
                  <a:srgbClr val="FFFFFF">
                    <a:alpha val="70196"/>
                  </a:srgbClr>
                </a:solidFill>
                <a:latin typeface="Noto Sans SC"/>
                <a:ea typeface="Noto Sans SC"/>
                <a:cs typeface="Noto Sans SC"/>
                <a:sym typeface="Noto Sans SC"/>
              </a:rPr>
              <a:t>交通、气象、定位等数据复杂</a:t>
            </a:r>
            <a:r>
              <a:rPr lang="zh-CN" altLang="en-US" sz="1200" dirty="0">
                <a:solidFill>
                  <a:srgbClr val="FFFFFF">
                    <a:alpha val="70196"/>
                  </a:srgbClr>
                </a:solidFill>
                <a:latin typeface="Noto Sans SC"/>
                <a:ea typeface="Noto Sans SC"/>
                <a:cs typeface="Noto Sans SC"/>
                <a:sym typeface="Noto Sans SC"/>
              </a:rPr>
              <a:t>多样</a:t>
            </a:r>
            <a:r>
              <a:rPr lang="en-US" sz="1200" b="0" i="0" u="none" strike="noStrike" dirty="0">
                <a:solidFill>
                  <a:srgbClr val="FFFFFF">
                    <a:alpha val="70196"/>
                  </a:srgbClr>
                </a:solidFill>
                <a:latin typeface="Noto Sans SC"/>
                <a:ea typeface="Noto Sans SC"/>
                <a:cs typeface="Noto Sans SC"/>
                <a:sym typeface="Noto Sans SC"/>
              </a:rPr>
              <a:t>，</a:t>
            </a:r>
            <a:r>
              <a:rPr lang="en-US" sz="1200" b="0" i="0" u="none" strike="noStrike" dirty="0" err="1">
                <a:solidFill>
                  <a:srgbClr val="FFFFFF">
                    <a:alpha val="70196"/>
                  </a:srgbClr>
                </a:solidFill>
                <a:latin typeface="Noto Sans SC"/>
                <a:ea typeface="Noto Sans SC"/>
                <a:cs typeface="Noto Sans SC"/>
                <a:sym typeface="Noto Sans SC"/>
              </a:rPr>
              <a:t>实时性与一致性不足</a:t>
            </a:r>
            <a:r>
              <a:rPr lang="en-US" sz="1200" b="0" i="0" u="none" strike="noStrike" dirty="0">
                <a:solidFill>
                  <a:srgbClr val="FFFFFF">
                    <a:alpha val="70196"/>
                  </a:srgbClr>
                </a:solidFill>
                <a:latin typeface="Noto Sans SC"/>
                <a:ea typeface="Noto Sans SC"/>
                <a:cs typeface="Noto Sans SC"/>
                <a:sym typeface="Noto Sans SC"/>
              </a:rPr>
              <a:t>。</a:t>
            </a:r>
          </a:p>
        </p:txBody>
      </p:sp>
      <p:pic>
        <p:nvPicPr>
          <p:cNvPr id="11" name="Picture 11"/>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90600" y="4318000"/>
            <a:ext cx="304800" cy="304800"/>
          </a:xfrm>
          <a:prstGeom prst="rect">
            <a:avLst/>
          </a:prstGeom>
        </p:spPr>
      </p:pic>
      <p:sp>
        <p:nvSpPr>
          <p:cNvPr id="12" name="AutoShape 12"/>
          <p:cNvSpPr/>
          <p:nvPr/>
        </p:nvSpPr>
        <p:spPr>
          <a:xfrm>
            <a:off x="1430157" y="4254500"/>
            <a:ext cx="4826000" cy="635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600" b="1" i="0" u="none" strike="noStrike" dirty="0" err="1">
                <a:solidFill>
                  <a:srgbClr val="FFFFFF"/>
                </a:solidFill>
                <a:latin typeface="Noto Sans SC"/>
                <a:ea typeface="Noto Sans SC"/>
                <a:cs typeface="Noto Sans SC"/>
                <a:sym typeface="Noto Sans SC"/>
              </a:rPr>
              <a:t>单车智能局限性</a:t>
            </a:r>
            <a:endParaRPr lang="en-US" sz="1100" dirty="0"/>
          </a:p>
          <a:p>
            <a:pPr indent="0" algn="l">
              <a:lnSpc>
                <a:spcPct val="125000"/>
              </a:lnSpc>
            </a:pPr>
            <a:r>
              <a:rPr lang="en-US" sz="1200" b="0" i="0" u="none" strike="noStrike" dirty="0" err="1">
                <a:solidFill>
                  <a:srgbClr val="FFFFFF">
                    <a:alpha val="70196"/>
                  </a:srgbClr>
                </a:solidFill>
                <a:latin typeface="Noto Sans SC"/>
                <a:ea typeface="Noto Sans SC"/>
                <a:cs typeface="Noto Sans SC"/>
                <a:sym typeface="Noto Sans SC"/>
              </a:rPr>
              <a:t>依赖本地感知</a:t>
            </a:r>
            <a:r>
              <a:rPr lang="zh-CN" altLang="en-US" sz="1200" b="0" i="0" u="none" strike="noStrike" dirty="0">
                <a:solidFill>
                  <a:srgbClr val="FFFFFF">
                    <a:alpha val="70196"/>
                  </a:srgbClr>
                </a:solidFill>
                <a:latin typeface="Noto Sans SC"/>
                <a:ea typeface="Noto Sans SC"/>
                <a:cs typeface="Noto Sans SC"/>
                <a:sym typeface="Noto Sans SC"/>
              </a:rPr>
              <a:t>，</a:t>
            </a:r>
            <a:r>
              <a:rPr lang="en-US" sz="1200" b="0" i="0" u="none" strike="noStrike" dirty="0" err="1">
                <a:solidFill>
                  <a:srgbClr val="FFFFFF">
                    <a:alpha val="70196"/>
                  </a:srgbClr>
                </a:solidFill>
                <a:latin typeface="Noto Sans SC"/>
                <a:ea typeface="Noto Sans SC"/>
                <a:cs typeface="Noto Sans SC"/>
                <a:sym typeface="Noto Sans SC"/>
              </a:rPr>
              <a:t>缺乏全局视野，难以应对复杂交通突发状况</a:t>
            </a:r>
            <a:r>
              <a:rPr lang="en-US" sz="1200" b="0" i="0" u="none" strike="noStrike" dirty="0">
                <a:solidFill>
                  <a:srgbClr val="FFFFFF">
                    <a:alpha val="70196"/>
                  </a:srgbClr>
                </a:solidFill>
                <a:latin typeface="Noto Sans SC"/>
                <a:ea typeface="Noto Sans SC"/>
                <a:cs typeface="Noto Sans SC"/>
                <a:sym typeface="Noto Sans SC"/>
              </a:rPr>
              <a:t>。</a:t>
            </a:r>
          </a:p>
        </p:txBody>
      </p:sp>
      <p:sp>
        <p:nvSpPr>
          <p:cNvPr id="14" name="AutoShape 14"/>
          <p:cNvSpPr/>
          <p:nvPr/>
        </p:nvSpPr>
        <p:spPr>
          <a:xfrm>
            <a:off x="1397000" y="4191000"/>
            <a:ext cx="4826000" cy="635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200" b="0" i="0" u="none" strike="noStrike" dirty="0">
                <a:solidFill>
                  <a:srgbClr val="FFFFFF">
                    <a:alpha val="70196"/>
                  </a:srgbClr>
                </a:solidFill>
                <a:latin typeface="Noto Sans SC"/>
                <a:ea typeface="Noto Sans SC"/>
                <a:cs typeface="Noto Sans SC"/>
                <a:sym typeface="Noto Sans SC"/>
              </a:rPr>
              <a:t>。</a:t>
            </a:r>
          </a:p>
        </p:txBody>
      </p:sp>
      <p:pic>
        <p:nvPicPr>
          <p:cNvPr id="15" name="Picture 15"/>
          <p:cNvPicPr>
            <a:picLocks noChangeAspect="1"/>
          </p:cNvPicPr>
          <p:nvPr/>
        </p:nvPicPr>
        <p:blipFill>
          <a:blip r:embed="rId7"/>
          <a:srcRect l="80" r="80"/>
          <a:stretch>
            <a:fillRect/>
          </a:stretch>
        </p:blipFill>
        <p:spPr>
          <a:xfrm>
            <a:off x="7366000" y="2159000"/>
            <a:ext cx="3556000" cy="2311400"/>
          </a:xfrm>
          <a:prstGeom prst="roundRect">
            <a:avLst>
              <a:gd name="adj" fmla="val 5494"/>
            </a:avLst>
          </a:prstGeom>
          <a:noFill/>
          <a:ln w="25400" cap="flat" cmpd="sng">
            <a:solidFill>
              <a:srgbClr val="00A9E0">
                <a:alpha val="50000"/>
              </a:srgbClr>
            </a:solidFill>
            <a:prstDash val="solid"/>
            <a:round/>
          </a:ln>
          <a:effectLst>
            <a:outerShdw blurRad="190500" dist="101600" dir="5400000" algn="tl" rotWithShape="0">
              <a:srgbClr val="000000">
                <a:alpha val="50000"/>
              </a:srgbClr>
            </a:outerShdw>
          </a:effectLst>
        </p:spPr>
      </p:pic>
      <p:sp>
        <p:nvSpPr>
          <p:cNvPr id="16" name="AutoShape 16"/>
          <p:cNvSpPr/>
          <p:nvPr/>
        </p:nvSpPr>
        <p:spPr>
          <a:xfrm>
            <a:off x="7366000" y="4572000"/>
            <a:ext cx="3556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200" b="0" i="0" u="none" strike="noStrike">
                <a:solidFill>
                  <a:srgbClr val="FFFFFF">
                    <a:alpha val="60000"/>
                  </a:srgbClr>
                </a:solidFill>
                <a:latin typeface="Noto Sans SC"/>
                <a:ea typeface="Noto Sans SC"/>
                <a:cs typeface="Noto Sans SC"/>
                <a:sym typeface="Noto Sans SC"/>
              </a:rPr>
              <a:t>未来智能驾驶愿景与现实挑战</a:t>
            </a:r>
            <a:endParaRPr lang="en-US" sz="11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41414">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l="1111" r="1111"/>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0A192F">
              <a:alpha val="85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0" y="0"/>
            <a:ext cx="12192000" cy="76200"/>
          </a:xfrm>
          <a:prstGeom prst="roundRect">
            <a:avLst>
              <a:gd name="adj" fmla="val 0"/>
            </a:avLst>
          </a:prstGeom>
          <a:gradFill rotWithShape="1">
            <a:gsLst>
              <a:gs pos="0">
                <a:srgbClr val="00A9E0">
                  <a:alpha val="100000"/>
                </a:srgbClr>
              </a:gs>
              <a:gs pos="100000">
                <a:srgbClr val="40E0D0">
                  <a:alpha val="100000"/>
                </a:srgbClr>
              </a:gs>
            </a:gsLst>
            <a:lin ang="0"/>
          </a:gradFill>
          <a:ln w="25400" cap="flat" cmpd="sng">
            <a:noFill/>
            <a:prstDash val="solid"/>
            <a:round/>
          </a:ln>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689600" y="1651000"/>
            <a:ext cx="812800" cy="812800"/>
          </a:xfrm>
          <a:prstGeom prst="rect">
            <a:avLst/>
          </a:prstGeom>
          <a:effectLst>
            <a:outerShdw blurRad="254000" dir="2700000" algn="tl" rotWithShape="0">
              <a:srgbClr val="00A9E0">
                <a:alpha val="60000"/>
              </a:srgbClr>
            </a:outerShdw>
          </a:effectLst>
        </p:spPr>
      </p:pic>
      <p:sp>
        <p:nvSpPr>
          <p:cNvPr id="6" name="AutoShape 6"/>
          <p:cNvSpPr/>
          <p:nvPr/>
        </p:nvSpPr>
        <p:spPr>
          <a:xfrm>
            <a:off x="3746500" y="2667000"/>
            <a:ext cx="4699000" cy="762000"/>
          </a:xfrm>
          <a:prstGeom prst="rect">
            <a:avLst/>
          </a:prstGeom>
          <a:noFill/>
          <a:ln w="12700" cap="flat" cmpd="sng">
            <a:noFill/>
            <a:prstDash val="solid"/>
            <a:round/>
          </a:ln>
        </p:spPr>
        <p:txBody>
          <a:bodyPr vert="horz" wrap="none" lIns="0" tIns="0" rIns="0" bIns="0" rtlCol="0" anchor="ctr" anchorCtr="0"/>
          <a:lstStyle/>
          <a:p>
            <a:pPr indent="0" algn="ctr">
              <a:lnSpc>
                <a:spcPct val="125000"/>
              </a:lnSpc>
              <a:defRPr/>
            </a:pPr>
            <a:r>
              <a:rPr lang="en-US" sz="4000" b="1" i="0" u="none" strike="noStrike">
                <a:solidFill>
                  <a:srgbClr val="FFFFFF"/>
                </a:solidFill>
                <a:latin typeface="Noto Sans SC"/>
                <a:ea typeface="Noto Sans SC"/>
                <a:cs typeface="Noto Sans SC"/>
                <a:sym typeface="Noto Sans SC"/>
              </a:rPr>
              <a:t>系统设计与架构</a:t>
            </a:r>
            <a:endParaRPr lang="en-US" sz="1100"/>
          </a:p>
        </p:txBody>
      </p:sp>
      <p:sp>
        <p:nvSpPr>
          <p:cNvPr id="7" name="AutoShape 7"/>
          <p:cNvSpPr/>
          <p:nvPr/>
        </p:nvSpPr>
        <p:spPr>
          <a:xfrm>
            <a:off x="2286000" y="3492500"/>
            <a:ext cx="7620000" cy="381000"/>
          </a:xfrm>
          <a:prstGeom prst="rect">
            <a:avLst/>
          </a:prstGeom>
          <a:noFill/>
          <a:ln w="12700" cap="flat" cmpd="sng">
            <a:noFill/>
            <a:prstDash val="solid"/>
            <a:round/>
          </a:ln>
        </p:spPr>
        <p:txBody>
          <a:bodyPr vert="horz" wrap="none" lIns="0" tIns="0" rIns="0" bIns="0" rtlCol="0" anchor="ctr" anchorCtr="0"/>
          <a:lstStyle/>
          <a:p>
            <a:pPr indent="0" algn="ctr">
              <a:lnSpc>
                <a:spcPct val="125000"/>
              </a:lnSpc>
              <a:defRPr/>
            </a:pPr>
            <a:r>
              <a:rPr lang="en-US" sz="1400" b="0" i="0" u="none" strike="noStrike" spc="400">
                <a:solidFill>
                  <a:srgbClr val="40E0D0"/>
                </a:solidFill>
                <a:latin typeface="Heebo"/>
                <a:ea typeface="Heebo"/>
                <a:cs typeface="Heebo"/>
                <a:sym typeface="Heebo"/>
              </a:rPr>
              <a:t>SYSTEM DESIGN &amp; ARCHITECTURE</a:t>
            </a:r>
            <a:endParaRPr lang="en-US" sz="1100"/>
          </a:p>
        </p:txBody>
      </p:sp>
      <p:sp>
        <p:nvSpPr>
          <p:cNvPr id="8" name="AutoShape 8"/>
          <p:cNvSpPr/>
          <p:nvPr/>
        </p:nvSpPr>
        <p:spPr>
          <a:xfrm>
            <a:off x="2540000" y="4191000"/>
            <a:ext cx="2286000" cy="25400"/>
          </a:xfrm>
          <a:prstGeom prst="roundRect">
            <a:avLst>
              <a:gd name="adj" fmla="val 0"/>
            </a:avLst>
          </a:prstGeom>
          <a:solidFill>
            <a:srgbClr val="FF8C00">
              <a:alpha val="60000"/>
            </a:srgbClr>
          </a:solidFill>
          <a:ln w="25400" cap="flat" cmpd="sng">
            <a:noFill/>
            <a:prstDash val="solid"/>
            <a:round/>
          </a:ln>
        </p:spPr>
        <p:txBody>
          <a:bodyPr vert="horz" wrap="square" lIns="63500" tIns="63500" rIns="63500" bIns="63500" rtlCol="0" anchor="ctr"/>
          <a:lstStyle/>
          <a:p>
            <a:pPr algn="ctr">
              <a:defRPr/>
            </a:pPr>
            <a:endParaRPr/>
          </a:p>
        </p:txBody>
      </p:sp>
      <p:sp>
        <p:nvSpPr>
          <p:cNvPr id="9" name="AutoShape 9"/>
          <p:cNvSpPr/>
          <p:nvPr/>
        </p:nvSpPr>
        <p:spPr>
          <a:xfrm>
            <a:off x="7366000" y="4191000"/>
            <a:ext cx="2286000" cy="25400"/>
          </a:xfrm>
          <a:prstGeom prst="roundRect">
            <a:avLst>
              <a:gd name="adj" fmla="val 0"/>
            </a:avLst>
          </a:prstGeom>
          <a:solidFill>
            <a:srgbClr val="FF8C00">
              <a:alpha val="60000"/>
            </a:srgbClr>
          </a:solidFill>
          <a:ln w="25400" cap="flat" cmpd="sng">
            <a:noFill/>
            <a:prstDash val="solid"/>
            <a:round/>
          </a:ln>
        </p:spPr>
        <p:txBody>
          <a:bodyPr vert="horz" wrap="square" lIns="63500" tIns="63500" rIns="63500" bIns="63500" rtlCol="0" anchor="ctr"/>
          <a:lstStyle/>
          <a:p>
            <a:pPr algn="ctr">
              <a:defRPr/>
            </a:pPr>
            <a:endParaRPr/>
          </a:p>
        </p:txBody>
      </p:sp>
      <p:sp>
        <p:nvSpPr>
          <p:cNvPr id="10" name="AutoShape 10"/>
          <p:cNvSpPr/>
          <p:nvPr/>
        </p:nvSpPr>
        <p:spPr>
          <a:xfrm>
            <a:off x="6045200" y="4152900"/>
            <a:ext cx="101600" cy="101600"/>
          </a:xfrm>
          <a:prstGeom prst="roundRect">
            <a:avLst>
              <a:gd name="adj" fmla="val 0"/>
            </a:avLst>
          </a:prstGeom>
          <a:solidFill>
            <a:srgbClr val="FF8C0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1" name="AutoShape 11"/>
          <p:cNvSpPr/>
          <p:nvPr/>
        </p:nvSpPr>
        <p:spPr>
          <a:xfrm>
            <a:off x="0" y="6781800"/>
            <a:ext cx="12192000" cy="76200"/>
          </a:xfrm>
          <a:prstGeom prst="roundRect">
            <a:avLst>
              <a:gd name="adj" fmla="val 0"/>
            </a:avLst>
          </a:prstGeom>
          <a:gradFill rotWithShape="1">
            <a:gsLst>
              <a:gs pos="0">
                <a:srgbClr val="40E0D0">
                  <a:alpha val="100000"/>
                </a:srgbClr>
              </a:gs>
              <a:gs pos="100000">
                <a:srgbClr val="00A9E0">
                  <a:alpha val="100000"/>
                </a:srgbClr>
              </a:gs>
            </a:gsLst>
            <a:lin ang="0"/>
          </a:gradFill>
          <a:ln w="25400" cap="flat" cmpd="sng">
            <a:noFill/>
            <a:prstDash val="solid"/>
            <a:round/>
          </a:ln>
        </p:spPr>
        <p:txBody>
          <a:bodyPr vert="horz" wrap="square" lIns="63500" tIns="63500" rIns="63500" bIns="63500" rtlCol="0" anchor="ctr"/>
          <a:lstStyle/>
          <a:p>
            <a:pPr algn="ctr">
              <a:defRPr/>
            </a:pP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41414">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l="1111" r="1111"/>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0F172A">
              <a:alpha val="85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762000" y="508000"/>
            <a:ext cx="30480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FFFFFF"/>
                </a:solidFill>
                <a:latin typeface="Noto Sans SC"/>
                <a:ea typeface="Noto Sans SC"/>
                <a:cs typeface="Noto Sans SC"/>
                <a:sym typeface="Noto Sans SC"/>
              </a:rPr>
              <a:t>系统整体架构</a:t>
            </a:r>
            <a:endParaRPr lang="en-US" sz="1100"/>
          </a:p>
        </p:txBody>
      </p:sp>
      <p:sp>
        <p:nvSpPr>
          <p:cNvPr id="5" name="AutoShape 5"/>
          <p:cNvSpPr/>
          <p:nvPr/>
        </p:nvSpPr>
        <p:spPr>
          <a:xfrm>
            <a:off x="762000" y="1206500"/>
            <a:ext cx="762000" cy="50800"/>
          </a:xfrm>
          <a:prstGeom prst="roundRect">
            <a:avLst>
              <a:gd name="adj" fmla="val 0"/>
            </a:avLst>
          </a:prstGeom>
          <a:solidFill>
            <a:srgbClr val="00A9E0">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r:embed="rId4"/>
          <a:srcRect/>
          <a:stretch>
            <a:fillRect/>
          </a:stretch>
        </p:blipFill>
        <p:spPr>
          <a:xfrm>
            <a:off x="2830807" y="1397000"/>
            <a:ext cx="6220110" cy="1955800"/>
          </a:xfrm>
          <a:prstGeom prst="roundRect">
            <a:avLst>
              <a:gd name="adj" fmla="val 6493"/>
            </a:avLst>
          </a:prstGeom>
          <a:noFill/>
          <a:ln w="12700" cap="flat" cmpd="sng">
            <a:solidFill>
              <a:srgbClr val="FFFFFF">
                <a:alpha val="20000"/>
              </a:srgbClr>
            </a:solidFill>
            <a:prstDash val="solid"/>
            <a:round/>
          </a:ln>
          <a:effectLst>
            <a:outerShdw blurRad="127000" dist="50800" dir="5400000" algn="tl" rotWithShape="0">
              <a:srgbClr val="000000">
                <a:alpha val="30000"/>
              </a:srgbClr>
            </a:outerShdw>
          </a:effectLst>
        </p:spPr>
      </p:pic>
      <p:sp>
        <p:nvSpPr>
          <p:cNvPr id="7" name="AutoShape 7"/>
          <p:cNvSpPr/>
          <p:nvPr/>
        </p:nvSpPr>
        <p:spPr>
          <a:xfrm>
            <a:off x="762000" y="3683000"/>
            <a:ext cx="3429000" cy="1905000"/>
          </a:xfrm>
          <a:prstGeom prst="roundRect">
            <a:avLst>
              <a:gd name="adj" fmla="val 6666"/>
            </a:avLst>
          </a:prstGeom>
          <a:solidFill>
            <a:srgbClr val="FFFFFF">
              <a:alpha val="8000"/>
            </a:srgbClr>
          </a:solidFill>
          <a:ln w="12700" cap="flat" cmpd="sng">
            <a:solidFill>
              <a:srgbClr val="00A9E0">
                <a:alpha val="30000"/>
              </a:srgbClr>
            </a:solidFill>
            <a:prstDash val="solid"/>
            <a:round/>
          </a:ln>
        </p:spPr>
        <p:txBody>
          <a:bodyPr vert="horz" wrap="square" lIns="63500" tIns="63500" rIns="63500" bIns="63500" rtlCol="0" anchor="ctr"/>
          <a:lstStyle/>
          <a:p>
            <a:pPr algn="ctr">
              <a:defRPr/>
            </a:pPr>
            <a:endParaRPr/>
          </a:p>
        </p:txBody>
      </p:sp>
      <p:pic>
        <p:nvPicPr>
          <p:cNvPr id="8" name="Picture 8"/>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3937000"/>
            <a:ext cx="406400" cy="406400"/>
          </a:xfrm>
          <a:prstGeom prst="rect">
            <a:avLst/>
          </a:prstGeom>
        </p:spPr>
      </p:pic>
      <p:sp>
        <p:nvSpPr>
          <p:cNvPr id="9" name="AutoShape 9"/>
          <p:cNvSpPr/>
          <p:nvPr/>
        </p:nvSpPr>
        <p:spPr>
          <a:xfrm>
            <a:off x="1524000" y="3911600"/>
            <a:ext cx="254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0A9E0"/>
                </a:solidFill>
                <a:latin typeface="Noto Sans SC"/>
                <a:ea typeface="Noto Sans SC"/>
                <a:cs typeface="Noto Sans SC"/>
                <a:sym typeface="Noto Sans SC"/>
              </a:rPr>
              <a:t>前端可视化层</a:t>
            </a:r>
            <a:endParaRPr lang="en-US" sz="1100"/>
          </a:p>
        </p:txBody>
      </p:sp>
      <p:sp>
        <p:nvSpPr>
          <p:cNvPr id="10" name="AutoShape 10"/>
          <p:cNvSpPr/>
          <p:nvPr/>
        </p:nvSpPr>
        <p:spPr>
          <a:xfrm>
            <a:off x="1016000" y="4445000"/>
            <a:ext cx="2921000" cy="1016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400" b="0" i="0" u="none" strike="noStrike" dirty="0" err="1">
                <a:solidFill>
                  <a:srgbClr val="DCDCDC"/>
                </a:solidFill>
                <a:latin typeface="Noto Sans SC"/>
                <a:ea typeface="Noto Sans SC"/>
                <a:cs typeface="Noto Sans SC"/>
                <a:sym typeface="Noto Sans SC"/>
              </a:rPr>
              <a:t>基于</a:t>
            </a:r>
            <a:r>
              <a:rPr lang="en-US" altLang="zh-CN" sz="1400" b="0" i="0" u="none" strike="noStrike" dirty="0" err="1">
                <a:solidFill>
                  <a:srgbClr val="DCDCDC"/>
                </a:solidFill>
                <a:latin typeface="Noto Sans SC"/>
                <a:ea typeface="Noto Sans SC"/>
                <a:cs typeface="Noto Sans SC"/>
                <a:sym typeface="Noto Sans SC"/>
              </a:rPr>
              <a:t>Python</a:t>
            </a:r>
            <a:r>
              <a:rPr lang="en-US" altLang="zh-CN" sz="1400" b="0" i="0" u="none" strike="noStrike" dirty="0">
                <a:solidFill>
                  <a:srgbClr val="DCDCDC"/>
                </a:solidFill>
                <a:latin typeface="Noto Sans SC"/>
                <a:ea typeface="Noto Sans SC"/>
                <a:cs typeface="Noto Sans SC"/>
                <a:sym typeface="Noto Sans SC"/>
              </a:rPr>
              <a:t>  </a:t>
            </a:r>
            <a:r>
              <a:rPr lang="en-US" altLang="zh-CN" dirty="0">
                <a:solidFill>
                  <a:srgbClr val="DCDCDC"/>
                </a:solidFill>
                <a:latin typeface="Noto Sans SC"/>
                <a:ea typeface="Noto Sans SC"/>
                <a:cs typeface="Noto Sans SC"/>
                <a:sym typeface="Noto Sans SC"/>
              </a:rPr>
              <a:t>Flask</a:t>
            </a:r>
            <a:r>
              <a:rPr lang="zh-CN" altLang="en-US" dirty="0">
                <a:solidFill>
                  <a:srgbClr val="DCDCDC"/>
                </a:solidFill>
                <a:latin typeface="Noto Sans SC"/>
                <a:ea typeface="Noto Sans SC"/>
                <a:cs typeface="Noto Sans SC"/>
                <a:sym typeface="Noto Sans SC"/>
              </a:rPr>
              <a:t>（轻量级</a:t>
            </a:r>
            <a:r>
              <a:rPr lang="en-US" altLang="zh-CN" dirty="0">
                <a:solidFill>
                  <a:srgbClr val="DCDCDC"/>
                </a:solidFill>
                <a:latin typeface="Noto Sans SC"/>
                <a:ea typeface="Noto Sans SC"/>
                <a:cs typeface="Noto Sans SC"/>
                <a:sym typeface="Noto Sans SC"/>
              </a:rPr>
              <a:t>Web</a:t>
            </a:r>
            <a:r>
              <a:rPr lang="zh-CN" altLang="en-US" dirty="0">
                <a:solidFill>
                  <a:srgbClr val="DCDCDC"/>
                </a:solidFill>
                <a:latin typeface="Noto Sans SC"/>
                <a:ea typeface="Noto Sans SC"/>
                <a:cs typeface="Noto Sans SC"/>
                <a:sym typeface="Noto Sans SC"/>
              </a:rPr>
              <a:t>框架）</a:t>
            </a:r>
            <a:r>
              <a:rPr lang="en-US" sz="1400" b="0" i="0" u="none" strike="noStrike" dirty="0">
                <a:solidFill>
                  <a:srgbClr val="DCDCDC"/>
                </a:solidFill>
                <a:latin typeface="Noto Sans SC"/>
                <a:ea typeface="Noto Sans SC"/>
                <a:cs typeface="Noto Sans SC"/>
                <a:sym typeface="Noto Sans SC"/>
              </a:rPr>
              <a:t>，</a:t>
            </a:r>
            <a:r>
              <a:rPr lang="en-US" sz="1400" b="0" i="0" u="none" strike="noStrike" dirty="0" err="1">
                <a:solidFill>
                  <a:srgbClr val="DCDCDC"/>
                </a:solidFill>
                <a:latin typeface="Noto Sans SC"/>
                <a:ea typeface="Noto Sans SC"/>
                <a:cs typeface="Noto Sans SC"/>
                <a:sym typeface="Noto Sans SC"/>
              </a:rPr>
              <a:t>提供直观的地图交互和数据展示界面</a:t>
            </a:r>
            <a:r>
              <a:rPr lang="en-US" sz="1400" b="0" i="0" u="none" strike="noStrike" dirty="0">
                <a:solidFill>
                  <a:srgbClr val="DCDCDC"/>
                </a:solidFill>
                <a:latin typeface="Noto Sans SC"/>
                <a:ea typeface="Noto Sans SC"/>
                <a:cs typeface="Noto Sans SC"/>
                <a:sym typeface="Noto Sans SC"/>
              </a:rPr>
              <a:t>。</a:t>
            </a:r>
            <a:endParaRPr lang="en-US" sz="1100" dirty="0"/>
          </a:p>
        </p:txBody>
      </p:sp>
      <p:sp>
        <p:nvSpPr>
          <p:cNvPr id="11" name="AutoShape 11"/>
          <p:cNvSpPr/>
          <p:nvPr/>
        </p:nvSpPr>
        <p:spPr>
          <a:xfrm>
            <a:off x="4381500" y="3683000"/>
            <a:ext cx="3429000" cy="1905000"/>
          </a:xfrm>
          <a:prstGeom prst="roundRect">
            <a:avLst>
              <a:gd name="adj" fmla="val 6666"/>
            </a:avLst>
          </a:prstGeom>
          <a:solidFill>
            <a:srgbClr val="FFFFFF">
              <a:alpha val="8000"/>
            </a:srgbClr>
          </a:solidFill>
          <a:ln w="12700" cap="flat" cmpd="sng">
            <a:solidFill>
              <a:srgbClr val="40E0D0">
                <a:alpha val="30000"/>
              </a:srgbClr>
            </a:solidFill>
            <a:prstDash val="solid"/>
            <a:round/>
          </a:ln>
        </p:spPr>
        <p:txBody>
          <a:bodyPr vert="horz" wrap="square" lIns="63500" tIns="63500" rIns="63500" bIns="63500" rtlCol="0" anchor="ctr"/>
          <a:lstStyle/>
          <a:p>
            <a:pPr algn="ctr">
              <a:defRPr/>
            </a:pPr>
            <a:endParaRPr/>
          </a:p>
        </p:txBody>
      </p:sp>
      <p:pic>
        <p:nvPicPr>
          <p:cNvPr id="12" name="Picture 1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635500" y="3937000"/>
            <a:ext cx="406400" cy="406400"/>
          </a:xfrm>
          <a:prstGeom prst="rect">
            <a:avLst/>
          </a:prstGeom>
        </p:spPr>
      </p:pic>
      <p:sp>
        <p:nvSpPr>
          <p:cNvPr id="13" name="AutoShape 13"/>
          <p:cNvSpPr/>
          <p:nvPr/>
        </p:nvSpPr>
        <p:spPr>
          <a:xfrm>
            <a:off x="5143500" y="3911600"/>
            <a:ext cx="254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40E0D0"/>
                </a:solidFill>
                <a:latin typeface="Noto Sans SC"/>
                <a:ea typeface="Noto Sans SC"/>
                <a:cs typeface="Noto Sans SC"/>
                <a:sym typeface="Noto Sans SC"/>
              </a:rPr>
              <a:t>后端服务层</a:t>
            </a:r>
            <a:endParaRPr lang="en-US" sz="1100"/>
          </a:p>
        </p:txBody>
      </p:sp>
      <p:sp>
        <p:nvSpPr>
          <p:cNvPr id="14" name="AutoShape 14"/>
          <p:cNvSpPr/>
          <p:nvPr/>
        </p:nvSpPr>
        <p:spPr>
          <a:xfrm>
            <a:off x="4635500" y="4445000"/>
            <a:ext cx="2921000" cy="1016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400" b="0" i="0" u="none" strike="noStrike" dirty="0" err="1">
                <a:solidFill>
                  <a:srgbClr val="DCDCDC"/>
                </a:solidFill>
                <a:latin typeface="Noto Sans SC"/>
                <a:ea typeface="Noto Sans SC"/>
                <a:cs typeface="Noto Sans SC"/>
                <a:sym typeface="Noto Sans SC"/>
              </a:rPr>
              <a:t>以Python</a:t>
            </a:r>
            <a:r>
              <a:rPr lang="en-US" sz="1400" b="0" i="0" u="none" strike="noStrike" dirty="0">
                <a:solidFill>
                  <a:srgbClr val="DCDCDC"/>
                </a:solidFill>
                <a:latin typeface="Noto Sans SC"/>
                <a:ea typeface="Noto Sans SC"/>
                <a:cs typeface="Noto Sans SC"/>
                <a:sym typeface="Noto Sans SC"/>
              </a:rPr>
              <a:t> </a:t>
            </a:r>
            <a:r>
              <a:rPr lang="en-US" sz="1400" b="0" i="0" u="none" strike="noStrike" dirty="0" err="1">
                <a:solidFill>
                  <a:srgbClr val="DCDCDC"/>
                </a:solidFill>
                <a:latin typeface="Noto Sans SC"/>
                <a:ea typeface="Noto Sans SC"/>
                <a:cs typeface="Noto Sans SC"/>
                <a:sym typeface="Noto Sans SC"/>
              </a:rPr>
              <a:t>为核心，负责数据清洗、融合、分析和量化评分，并提供API接口</a:t>
            </a:r>
            <a:r>
              <a:rPr lang="en-US" sz="1400" b="0" i="0" u="none" strike="noStrike" dirty="0">
                <a:solidFill>
                  <a:srgbClr val="DCDCDC"/>
                </a:solidFill>
                <a:latin typeface="Noto Sans SC"/>
                <a:ea typeface="Noto Sans SC"/>
                <a:cs typeface="Noto Sans SC"/>
                <a:sym typeface="Noto Sans SC"/>
              </a:rPr>
              <a:t>。</a:t>
            </a:r>
            <a:endParaRPr lang="en-US" sz="1100" dirty="0"/>
          </a:p>
        </p:txBody>
      </p:sp>
      <p:sp>
        <p:nvSpPr>
          <p:cNvPr id="15" name="AutoShape 15"/>
          <p:cNvSpPr/>
          <p:nvPr/>
        </p:nvSpPr>
        <p:spPr>
          <a:xfrm>
            <a:off x="8001000" y="3683000"/>
            <a:ext cx="3429000" cy="1905000"/>
          </a:xfrm>
          <a:prstGeom prst="roundRect">
            <a:avLst>
              <a:gd name="adj" fmla="val 6666"/>
            </a:avLst>
          </a:prstGeom>
          <a:solidFill>
            <a:srgbClr val="FFFFFF">
              <a:alpha val="8000"/>
            </a:srgbClr>
          </a:solidFill>
          <a:ln w="12700" cap="flat" cmpd="sng">
            <a:solidFill>
              <a:srgbClr val="FF8C00">
                <a:alpha val="30000"/>
              </a:srgbClr>
            </a:solidFill>
            <a:prstDash val="solid"/>
            <a:round/>
          </a:ln>
        </p:spPr>
        <p:txBody>
          <a:bodyPr vert="horz" wrap="square" lIns="63500" tIns="63500" rIns="63500" bIns="63500" rtlCol="0" anchor="ctr"/>
          <a:lstStyle/>
          <a:p>
            <a:pPr algn="ctr">
              <a:defRPr/>
            </a:pPr>
            <a:endParaRPr/>
          </a:p>
        </p:txBody>
      </p:sp>
      <p:pic>
        <p:nvPicPr>
          <p:cNvPr id="16" name="Picture 1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255000" y="3937000"/>
            <a:ext cx="406400" cy="406400"/>
          </a:xfrm>
          <a:prstGeom prst="rect">
            <a:avLst/>
          </a:prstGeom>
        </p:spPr>
      </p:pic>
      <p:sp>
        <p:nvSpPr>
          <p:cNvPr id="17" name="AutoShape 17"/>
          <p:cNvSpPr/>
          <p:nvPr/>
        </p:nvSpPr>
        <p:spPr>
          <a:xfrm>
            <a:off x="8763000" y="3911600"/>
            <a:ext cx="254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FF8C00"/>
                </a:solidFill>
                <a:latin typeface="Noto Sans SC"/>
                <a:ea typeface="Noto Sans SC"/>
                <a:cs typeface="Noto Sans SC"/>
                <a:sym typeface="Noto Sans SC"/>
              </a:rPr>
              <a:t>数据采集层</a:t>
            </a:r>
            <a:endParaRPr lang="en-US" sz="1100"/>
          </a:p>
        </p:txBody>
      </p:sp>
      <p:sp>
        <p:nvSpPr>
          <p:cNvPr id="18" name="AutoShape 18"/>
          <p:cNvSpPr/>
          <p:nvPr/>
        </p:nvSpPr>
        <p:spPr>
          <a:xfrm>
            <a:off x="8255000" y="4445000"/>
            <a:ext cx="2921000" cy="1016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400" b="0" i="0" u="none" strike="noStrike">
                <a:solidFill>
                  <a:srgbClr val="DCDCDC"/>
                </a:solidFill>
                <a:latin typeface="Noto Sans SC"/>
                <a:ea typeface="Noto Sans SC"/>
                <a:cs typeface="Noto Sans SC"/>
                <a:sym typeface="Noto Sans SC"/>
              </a:rPr>
              <a:t>封装高德地图各类开放API，实现多源实时大数据的高效、稳定采集。</a:t>
            </a:r>
            <a:endParaRPr lang="en-US" sz="11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41414">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l="1111" r="1111"/>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0A0F1E">
              <a:alpha val="85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762000" y="1016000"/>
            <a:ext cx="201168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FFFFFF"/>
                </a:solidFill>
                <a:latin typeface="Noto Sans SC"/>
                <a:ea typeface="Noto Sans SC"/>
                <a:cs typeface="Noto Sans SC"/>
                <a:sym typeface="Noto Sans SC"/>
              </a:rPr>
              <a:t>数据来源</a:t>
            </a:r>
            <a:endParaRPr lang="en-US" sz="1100"/>
          </a:p>
        </p:txBody>
      </p:sp>
      <p:sp>
        <p:nvSpPr>
          <p:cNvPr id="5" name="AutoShape 5"/>
          <p:cNvSpPr/>
          <p:nvPr/>
        </p:nvSpPr>
        <p:spPr>
          <a:xfrm>
            <a:off x="762000" y="1714500"/>
            <a:ext cx="762000" cy="50800"/>
          </a:xfrm>
          <a:prstGeom prst="roundRect">
            <a:avLst>
              <a:gd name="adj" fmla="val 0"/>
            </a:avLst>
          </a:prstGeom>
          <a:solidFill>
            <a:srgbClr val="00A9E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762000" y="1968500"/>
            <a:ext cx="5842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0" i="0" u="none" strike="noStrike">
                <a:solidFill>
                  <a:srgbClr val="FFFFFF">
                    <a:alpha val="90196"/>
                  </a:srgbClr>
                </a:solidFill>
                <a:latin typeface="Noto Sans SC"/>
                <a:ea typeface="Noto Sans SC"/>
                <a:cs typeface="Noto Sans SC"/>
                <a:sym typeface="Noto Sans SC"/>
              </a:rPr>
              <a:t>系统数据全部来源于高德地图开放API，确保实时性与准确性：</a:t>
            </a:r>
            <a:endParaRPr lang="en-US" sz="1100"/>
          </a:p>
        </p:txBody>
      </p:sp>
      <p:sp>
        <p:nvSpPr>
          <p:cNvPr id="7" name="AutoShape 7"/>
          <p:cNvSpPr/>
          <p:nvPr/>
        </p:nvSpPr>
        <p:spPr>
          <a:xfrm>
            <a:off x="762000" y="2603500"/>
            <a:ext cx="5842000" cy="762000"/>
          </a:xfrm>
          <a:prstGeom prst="roundRect">
            <a:avLst>
              <a:gd name="adj" fmla="val 16666"/>
            </a:avLst>
          </a:prstGeom>
          <a:solidFill>
            <a:srgbClr val="FFFFFF">
              <a:alpha val="5000"/>
            </a:srgbClr>
          </a:solidFill>
          <a:ln w="12700" cap="flat" cmpd="sng">
            <a:solidFill>
              <a:srgbClr val="00A9E0">
                <a:alpha val="30000"/>
              </a:srgbClr>
            </a:solidFill>
            <a:prstDash val="solid"/>
            <a:round/>
          </a:ln>
        </p:spPr>
        <p:txBody>
          <a:bodyPr vert="horz" wrap="square" lIns="63500" tIns="63500" rIns="63500" bIns="63500" rtlCol="0" anchor="ctr"/>
          <a:lstStyle/>
          <a:p>
            <a:pPr algn="ctr">
              <a:defRPr/>
            </a:pPr>
            <a:endParaRPr/>
          </a:p>
        </p:txBody>
      </p:sp>
      <p:pic>
        <p:nvPicPr>
          <p:cNvPr id="8" name="Picture 8"/>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52500" y="2806700"/>
            <a:ext cx="355600" cy="355600"/>
          </a:xfrm>
          <a:prstGeom prst="rect">
            <a:avLst/>
          </a:prstGeom>
        </p:spPr>
      </p:pic>
      <p:sp>
        <p:nvSpPr>
          <p:cNvPr id="9" name="AutoShape 9"/>
          <p:cNvSpPr/>
          <p:nvPr/>
        </p:nvSpPr>
        <p:spPr>
          <a:xfrm>
            <a:off x="1460500" y="2667000"/>
            <a:ext cx="431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Noto Sans SC"/>
                <a:ea typeface="Noto Sans SC"/>
                <a:cs typeface="Noto Sans SC"/>
                <a:sym typeface="Noto Sans SC"/>
              </a:rPr>
              <a:t>地理编码数据</a:t>
            </a:r>
            <a:r>
              <a:rPr lang="en-US" sz="1400" b="0" i="0" u="none" strike="noStrike">
                <a:solidFill>
                  <a:srgbClr val="FFFFFF">
                    <a:alpha val="70196"/>
                  </a:srgbClr>
                </a:solidFill>
                <a:latin typeface="Noto Sans SC"/>
                <a:ea typeface="Noto Sans SC"/>
                <a:cs typeface="Noto Sans SC"/>
                <a:sym typeface="Noto Sans SC"/>
              </a:rPr>
              <a:t>| 解析道路名称、类型、行政区划等空间信息</a:t>
            </a:r>
            <a:endParaRPr lang="en-US" sz="1100"/>
          </a:p>
        </p:txBody>
      </p:sp>
      <p:sp>
        <p:nvSpPr>
          <p:cNvPr id="10" name="AutoShape 10"/>
          <p:cNvSpPr/>
          <p:nvPr/>
        </p:nvSpPr>
        <p:spPr>
          <a:xfrm>
            <a:off x="762000" y="3492500"/>
            <a:ext cx="5842000" cy="762000"/>
          </a:xfrm>
          <a:prstGeom prst="roundRect">
            <a:avLst>
              <a:gd name="adj" fmla="val 16666"/>
            </a:avLst>
          </a:prstGeom>
          <a:solidFill>
            <a:srgbClr val="FFFFFF">
              <a:alpha val="5000"/>
            </a:srgbClr>
          </a:solidFill>
          <a:ln w="12700" cap="flat" cmpd="sng">
            <a:solidFill>
              <a:srgbClr val="00A9E0">
                <a:alpha val="30000"/>
              </a:srgbClr>
            </a:solidFill>
            <a:prstDash val="solid"/>
            <a:round/>
          </a:ln>
        </p:spPr>
        <p:txBody>
          <a:bodyPr vert="horz" wrap="square" lIns="63500" tIns="63500" rIns="63500" bIns="63500" rtlCol="0" anchor="ctr"/>
          <a:lstStyle/>
          <a:p>
            <a:pPr algn="ctr">
              <a:defRPr/>
            </a:pPr>
            <a:endParaRPr/>
          </a:p>
        </p:txBody>
      </p:sp>
      <p:pic>
        <p:nvPicPr>
          <p:cNvPr id="11" name="Picture 11"/>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52500" y="3695700"/>
            <a:ext cx="355600" cy="355600"/>
          </a:xfrm>
          <a:prstGeom prst="rect">
            <a:avLst/>
          </a:prstGeom>
        </p:spPr>
      </p:pic>
      <p:sp>
        <p:nvSpPr>
          <p:cNvPr id="12" name="AutoShape 12"/>
          <p:cNvSpPr/>
          <p:nvPr/>
        </p:nvSpPr>
        <p:spPr>
          <a:xfrm>
            <a:off x="1460500" y="3556000"/>
            <a:ext cx="431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dirty="0" err="1">
                <a:solidFill>
                  <a:srgbClr val="FFFFFF"/>
                </a:solidFill>
                <a:latin typeface="Noto Sans SC"/>
                <a:ea typeface="Noto Sans SC"/>
                <a:cs typeface="Noto Sans SC"/>
                <a:sym typeface="Noto Sans SC"/>
              </a:rPr>
              <a:t>交通流实时数据</a:t>
            </a:r>
            <a:r>
              <a:rPr lang="en-US" sz="1400" b="0" i="0" u="none" strike="noStrike" dirty="0">
                <a:solidFill>
                  <a:srgbClr val="FFFFFF">
                    <a:alpha val="70196"/>
                  </a:srgbClr>
                </a:solidFill>
                <a:latin typeface="Noto Sans SC"/>
                <a:ea typeface="Noto Sans SC"/>
                <a:cs typeface="Noto Sans SC"/>
                <a:sym typeface="Noto Sans SC"/>
              </a:rPr>
              <a:t>| </a:t>
            </a:r>
            <a:r>
              <a:rPr lang="en-US" sz="1400" b="0" i="0" u="none" strike="noStrike" dirty="0" err="1">
                <a:solidFill>
                  <a:srgbClr val="FFFFFF">
                    <a:alpha val="70196"/>
                  </a:srgbClr>
                </a:solidFill>
                <a:latin typeface="Noto Sans SC"/>
                <a:ea typeface="Noto Sans SC"/>
                <a:cs typeface="Noto Sans SC"/>
                <a:sym typeface="Noto Sans SC"/>
              </a:rPr>
              <a:t>获取道路拥堵状态、实时行驶速度</a:t>
            </a:r>
            <a:endParaRPr lang="en-US" sz="1100" dirty="0"/>
          </a:p>
        </p:txBody>
      </p:sp>
      <p:sp>
        <p:nvSpPr>
          <p:cNvPr id="13" name="AutoShape 13"/>
          <p:cNvSpPr/>
          <p:nvPr/>
        </p:nvSpPr>
        <p:spPr>
          <a:xfrm>
            <a:off x="762000" y="4381500"/>
            <a:ext cx="5842000" cy="762000"/>
          </a:xfrm>
          <a:prstGeom prst="roundRect">
            <a:avLst>
              <a:gd name="adj" fmla="val 16666"/>
            </a:avLst>
          </a:prstGeom>
          <a:solidFill>
            <a:srgbClr val="FFFFFF">
              <a:alpha val="5000"/>
            </a:srgbClr>
          </a:solidFill>
          <a:ln w="12700" cap="flat" cmpd="sng">
            <a:solidFill>
              <a:srgbClr val="00A9E0">
                <a:alpha val="30000"/>
              </a:srgbClr>
            </a:solidFill>
            <a:prstDash val="solid"/>
            <a:round/>
          </a:ln>
        </p:spPr>
        <p:txBody>
          <a:bodyPr vert="horz" wrap="square" lIns="63500" tIns="63500" rIns="63500" bIns="63500" rtlCol="0" anchor="ctr"/>
          <a:lstStyle/>
          <a:p>
            <a:pPr algn="ctr">
              <a:defRPr/>
            </a:pPr>
            <a:endParaRPr/>
          </a:p>
        </p:txBody>
      </p:sp>
      <p:pic>
        <p:nvPicPr>
          <p:cNvPr id="14" name="Picture 1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52500" y="4584700"/>
            <a:ext cx="355600" cy="355600"/>
          </a:xfrm>
          <a:prstGeom prst="rect">
            <a:avLst/>
          </a:prstGeom>
        </p:spPr>
      </p:pic>
      <p:sp>
        <p:nvSpPr>
          <p:cNvPr id="15" name="AutoShape 15"/>
          <p:cNvSpPr/>
          <p:nvPr/>
        </p:nvSpPr>
        <p:spPr>
          <a:xfrm>
            <a:off x="1460500" y="4445000"/>
            <a:ext cx="431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Noto Sans SC"/>
                <a:ea typeface="Noto Sans SC"/>
                <a:cs typeface="Noto Sans SC"/>
                <a:sym typeface="Noto Sans SC"/>
              </a:rPr>
              <a:t>环境气象数据</a:t>
            </a:r>
            <a:r>
              <a:rPr lang="en-US" sz="1400" b="0" i="0" u="none" strike="noStrike">
                <a:solidFill>
                  <a:srgbClr val="FFFFFF">
                    <a:alpha val="70196"/>
                  </a:srgbClr>
                </a:solidFill>
                <a:latin typeface="Noto Sans SC"/>
                <a:ea typeface="Noto Sans SC"/>
                <a:cs typeface="Noto Sans SC"/>
                <a:sym typeface="Noto Sans SC"/>
              </a:rPr>
              <a:t>| 获取实时天气、温度、能见度等气象信息</a:t>
            </a:r>
            <a:endParaRPr lang="en-US" sz="1100"/>
          </a:p>
        </p:txBody>
      </p:sp>
      <p:sp>
        <p:nvSpPr>
          <p:cNvPr id="16" name="AutoShape 16"/>
          <p:cNvSpPr/>
          <p:nvPr/>
        </p:nvSpPr>
        <p:spPr>
          <a:xfrm>
            <a:off x="762000" y="5270500"/>
            <a:ext cx="5842000" cy="762000"/>
          </a:xfrm>
          <a:prstGeom prst="roundRect">
            <a:avLst>
              <a:gd name="adj" fmla="val 16666"/>
            </a:avLst>
          </a:prstGeom>
          <a:solidFill>
            <a:srgbClr val="FFFFFF">
              <a:alpha val="5000"/>
            </a:srgbClr>
          </a:solidFill>
          <a:ln w="12700" cap="flat" cmpd="sng">
            <a:solidFill>
              <a:srgbClr val="00A9E0">
                <a:alpha val="30000"/>
              </a:srgbClr>
            </a:solidFill>
            <a:prstDash val="solid"/>
            <a:round/>
          </a:ln>
        </p:spPr>
        <p:txBody>
          <a:bodyPr vert="horz" wrap="square" lIns="63500" tIns="63500" rIns="63500" bIns="63500" rtlCol="0" anchor="ctr"/>
          <a:lstStyle/>
          <a:p>
            <a:pPr algn="ctr">
              <a:defRPr/>
            </a:pPr>
            <a:endParaRPr/>
          </a:p>
        </p:txBody>
      </p:sp>
      <p:pic>
        <p:nvPicPr>
          <p:cNvPr id="17" name="Picture 17"/>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52500" y="5473700"/>
            <a:ext cx="355600" cy="355600"/>
          </a:xfrm>
          <a:prstGeom prst="rect">
            <a:avLst/>
          </a:prstGeom>
        </p:spPr>
      </p:pic>
      <p:sp>
        <p:nvSpPr>
          <p:cNvPr id="18" name="AutoShape 18"/>
          <p:cNvSpPr/>
          <p:nvPr/>
        </p:nvSpPr>
        <p:spPr>
          <a:xfrm>
            <a:off x="1460500" y="5334000"/>
            <a:ext cx="431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Noto Sans SC"/>
                <a:ea typeface="Noto Sans SC"/>
                <a:cs typeface="Noto Sans SC"/>
                <a:sym typeface="Noto Sans SC"/>
              </a:rPr>
              <a:t>道路设施与事件</a:t>
            </a:r>
            <a:r>
              <a:rPr lang="en-US" sz="1400" b="0" i="0" u="none" strike="noStrike">
                <a:solidFill>
                  <a:srgbClr val="FFFFFF">
                    <a:alpha val="70196"/>
                  </a:srgbClr>
                </a:solidFill>
                <a:latin typeface="Noto Sans SC"/>
                <a:ea typeface="Noto Sans SC"/>
                <a:cs typeface="Noto Sans SC"/>
                <a:sym typeface="Noto Sans SC"/>
              </a:rPr>
              <a:t>| 获取红绿灯数量、事故、施工等信息</a:t>
            </a:r>
            <a:endParaRPr lang="en-US" sz="1100"/>
          </a:p>
        </p:txBody>
      </p:sp>
      <p:sp>
        <p:nvSpPr>
          <p:cNvPr id="19" name="AutoShape 19"/>
          <p:cNvSpPr/>
          <p:nvPr/>
        </p:nvSpPr>
        <p:spPr>
          <a:xfrm>
            <a:off x="7620000" y="2603500"/>
            <a:ext cx="3556000" cy="2540000"/>
          </a:xfrm>
          <a:prstGeom prst="roundRect">
            <a:avLst>
              <a:gd name="adj" fmla="val 10000"/>
            </a:avLst>
          </a:prstGeom>
          <a:solidFill>
            <a:srgbClr val="FFFFFF">
              <a:alpha val="100000"/>
            </a:srgbClr>
          </a:solidFill>
          <a:ln w="25400" cap="flat" cmpd="sng">
            <a:noFill/>
            <a:prstDash val="solid"/>
            <a:round/>
          </a:ln>
          <a:effectLst>
            <a:outerShdw blurRad="254000" dist="127000" dir="5400000" algn="tl" rotWithShape="0">
              <a:srgbClr val="00A9E0">
                <a:alpha val="40000"/>
              </a:srgbClr>
            </a:outerShdw>
          </a:effectLst>
        </p:spPr>
        <p:txBody>
          <a:bodyPr vert="horz" wrap="square" lIns="63500" tIns="63500" rIns="63500" bIns="63500" rtlCol="0" anchor="ctr"/>
          <a:lstStyle/>
          <a:p>
            <a:pPr algn="ctr">
              <a:defRPr/>
            </a:pPr>
            <a:endParaRPr/>
          </a:p>
        </p:txBody>
      </p:sp>
      <p:pic>
        <p:nvPicPr>
          <p:cNvPr id="20" name="Picture 20"/>
          <p:cNvPicPr>
            <a:picLocks noChangeAspect="1"/>
          </p:cNvPicPr>
          <p:nvPr/>
        </p:nvPicPr>
        <p:blipFill>
          <a:blip r:embed="rId8"/>
          <a:srcRect t="57" b="57"/>
          <a:stretch>
            <a:fillRect/>
          </a:stretch>
        </p:blipFill>
        <p:spPr>
          <a:xfrm>
            <a:off x="7874000" y="2768600"/>
            <a:ext cx="3048000" cy="2197100"/>
          </a:xfrm>
          <a:prstGeom prst="rect">
            <a:avLst/>
          </a:prstGeom>
          <a:noFill/>
          <a:ln w="25400" cap="flat" cmpd="sng">
            <a:noFill/>
            <a:prstDash val="solid"/>
            <a:round/>
          </a:ln>
        </p:spPr>
      </p:pic>
      <p:sp>
        <p:nvSpPr>
          <p:cNvPr id="21" name="AutoShape 21"/>
          <p:cNvSpPr/>
          <p:nvPr/>
        </p:nvSpPr>
        <p:spPr>
          <a:xfrm>
            <a:off x="7620000" y="5270500"/>
            <a:ext cx="3556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0" i="0" u="none" strike="noStrike">
                <a:solidFill>
                  <a:srgbClr val="FFFFFF">
                    <a:alpha val="60000"/>
                  </a:srgbClr>
                </a:solidFill>
                <a:latin typeface="Noto Sans SC"/>
                <a:ea typeface="Noto Sans SC"/>
                <a:cs typeface="Noto Sans SC"/>
                <a:sym typeface="Noto Sans SC"/>
              </a:rPr>
              <a:t>Powered by AMAP Open Platform</a:t>
            </a:r>
            <a:endParaRPr lang="en-US" sz="11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E1E1E">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l="1111" r="1111"/>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0F172A">
              <a:alpha val="70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0" y="0"/>
            <a:ext cx="12192000" cy="50800"/>
          </a:xfrm>
          <a:prstGeom prst="roundRect">
            <a:avLst>
              <a:gd name="adj" fmla="val 0"/>
            </a:avLst>
          </a:prstGeom>
          <a:gradFill rotWithShape="1">
            <a:gsLst>
              <a:gs pos="0">
                <a:srgbClr val="00A9E0">
                  <a:alpha val="100000"/>
                </a:srgbClr>
              </a:gs>
              <a:gs pos="100000">
                <a:srgbClr val="40E0D0">
                  <a:alpha val="100000"/>
                </a:srgbClr>
              </a:gs>
            </a:gsLst>
            <a:lin ang="0"/>
          </a:gradFill>
          <a:ln w="25400" cap="flat" cmpd="sng">
            <a:no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0" y="2032000"/>
            <a:ext cx="12192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1" i="0" u="none" strike="noStrike" spc="400">
                <a:solidFill>
                  <a:srgbClr val="40E0D0"/>
                </a:solidFill>
                <a:latin typeface="Noto Sans SC"/>
                <a:ea typeface="Noto Sans SC"/>
                <a:cs typeface="Noto Sans SC"/>
                <a:sym typeface="Noto Sans SC"/>
              </a:rPr>
              <a:t>CHAPTER 02</a:t>
            </a:r>
            <a:endParaRPr lang="en-US" sz="1100"/>
          </a:p>
        </p:txBody>
      </p:sp>
      <p:sp>
        <p:nvSpPr>
          <p:cNvPr id="6" name="AutoShape 6"/>
          <p:cNvSpPr/>
          <p:nvPr/>
        </p:nvSpPr>
        <p:spPr>
          <a:xfrm>
            <a:off x="3860800" y="2540000"/>
            <a:ext cx="4470400" cy="762000"/>
          </a:xfrm>
          <a:prstGeom prst="rect">
            <a:avLst/>
          </a:prstGeom>
          <a:noFill/>
          <a:ln w="12700" cap="flat" cmpd="sng">
            <a:noFill/>
            <a:prstDash val="solid"/>
            <a:round/>
          </a:ln>
        </p:spPr>
        <p:txBody>
          <a:bodyPr vert="horz" wrap="none" lIns="0" tIns="0" rIns="0" bIns="0" rtlCol="0" anchor="ctr" anchorCtr="0"/>
          <a:lstStyle/>
          <a:p>
            <a:pPr indent="0" algn="ctr">
              <a:lnSpc>
                <a:spcPct val="125000"/>
              </a:lnSpc>
              <a:defRPr/>
            </a:pPr>
            <a:r>
              <a:rPr lang="en-US" sz="4000" b="1" i="0" u="none" strike="noStrike">
                <a:solidFill>
                  <a:srgbClr val="FFFFFF"/>
                </a:solidFill>
                <a:latin typeface="Noto Sans SC"/>
                <a:ea typeface="Noto Sans SC"/>
                <a:cs typeface="Noto Sans SC"/>
                <a:sym typeface="Noto Sans SC"/>
              </a:rPr>
              <a:t>核心功能与技术</a:t>
            </a:r>
            <a:endParaRPr lang="en-US" sz="1100"/>
          </a:p>
        </p:txBody>
      </p:sp>
      <p:sp>
        <p:nvSpPr>
          <p:cNvPr id="7" name="AutoShape 7"/>
          <p:cNvSpPr/>
          <p:nvPr/>
        </p:nvSpPr>
        <p:spPr>
          <a:xfrm>
            <a:off x="5715000" y="3429000"/>
            <a:ext cx="762000" cy="50800"/>
          </a:xfrm>
          <a:prstGeom prst="roundRect">
            <a:avLst>
              <a:gd name="adj" fmla="val 0"/>
            </a:avLst>
          </a:prstGeom>
          <a:gradFill rotWithShape="1">
            <a:gsLst>
              <a:gs pos="0">
                <a:srgbClr val="00A9E0">
                  <a:alpha val="100000"/>
                </a:srgbClr>
              </a:gs>
              <a:gs pos="100000">
                <a:srgbClr val="FF8C00">
                  <a:alpha val="100000"/>
                </a:srgbClr>
              </a:gs>
            </a:gsLst>
            <a:lin ang="0"/>
          </a:gradFill>
          <a:ln w="25400" cap="flat" cmpd="sng">
            <a:noFill/>
            <a:prstDash val="solid"/>
            <a:round/>
          </a:ln>
        </p:spPr>
        <p:txBody>
          <a:bodyPr vert="horz" wrap="square" lIns="63500" tIns="63500" rIns="63500" bIns="63500" rtlCol="0" anchor="ctr"/>
          <a:lstStyle/>
          <a:p>
            <a:pPr algn="ctr">
              <a:defRPr/>
            </a:pPr>
            <a:endParaRPr/>
          </a:p>
        </p:txBody>
      </p:sp>
      <p:sp>
        <p:nvSpPr>
          <p:cNvPr id="8" name="AutoShape 8"/>
          <p:cNvSpPr/>
          <p:nvPr/>
        </p:nvSpPr>
        <p:spPr>
          <a:xfrm>
            <a:off x="0" y="3683000"/>
            <a:ext cx="12192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0" i="0" u="none" strike="noStrike" spc="200">
                <a:solidFill>
                  <a:srgbClr val="FFFFFF">
                    <a:alpha val="60000"/>
                  </a:srgbClr>
                </a:solidFill>
                <a:latin typeface="Arial"/>
                <a:ea typeface="Arial"/>
                <a:cs typeface="Arial"/>
                <a:sym typeface="Arial"/>
              </a:rPr>
              <a:t>CORE FUNCTIONS AND TECHNOLOGY</a:t>
            </a:r>
            <a:endParaRPr lang="en-US" sz="1100"/>
          </a:p>
        </p:txBody>
      </p:sp>
      <p:pic>
        <p:nvPicPr>
          <p:cNvPr id="9" name="Picture 9"/>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699000" y="4826000"/>
            <a:ext cx="406400" cy="406400"/>
          </a:xfrm>
          <a:prstGeom prst="rect">
            <a:avLst/>
          </a:prstGeom>
        </p:spPr>
      </p:pic>
      <p:sp>
        <p:nvSpPr>
          <p:cNvPr id="10" name="AutoShape 10"/>
          <p:cNvSpPr/>
          <p:nvPr/>
        </p:nvSpPr>
        <p:spPr>
          <a:xfrm>
            <a:off x="4394200" y="5334000"/>
            <a:ext cx="1016000" cy="3048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200" b="0" i="0" u="none" strike="noStrike">
                <a:solidFill>
                  <a:srgbClr val="FFFFFF">
                    <a:alpha val="80000"/>
                  </a:srgbClr>
                </a:solidFill>
                <a:latin typeface="Noto Sans SC"/>
                <a:ea typeface="Noto Sans SC"/>
                <a:cs typeface="Noto Sans SC"/>
                <a:sym typeface="Noto Sans SC"/>
              </a:rPr>
              <a:t>数据可视化</a:t>
            </a:r>
            <a:endParaRPr lang="en-US" sz="1100"/>
          </a:p>
        </p:txBody>
      </p:sp>
      <p:pic>
        <p:nvPicPr>
          <p:cNvPr id="11" name="Picture 11"/>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892800" y="4826000"/>
            <a:ext cx="406400" cy="406400"/>
          </a:xfrm>
          <a:prstGeom prst="rect">
            <a:avLst/>
          </a:prstGeom>
        </p:spPr>
      </p:pic>
      <p:sp>
        <p:nvSpPr>
          <p:cNvPr id="12" name="AutoShape 12"/>
          <p:cNvSpPr/>
          <p:nvPr/>
        </p:nvSpPr>
        <p:spPr>
          <a:xfrm>
            <a:off x="5588000" y="5334000"/>
            <a:ext cx="1016000" cy="3048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200" b="0" i="0" u="none" strike="noStrike">
                <a:solidFill>
                  <a:srgbClr val="FFFFFF">
                    <a:alpha val="80000"/>
                  </a:srgbClr>
                </a:solidFill>
                <a:latin typeface="Noto Sans SC"/>
                <a:ea typeface="Noto Sans SC"/>
                <a:cs typeface="Noto Sans SC"/>
                <a:sym typeface="Noto Sans SC"/>
              </a:rPr>
              <a:t>系统集成</a:t>
            </a:r>
            <a:endParaRPr lang="en-US" sz="1100"/>
          </a:p>
        </p:txBody>
      </p:sp>
      <p:pic>
        <p:nvPicPr>
          <p:cNvPr id="13" name="Picture 1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086600" y="4826000"/>
            <a:ext cx="406400" cy="406400"/>
          </a:xfrm>
          <a:prstGeom prst="rect">
            <a:avLst/>
          </a:prstGeom>
        </p:spPr>
      </p:pic>
      <p:sp>
        <p:nvSpPr>
          <p:cNvPr id="14" name="AutoShape 14"/>
          <p:cNvSpPr/>
          <p:nvPr/>
        </p:nvSpPr>
        <p:spPr>
          <a:xfrm>
            <a:off x="6781800" y="5334000"/>
            <a:ext cx="1016000" cy="3048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200" b="0" i="0" u="none" strike="noStrike">
                <a:solidFill>
                  <a:srgbClr val="FFFFFF">
                    <a:alpha val="80000"/>
                  </a:srgbClr>
                </a:solidFill>
                <a:latin typeface="Noto Sans SC"/>
                <a:ea typeface="Noto Sans SC"/>
                <a:cs typeface="Noto Sans SC"/>
                <a:sym typeface="Noto Sans SC"/>
              </a:rPr>
              <a:t>安全防护</a:t>
            </a:r>
            <a:endParaRPr lang="en-US" sz="1100"/>
          </a:p>
        </p:txBody>
      </p:sp>
      <p:sp>
        <p:nvSpPr>
          <p:cNvPr id="15" name="AutoShape 15"/>
          <p:cNvSpPr/>
          <p:nvPr/>
        </p:nvSpPr>
        <p:spPr>
          <a:xfrm>
            <a:off x="0" y="6756400"/>
            <a:ext cx="12192000" cy="101600"/>
          </a:xfrm>
          <a:prstGeom prst="roundRect">
            <a:avLst>
              <a:gd name="adj" fmla="val 0"/>
            </a:avLst>
          </a:prstGeom>
          <a:solidFill>
            <a:srgbClr val="1E1E1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6" name="AutoShape 16"/>
          <p:cNvSpPr/>
          <p:nvPr/>
        </p:nvSpPr>
        <p:spPr>
          <a:xfrm>
            <a:off x="4826000" y="6756400"/>
            <a:ext cx="2540000" cy="101600"/>
          </a:xfrm>
          <a:prstGeom prst="roundRect">
            <a:avLst>
              <a:gd name="adj" fmla="val 0"/>
            </a:avLst>
          </a:prstGeom>
          <a:solidFill>
            <a:srgbClr val="00A9E0">
              <a:alpha val="100000"/>
            </a:srgbClr>
          </a:solidFill>
          <a:ln w="25400" cap="flat" cmpd="sng">
            <a:noFill/>
            <a:prstDash val="solid"/>
            <a:round/>
          </a:ln>
        </p:spPr>
        <p:txBody>
          <a:bodyPr vert="horz" wrap="square" lIns="63500" tIns="63500" rIns="63500" bIns="63500" rtlCol="0" anchor="ctr"/>
          <a:lstStyle/>
          <a:p>
            <a:pPr algn="ctr">
              <a:defRPr/>
            </a:pP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E1E1E">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l="1111" r="1111"/>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0A0F1E">
              <a:alpha val="85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762000" y="635000"/>
            <a:ext cx="30226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FFFFFF"/>
                </a:solidFill>
                <a:latin typeface="Noto Sans SC"/>
                <a:ea typeface="Noto Sans SC"/>
                <a:cs typeface="Noto Sans SC"/>
                <a:sym typeface="Noto Sans SC"/>
              </a:rPr>
              <a:t>核心功能模块</a:t>
            </a:r>
            <a:endParaRPr lang="en-US" sz="1100"/>
          </a:p>
        </p:txBody>
      </p:sp>
      <p:sp>
        <p:nvSpPr>
          <p:cNvPr id="5" name="AutoShape 5"/>
          <p:cNvSpPr/>
          <p:nvPr/>
        </p:nvSpPr>
        <p:spPr>
          <a:xfrm>
            <a:off x="762000" y="1333500"/>
            <a:ext cx="762000" cy="50800"/>
          </a:xfrm>
          <a:prstGeom prst="roundRect">
            <a:avLst>
              <a:gd name="adj" fmla="val 0"/>
            </a:avLst>
          </a:prstGeom>
          <a:solidFill>
            <a:srgbClr val="00A9E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762000" y="1778000"/>
            <a:ext cx="5080000" cy="1778000"/>
          </a:xfrm>
          <a:prstGeom prst="roundRect">
            <a:avLst>
              <a:gd name="adj" fmla="val 7142"/>
            </a:avLst>
          </a:prstGeom>
          <a:solidFill>
            <a:srgbClr val="FFFFFF">
              <a:alpha val="5000"/>
            </a:srgbClr>
          </a:solidFill>
          <a:ln w="12700" cap="flat" cmpd="sng">
            <a:solidFill>
              <a:srgbClr val="00A9E0">
                <a:alpha val="30000"/>
              </a:srgbClr>
            </a:solidFill>
            <a:prstDash val="solid"/>
            <a:round/>
          </a:ln>
        </p:spPr>
        <p:txBody>
          <a:bodyPr vert="horz" wrap="square" lIns="63500" tIns="63500" rIns="63500" bIns="63500" rtlCol="0" anchor="ctr"/>
          <a:lstStyle/>
          <a:p>
            <a:pPr algn="ctr">
              <a:defRPr/>
            </a:pPr>
            <a:endParaRPr/>
          </a:p>
        </p:txBody>
      </p:sp>
      <p:pic>
        <p:nvPicPr>
          <p:cNvPr id="7" name="Picture 7"/>
          <p:cNvPicPr>
            <a:picLocks noChangeAspect="1"/>
          </p:cNvPicPr>
          <p:nvPr/>
        </p:nvPicPr>
        <p:blipFill>
          <a:blip r:embed="rId4"/>
          <a:srcRect/>
          <a:stretch>
            <a:fillRect/>
          </a:stretch>
        </p:blipFill>
        <p:spPr>
          <a:xfrm>
            <a:off x="1016000" y="2286000"/>
            <a:ext cx="762000" cy="762000"/>
          </a:xfrm>
          <a:prstGeom prst="rect">
            <a:avLst/>
          </a:prstGeom>
          <a:noFill/>
          <a:ln w="25400" cap="flat" cmpd="sng">
            <a:noFill/>
            <a:prstDash val="solid"/>
            <a:round/>
          </a:ln>
        </p:spPr>
      </p:pic>
      <p:sp>
        <p:nvSpPr>
          <p:cNvPr id="8" name="AutoShape 8"/>
          <p:cNvSpPr/>
          <p:nvPr/>
        </p:nvSpPr>
        <p:spPr>
          <a:xfrm>
            <a:off x="1968500" y="2032000"/>
            <a:ext cx="3683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0A9E0"/>
                </a:solidFill>
                <a:latin typeface="Noto Sans SC"/>
                <a:ea typeface="Noto Sans SC"/>
                <a:cs typeface="Noto Sans SC"/>
                <a:sym typeface="Noto Sans SC"/>
              </a:rPr>
              <a:t>数据采集与容错模块</a:t>
            </a:r>
            <a:endParaRPr lang="en-US" sz="1100"/>
          </a:p>
        </p:txBody>
      </p:sp>
      <p:sp>
        <p:nvSpPr>
          <p:cNvPr id="9" name="AutoShape 9"/>
          <p:cNvSpPr/>
          <p:nvPr/>
        </p:nvSpPr>
        <p:spPr>
          <a:xfrm>
            <a:off x="1968500" y="2476500"/>
            <a:ext cx="3683000" cy="762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400" b="0" i="0" u="none" strike="noStrike">
                <a:solidFill>
                  <a:srgbClr val="FFFFFF">
                    <a:alpha val="80000"/>
                  </a:srgbClr>
                </a:solidFill>
                <a:latin typeface="Noto Sans SC"/>
                <a:ea typeface="Noto Sans SC"/>
                <a:cs typeface="Noto Sans SC"/>
                <a:sym typeface="Noto Sans SC"/>
              </a:rPr>
              <a:t>多Key轮询、智能缓存、异常捕获，保障数据稳定获取。</a:t>
            </a:r>
            <a:endParaRPr lang="en-US" sz="1100"/>
          </a:p>
        </p:txBody>
      </p:sp>
      <p:sp>
        <p:nvSpPr>
          <p:cNvPr id="10" name="AutoShape 10"/>
          <p:cNvSpPr/>
          <p:nvPr/>
        </p:nvSpPr>
        <p:spPr>
          <a:xfrm>
            <a:off x="6350000" y="1778000"/>
            <a:ext cx="5080000" cy="1778000"/>
          </a:xfrm>
          <a:prstGeom prst="roundRect">
            <a:avLst>
              <a:gd name="adj" fmla="val 7142"/>
            </a:avLst>
          </a:prstGeom>
          <a:solidFill>
            <a:srgbClr val="FFFFFF">
              <a:alpha val="5000"/>
            </a:srgbClr>
          </a:solidFill>
          <a:ln w="12700" cap="flat" cmpd="sng">
            <a:solidFill>
              <a:srgbClr val="40E0D0">
                <a:alpha val="30000"/>
              </a:srgbClr>
            </a:solidFill>
            <a:prstDash val="solid"/>
            <a:round/>
          </a:ln>
        </p:spPr>
        <p:txBody>
          <a:bodyPr vert="horz" wrap="square" lIns="63500" tIns="63500" rIns="63500" bIns="63500" rtlCol="0" anchor="ctr"/>
          <a:lstStyle/>
          <a:p>
            <a:pPr algn="ctr">
              <a:defRPr/>
            </a:pPr>
            <a:endParaRPr/>
          </a:p>
        </p:txBody>
      </p:sp>
      <p:pic>
        <p:nvPicPr>
          <p:cNvPr id="11" name="Picture 11"/>
          <p:cNvPicPr>
            <a:picLocks noChangeAspect="1"/>
          </p:cNvPicPr>
          <p:nvPr/>
        </p:nvPicPr>
        <p:blipFill>
          <a:blip r:embed="rId5"/>
          <a:srcRect/>
          <a:stretch>
            <a:fillRect/>
          </a:stretch>
        </p:blipFill>
        <p:spPr>
          <a:xfrm>
            <a:off x="6604000" y="2286000"/>
            <a:ext cx="762000" cy="762000"/>
          </a:xfrm>
          <a:prstGeom prst="rect">
            <a:avLst/>
          </a:prstGeom>
          <a:noFill/>
          <a:ln w="25400" cap="flat" cmpd="sng">
            <a:noFill/>
            <a:prstDash val="solid"/>
            <a:round/>
          </a:ln>
        </p:spPr>
      </p:pic>
      <p:sp>
        <p:nvSpPr>
          <p:cNvPr id="12" name="AutoShape 12"/>
          <p:cNvSpPr/>
          <p:nvPr/>
        </p:nvSpPr>
        <p:spPr>
          <a:xfrm>
            <a:off x="7556500" y="2032000"/>
            <a:ext cx="3683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40E0D0"/>
                </a:solidFill>
                <a:latin typeface="Noto Sans SC"/>
                <a:ea typeface="Noto Sans SC"/>
                <a:cs typeface="Noto Sans SC"/>
                <a:sym typeface="Noto Sans SC"/>
              </a:rPr>
              <a:t>多维度大数据分析与量化评分</a:t>
            </a:r>
            <a:endParaRPr lang="en-US" sz="1100"/>
          </a:p>
        </p:txBody>
      </p:sp>
      <p:sp>
        <p:nvSpPr>
          <p:cNvPr id="13" name="AutoShape 13"/>
          <p:cNvSpPr/>
          <p:nvPr/>
        </p:nvSpPr>
        <p:spPr>
          <a:xfrm>
            <a:off x="7556500" y="2476500"/>
            <a:ext cx="3683000" cy="762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400" b="0" i="0" u="none" strike="noStrike">
                <a:solidFill>
                  <a:srgbClr val="FFFFFF">
                    <a:alpha val="80000"/>
                  </a:srgbClr>
                </a:solidFill>
                <a:latin typeface="Noto Sans SC"/>
                <a:ea typeface="Noto Sans SC"/>
                <a:cs typeface="Noto Sans SC"/>
                <a:sym typeface="Noto Sans SC"/>
              </a:rPr>
              <a:t>构建四大维度加权评分体系，实现客观评估。</a:t>
            </a:r>
            <a:endParaRPr lang="en-US" sz="1100"/>
          </a:p>
        </p:txBody>
      </p:sp>
      <p:sp>
        <p:nvSpPr>
          <p:cNvPr id="14" name="AutoShape 14"/>
          <p:cNvSpPr/>
          <p:nvPr/>
        </p:nvSpPr>
        <p:spPr>
          <a:xfrm>
            <a:off x="762000" y="3810000"/>
            <a:ext cx="5080000" cy="1778000"/>
          </a:xfrm>
          <a:prstGeom prst="roundRect">
            <a:avLst>
              <a:gd name="adj" fmla="val 7142"/>
            </a:avLst>
          </a:prstGeom>
          <a:solidFill>
            <a:srgbClr val="FFFFFF">
              <a:alpha val="5000"/>
            </a:srgbClr>
          </a:solidFill>
          <a:ln w="12700" cap="flat" cmpd="sng">
            <a:solidFill>
              <a:srgbClr val="FF8C00">
                <a:alpha val="30000"/>
              </a:srgbClr>
            </a:solidFill>
            <a:prstDash val="solid"/>
            <a:round/>
          </a:ln>
        </p:spPr>
        <p:txBody>
          <a:bodyPr vert="horz" wrap="square" lIns="63500" tIns="63500" rIns="63500" bIns="63500" rtlCol="0" anchor="ctr"/>
          <a:lstStyle/>
          <a:p>
            <a:pPr algn="ctr">
              <a:defRPr/>
            </a:pPr>
            <a:endParaRPr/>
          </a:p>
        </p:txBody>
      </p:sp>
      <p:pic>
        <p:nvPicPr>
          <p:cNvPr id="15" name="Picture 15"/>
          <p:cNvPicPr>
            <a:picLocks noChangeAspect="1"/>
          </p:cNvPicPr>
          <p:nvPr/>
        </p:nvPicPr>
        <p:blipFill>
          <a:blip r:embed="rId6"/>
          <a:srcRect l="1108" r="1108"/>
          <a:stretch>
            <a:fillRect/>
          </a:stretch>
        </p:blipFill>
        <p:spPr>
          <a:xfrm>
            <a:off x="1016000" y="4318000"/>
            <a:ext cx="762000" cy="762000"/>
          </a:xfrm>
          <a:prstGeom prst="rect">
            <a:avLst/>
          </a:prstGeom>
          <a:noFill/>
          <a:ln w="25400" cap="flat" cmpd="sng">
            <a:noFill/>
            <a:prstDash val="solid"/>
            <a:round/>
          </a:ln>
        </p:spPr>
      </p:pic>
      <p:sp>
        <p:nvSpPr>
          <p:cNvPr id="16" name="AutoShape 16"/>
          <p:cNvSpPr/>
          <p:nvPr/>
        </p:nvSpPr>
        <p:spPr>
          <a:xfrm>
            <a:off x="1968500" y="4064000"/>
            <a:ext cx="3683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FF8C00"/>
                </a:solidFill>
                <a:latin typeface="Noto Sans SC"/>
                <a:ea typeface="Noto Sans SC"/>
                <a:cs typeface="Noto Sans SC"/>
                <a:sym typeface="Noto Sans SC"/>
              </a:rPr>
              <a:t>实时交互与可视化模块</a:t>
            </a:r>
            <a:endParaRPr lang="en-US" sz="1100"/>
          </a:p>
        </p:txBody>
      </p:sp>
      <p:sp>
        <p:nvSpPr>
          <p:cNvPr id="17" name="AutoShape 17"/>
          <p:cNvSpPr/>
          <p:nvPr/>
        </p:nvSpPr>
        <p:spPr>
          <a:xfrm>
            <a:off x="1968500" y="4508500"/>
            <a:ext cx="3683000" cy="762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400" b="0" i="0" u="none" strike="noStrike">
                <a:solidFill>
                  <a:srgbClr val="FFFFFF">
                    <a:alpha val="80000"/>
                  </a:srgbClr>
                </a:solidFill>
                <a:latin typeface="Noto Sans SC"/>
                <a:ea typeface="Noto Sans SC"/>
                <a:cs typeface="Noto Sans SC"/>
                <a:sym typeface="Noto Sans SC"/>
              </a:rPr>
              <a:t>提供地图交互、实时仪表盘、评分详情展示。</a:t>
            </a:r>
            <a:endParaRPr lang="en-US" sz="1100"/>
          </a:p>
        </p:txBody>
      </p:sp>
      <p:sp>
        <p:nvSpPr>
          <p:cNvPr id="18" name="AutoShape 18"/>
          <p:cNvSpPr/>
          <p:nvPr/>
        </p:nvSpPr>
        <p:spPr>
          <a:xfrm>
            <a:off x="6350000" y="3810000"/>
            <a:ext cx="5080000" cy="1778000"/>
          </a:xfrm>
          <a:prstGeom prst="roundRect">
            <a:avLst>
              <a:gd name="adj" fmla="val 7142"/>
            </a:avLst>
          </a:prstGeom>
          <a:solidFill>
            <a:srgbClr val="FFFFFF">
              <a:alpha val="5000"/>
            </a:srgbClr>
          </a:solidFill>
          <a:ln w="12700" cap="flat" cmpd="sng">
            <a:solidFill>
              <a:srgbClr val="00A9E0">
                <a:alpha val="30000"/>
              </a:srgbClr>
            </a:solidFill>
            <a:prstDash val="solid"/>
            <a:round/>
          </a:ln>
        </p:spPr>
        <p:txBody>
          <a:bodyPr vert="horz" wrap="square" lIns="63500" tIns="63500" rIns="63500" bIns="63500" rtlCol="0" anchor="ctr"/>
          <a:lstStyle/>
          <a:p>
            <a:pPr algn="ctr">
              <a:defRPr/>
            </a:pPr>
            <a:endParaRPr/>
          </a:p>
        </p:txBody>
      </p:sp>
      <p:pic>
        <p:nvPicPr>
          <p:cNvPr id="19" name="Picture 19"/>
          <p:cNvPicPr>
            <a:picLocks noChangeAspect="1"/>
          </p:cNvPicPr>
          <p:nvPr/>
        </p:nvPicPr>
        <p:blipFill>
          <a:blip r:embed="rId7"/>
          <a:srcRect/>
          <a:stretch>
            <a:fillRect/>
          </a:stretch>
        </p:blipFill>
        <p:spPr>
          <a:xfrm>
            <a:off x="6604000" y="4318000"/>
            <a:ext cx="762000" cy="762000"/>
          </a:xfrm>
          <a:prstGeom prst="rect">
            <a:avLst/>
          </a:prstGeom>
          <a:noFill/>
          <a:ln w="25400" cap="flat" cmpd="sng">
            <a:noFill/>
            <a:prstDash val="solid"/>
            <a:round/>
          </a:ln>
        </p:spPr>
      </p:pic>
      <p:sp>
        <p:nvSpPr>
          <p:cNvPr id="20" name="AutoShape 20"/>
          <p:cNvSpPr/>
          <p:nvPr/>
        </p:nvSpPr>
        <p:spPr>
          <a:xfrm>
            <a:off x="7556500" y="4064000"/>
            <a:ext cx="3683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0A9E0"/>
                </a:solidFill>
                <a:latin typeface="Noto Sans SC"/>
                <a:ea typeface="Noto Sans SC"/>
                <a:cs typeface="Noto Sans SC"/>
                <a:sym typeface="Noto Sans SC"/>
              </a:rPr>
              <a:t>后端API服务模块</a:t>
            </a:r>
            <a:endParaRPr lang="en-US" sz="1100"/>
          </a:p>
        </p:txBody>
      </p:sp>
      <p:sp>
        <p:nvSpPr>
          <p:cNvPr id="21" name="AutoShape 21"/>
          <p:cNvSpPr/>
          <p:nvPr/>
        </p:nvSpPr>
        <p:spPr>
          <a:xfrm>
            <a:off x="7556500" y="4508500"/>
            <a:ext cx="3683000" cy="762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400" b="0" i="0" u="none" strike="noStrike">
                <a:solidFill>
                  <a:srgbClr val="FFFFFF">
                    <a:alpha val="80000"/>
                  </a:srgbClr>
                </a:solidFill>
                <a:latin typeface="Noto Sans SC"/>
                <a:ea typeface="Noto Sans SC"/>
                <a:cs typeface="Noto Sans SC"/>
                <a:sym typeface="Noto Sans SC"/>
              </a:rPr>
              <a:t>提供标准化RESTful API，支撑前后端交互。</a:t>
            </a:r>
            <a:endParaRPr lang="en-US" sz="11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1E1E1E">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l="1111" r="1111"/>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762000" y="1016000"/>
            <a:ext cx="25146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dirty="0" err="1">
                <a:solidFill>
                  <a:srgbClr val="FFFFFF"/>
                </a:solidFill>
                <a:latin typeface="Noto Sans SC"/>
                <a:ea typeface="Noto Sans SC"/>
                <a:cs typeface="Noto Sans SC"/>
                <a:sym typeface="Noto Sans SC"/>
              </a:rPr>
              <a:t>核心技术栈</a:t>
            </a:r>
            <a:endParaRPr lang="en-US" sz="1100" dirty="0"/>
          </a:p>
        </p:txBody>
      </p:sp>
      <p:sp>
        <p:nvSpPr>
          <p:cNvPr id="4" name="AutoShape 4"/>
          <p:cNvSpPr/>
          <p:nvPr/>
        </p:nvSpPr>
        <p:spPr>
          <a:xfrm>
            <a:off x="762000" y="1905000"/>
            <a:ext cx="3302000" cy="1270000"/>
          </a:xfrm>
          <a:prstGeom prst="roundRect">
            <a:avLst>
              <a:gd name="adj" fmla="val 10000"/>
            </a:avLst>
          </a:prstGeom>
          <a:solidFill>
            <a:srgbClr val="000000">
              <a:alpha val="60000"/>
            </a:srgbClr>
          </a:solidFill>
          <a:ln w="12700" cap="flat" cmpd="sng">
            <a:solidFill>
              <a:srgbClr val="00A9E0">
                <a:alpha val="100000"/>
              </a:srgbClr>
            </a:solid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952500" y="2032000"/>
            <a:ext cx="2921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A9E0"/>
                </a:solidFill>
                <a:latin typeface="Noto Sans SC"/>
                <a:ea typeface="Noto Sans SC"/>
                <a:cs typeface="Noto Sans SC"/>
                <a:sym typeface="Noto Sans SC"/>
              </a:rPr>
              <a:t>后端开发</a:t>
            </a:r>
            <a:endParaRPr lang="en-US" sz="1100"/>
          </a:p>
        </p:txBody>
      </p:sp>
      <p:pic>
        <p:nvPicPr>
          <p:cNvPr id="6" name="Picture 6"/>
          <p:cNvPicPr>
            <a:picLocks noChangeAspect="1"/>
          </p:cNvPicPr>
          <p:nvPr/>
        </p:nvPicPr>
        <p:blipFill>
          <a:blip r:embed="rId4"/>
          <a:srcRect/>
          <a:stretch>
            <a:fillRect/>
          </a:stretch>
        </p:blipFill>
        <p:spPr>
          <a:xfrm>
            <a:off x="952500" y="2476500"/>
            <a:ext cx="508000" cy="508000"/>
          </a:xfrm>
          <a:prstGeom prst="rect">
            <a:avLst/>
          </a:prstGeom>
          <a:noFill/>
          <a:ln w="25400" cap="flat" cmpd="sng">
            <a:noFill/>
            <a:prstDash val="solid"/>
            <a:round/>
          </a:ln>
        </p:spPr>
      </p:pic>
      <p:pic>
        <p:nvPicPr>
          <p:cNvPr id="7" name="Picture 7"/>
          <p:cNvPicPr>
            <a:picLocks noChangeAspect="1"/>
          </p:cNvPicPr>
          <p:nvPr/>
        </p:nvPicPr>
        <p:blipFill>
          <a:blip r:embed="rId5"/>
          <a:srcRect l="585" r="585"/>
          <a:stretch>
            <a:fillRect/>
          </a:stretch>
        </p:blipFill>
        <p:spPr>
          <a:xfrm>
            <a:off x="1587500" y="2476500"/>
            <a:ext cx="469900" cy="508000"/>
          </a:xfrm>
          <a:prstGeom prst="rect">
            <a:avLst/>
          </a:prstGeom>
          <a:noFill/>
          <a:ln w="25400" cap="flat" cmpd="sng">
            <a:noFill/>
            <a:prstDash val="solid"/>
            <a:round/>
          </a:ln>
        </p:spPr>
      </p:pic>
      <p:sp>
        <p:nvSpPr>
          <p:cNvPr id="8" name="AutoShape 8"/>
          <p:cNvSpPr/>
          <p:nvPr/>
        </p:nvSpPr>
        <p:spPr>
          <a:xfrm>
            <a:off x="2159000" y="2476500"/>
            <a:ext cx="1651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dirty="0">
                <a:solidFill>
                  <a:srgbClr val="FFFFFF"/>
                </a:solidFill>
                <a:latin typeface="Noto Sans SC"/>
                <a:ea typeface="Noto Sans SC"/>
                <a:cs typeface="Noto Sans SC"/>
                <a:sym typeface="Noto Sans SC"/>
              </a:rPr>
              <a:t>Python, Flask</a:t>
            </a:r>
            <a:endParaRPr lang="en-US" sz="1100" dirty="0"/>
          </a:p>
        </p:txBody>
      </p:sp>
      <p:sp>
        <p:nvSpPr>
          <p:cNvPr id="9" name="AutoShape 9"/>
          <p:cNvSpPr/>
          <p:nvPr/>
        </p:nvSpPr>
        <p:spPr>
          <a:xfrm>
            <a:off x="4318000" y="1905000"/>
            <a:ext cx="3302000" cy="1270000"/>
          </a:xfrm>
          <a:prstGeom prst="roundRect">
            <a:avLst>
              <a:gd name="adj" fmla="val 10000"/>
            </a:avLst>
          </a:prstGeom>
          <a:solidFill>
            <a:srgbClr val="000000">
              <a:alpha val="60000"/>
            </a:srgbClr>
          </a:solidFill>
          <a:ln w="12700" cap="flat" cmpd="sng">
            <a:solidFill>
              <a:srgbClr val="40E0D0">
                <a:alpha val="100000"/>
              </a:srgbClr>
            </a:solidFill>
            <a:prstDash val="solid"/>
            <a:round/>
          </a:ln>
        </p:spPr>
        <p:txBody>
          <a:bodyPr vert="horz" wrap="square" lIns="63500" tIns="63500" rIns="63500" bIns="63500" rtlCol="0" anchor="ctr"/>
          <a:lstStyle/>
          <a:p>
            <a:pPr algn="ctr">
              <a:defRPr/>
            </a:pPr>
            <a:endParaRPr dirty="0"/>
          </a:p>
        </p:txBody>
      </p:sp>
      <p:sp>
        <p:nvSpPr>
          <p:cNvPr id="10" name="AutoShape 10"/>
          <p:cNvSpPr/>
          <p:nvPr/>
        </p:nvSpPr>
        <p:spPr>
          <a:xfrm>
            <a:off x="4508500" y="2032000"/>
            <a:ext cx="2921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40E0D0"/>
                </a:solidFill>
                <a:latin typeface="Noto Sans SC"/>
                <a:ea typeface="Noto Sans SC"/>
                <a:cs typeface="Noto Sans SC"/>
                <a:sym typeface="Noto Sans SC"/>
              </a:rPr>
              <a:t>大数据采集</a:t>
            </a:r>
            <a:endParaRPr lang="en-US" sz="1100"/>
          </a:p>
        </p:txBody>
      </p:sp>
      <p:pic>
        <p:nvPicPr>
          <p:cNvPr id="11" name="Picture 11"/>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508500" y="2476500"/>
            <a:ext cx="508000" cy="508000"/>
          </a:xfrm>
          <a:prstGeom prst="rect">
            <a:avLst/>
          </a:prstGeom>
        </p:spPr>
      </p:pic>
      <p:sp>
        <p:nvSpPr>
          <p:cNvPr id="12" name="AutoShape 12"/>
          <p:cNvSpPr/>
          <p:nvPr/>
        </p:nvSpPr>
        <p:spPr>
          <a:xfrm>
            <a:off x="5143500" y="2413000"/>
            <a:ext cx="2286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FFFFFF"/>
                </a:solidFill>
                <a:latin typeface="Noto Sans SC"/>
                <a:ea typeface="Noto Sans SC"/>
                <a:cs typeface="Noto Sans SC"/>
                <a:sym typeface="Noto Sans SC"/>
              </a:rPr>
              <a:t>requests, 高德地图开放API</a:t>
            </a:r>
            <a:endParaRPr lang="en-US" sz="1100"/>
          </a:p>
        </p:txBody>
      </p:sp>
      <p:sp>
        <p:nvSpPr>
          <p:cNvPr id="13" name="AutoShape 13"/>
          <p:cNvSpPr/>
          <p:nvPr/>
        </p:nvSpPr>
        <p:spPr>
          <a:xfrm>
            <a:off x="7874000" y="1905000"/>
            <a:ext cx="3302000" cy="1270000"/>
          </a:xfrm>
          <a:prstGeom prst="roundRect">
            <a:avLst>
              <a:gd name="adj" fmla="val 10000"/>
            </a:avLst>
          </a:prstGeom>
          <a:solidFill>
            <a:srgbClr val="000000">
              <a:alpha val="60000"/>
            </a:srgbClr>
          </a:solidFill>
          <a:ln w="12700" cap="flat" cmpd="sng">
            <a:solidFill>
              <a:srgbClr val="FF8C00">
                <a:alpha val="100000"/>
              </a:srgbClr>
            </a:solidFill>
            <a:prstDash val="solid"/>
            <a:round/>
          </a:ln>
        </p:spPr>
        <p:txBody>
          <a:bodyPr vert="horz" wrap="square" lIns="63500" tIns="63500" rIns="63500" bIns="63500" rtlCol="0" anchor="ctr"/>
          <a:lstStyle/>
          <a:p>
            <a:pPr algn="ctr">
              <a:defRPr/>
            </a:pPr>
            <a:endParaRPr/>
          </a:p>
        </p:txBody>
      </p:sp>
      <p:sp>
        <p:nvSpPr>
          <p:cNvPr id="14" name="AutoShape 14"/>
          <p:cNvSpPr/>
          <p:nvPr/>
        </p:nvSpPr>
        <p:spPr>
          <a:xfrm>
            <a:off x="8064500" y="2032000"/>
            <a:ext cx="2921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dirty="0" err="1">
                <a:solidFill>
                  <a:srgbClr val="FF8C00"/>
                </a:solidFill>
                <a:latin typeface="Noto Sans SC"/>
                <a:ea typeface="Noto Sans SC"/>
                <a:cs typeface="Noto Sans SC"/>
                <a:sym typeface="Noto Sans SC"/>
              </a:rPr>
              <a:t>数据处理</a:t>
            </a:r>
            <a:endParaRPr lang="en-US" sz="1100" dirty="0"/>
          </a:p>
        </p:txBody>
      </p:sp>
      <p:pic>
        <p:nvPicPr>
          <p:cNvPr id="15" name="Picture 1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064500" y="2476500"/>
            <a:ext cx="508000" cy="508000"/>
          </a:xfrm>
          <a:prstGeom prst="rect">
            <a:avLst/>
          </a:prstGeom>
        </p:spPr>
      </p:pic>
      <p:sp>
        <p:nvSpPr>
          <p:cNvPr id="16" name="AutoShape 16"/>
          <p:cNvSpPr/>
          <p:nvPr/>
        </p:nvSpPr>
        <p:spPr>
          <a:xfrm>
            <a:off x="8699500" y="2413000"/>
            <a:ext cx="2286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altLang="zh-CN" dirty="0">
                <a:solidFill>
                  <a:srgbClr val="FFFFFF"/>
                </a:solidFill>
                <a:latin typeface="Noto Sans SC"/>
                <a:ea typeface="Noto Sans SC"/>
                <a:cs typeface="Noto Sans SC"/>
                <a:sym typeface="Noto Sans SC"/>
              </a:rPr>
              <a:t>python</a:t>
            </a:r>
            <a:r>
              <a:rPr lang="en-US" sz="1400" b="0" i="0" u="none" strike="noStrike" dirty="0">
                <a:solidFill>
                  <a:srgbClr val="FFFFFF"/>
                </a:solidFill>
                <a:latin typeface="Noto Sans SC"/>
                <a:ea typeface="Noto Sans SC"/>
                <a:cs typeface="Noto Sans SC"/>
                <a:sym typeface="Noto Sans SC"/>
              </a:rPr>
              <a:t> </a:t>
            </a:r>
            <a:r>
              <a:rPr lang="en-US" sz="1400" b="0" i="0" u="none" strike="noStrike" dirty="0" err="1">
                <a:solidFill>
                  <a:srgbClr val="FFFFFF"/>
                </a:solidFill>
                <a:latin typeface="Noto Sans SC"/>
                <a:ea typeface="Noto Sans SC"/>
                <a:cs typeface="Noto Sans SC"/>
                <a:sym typeface="Noto Sans SC"/>
              </a:rPr>
              <a:t>数学计算库</a:t>
            </a:r>
            <a:endParaRPr lang="en-US" sz="1100" dirty="0"/>
          </a:p>
        </p:txBody>
      </p:sp>
      <p:sp>
        <p:nvSpPr>
          <p:cNvPr id="17" name="AutoShape 17"/>
          <p:cNvSpPr/>
          <p:nvPr/>
        </p:nvSpPr>
        <p:spPr>
          <a:xfrm>
            <a:off x="762000" y="3429000"/>
            <a:ext cx="3302000" cy="1524000"/>
          </a:xfrm>
          <a:prstGeom prst="roundRect">
            <a:avLst>
              <a:gd name="adj" fmla="val 8333"/>
            </a:avLst>
          </a:prstGeom>
          <a:solidFill>
            <a:srgbClr val="000000">
              <a:alpha val="60000"/>
            </a:srgbClr>
          </a:solidFill>
          <a:ln w="12700" cap="flat" cmpd="sng">
            <a:solidFill>
              <a:srgbClr val="00A9E0">
                <a:alpha val="100000"/>
              </a:srgbClr>
            </a:solidFill>
            <a:prstDash val="solid"/>
            <a:round/>
          </a:ln>
        </p:spPr>
        <p:txBody>
          <a:bodyPr vert="horz" wrap="square" lIns="63500" tIns="63500" rIns="63500" bIns="63500" rtlCol="0" anchor="ctr"/>
          <a:lstStyle/>
          <a:p>
            <a:pPr algn="ctr">
              <a:defRPr/>
            </a:pPr>
            <a:endParaRPr/>
          </a:p>
        </p:txBody>
      </p:sp>
      <p:sp>
        <p:nvSpPr>
          <p:cNvPr id="18" name="AutoShape 18"/>
          <p:cNvSpPr/>
          <p:nvPr/>
        </p:nvSpPr>
        <p:spPr>
          <a:xfrm>
            <a:off x="952500" y="3556000"/>
            <a:ext cx="2921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A9E0"/>
                </a:solidFill>
                <a:latin typeface="Noto Sans SC"/>
                <a:ea typeface="Noto Sans SC"/>
                <a:cs typeface="Noto Sans SC"/>
                <a:sym typeface="Noto Sans SC"/>
              </a:rPr>
              <a:t>前端开发</a:t>
            </a:r>
            <a:endParaRPr lang="en-US" sz="1100"/>
          </a:p>
        </p:txBody>
      </p:sp>
      <p:pic>
        <p:nvPicPr>
          <p:cNvPr id="19" name="Picture 19"/>
          <p:cNvPicPr>
            <a:picLocks noChangeAspect="1"/>
          </p:cNvPicPr>
          <p:nvPr/>
        </p:nvPicPr>
        <p:blipFill>
          <a:blip r:embed="rId8"/>
          <a:srcRect/>
          <a:stretch>
            <a:fillRect/>
          </a:stretch>
        </p:blipFill>
        <p:spPr>
          <a:xfrm>
            <a:off x="952500" y="4000500"/>
            <a:ext cx="508000" cy="508000"/>
          </a:xfrm>
          <a:prstGeom prst="rect">
            <a:avLst/>
          </a:prstGeom>
          <a:noFill/>
          <a:ln w="25400" cap="flat" cmpd="sng">
            <a:noFill/>
            <a:prstDash val="solid"/>
            <a:round/>
          </a:ln>
        </p:spPr>
      </p:pic>
      <p:pic>
        <p:nvPicPr>
          <p:cNvPr id="20" name="Picture 20"/>
          <p:cNvPicPr>
            <a:picLocks noChangeAspect="1"/>
          </p:cNvPicPr>
          <p:nvPr/>
        </p:nvPicPr>
        <p:blipFill>
          <a:blip r:embed="rId9"/>
          <a:srcRect/>
          <a:stretch>
            <a:fillRect/>
          </a:stretch>
        </p:blipFill>
        <p:spPr>
          <a:xfrm>
            <a:off x="1587500" y="4000500"/>
            <a:ext cx="508000" cy="508000"/>
          </a:xfrm>
          <a:prstGeom prst="rect">
            <a:avLst/>
          </a:prstGeom>
          <a:noFill/>
          <a:ln w="25400" cap="flat" cmpd="sng">
            <a:noFill/>
            <a:prstDash val="solid"/>
            <a:round/>
          </a:ln>
        </p:spPr>
      </p:pic>
      <p:pic>
        <p:nvPicPr>
          <p:cNvPr id="21" name="Picture 21"/>
          <p:cNvPicPr>
            <a:picLocks noChangeAspect="1"/>
          </p:cNvPicPr>
          <p:nvPr/>
        </p:nvPicPr>
        <p:blipFill>
          <a:blip r:embed="rId10"/>
          <a:srcRect l="261" r="261"/>
          <a:stretch>
            <a:fillRect/>
          </a:stretch>
        </p:blipFill>
        <p:spPr>
          <a:xfrm>
            <a:off x="2222500" y="4000500"/>
            <a:ext cx="444500" cy="508000"/>
          </a:xfrm>
          <a:prstGeom prst="rect">
            <a:avLst/>
          </a:prstGeom>
          <a:noFill/>
          <a:ln w="25400" cap="flat" cmpd="sng">
            <a:noFill/>
            <a:prstDash val="solid"/>
            <a:round/>
          </a:ln>
        </p:spPr>
      </p:pic>
      <p:sp>
        <p:nvSpPr>
          <p:cNvPr id="22" name="AutoShape 22"/>
          <p:cNvSpPr/>
          <p:nvPr/>
        </p:nvSpPr>
        <p:spPr>
          <a:xfrm>
            <a:off x="952500" y="4572000"/>
            <a:ext cx="2921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FFFFFF"/>
                </a:solidFill>
                <a:latin typeface="Noto Sans SC"/>
                <a:ea typeface="Noto Sans SC"/>
                <a:cs typeface="Noto Sans SC"/>
                <a:sym typeface="Noto Sans SC"/>
              </a:rPr>
              <a:t>HTML5, CSS3, JavaScript</a:t>
            </a:r>
            <a:endParaRPr lang="en-US" sz="1100"/>
          </a:p>
        </p:txBody>
      </p:sp>
      <p:sp>
        <p:nvSpPr>
          <p:cNvPr id="23" name="AutoShape 23"/>
          <p:cNvSpPr/>
          <p:nvPr/>
        </p:nvSpPr>
        <p:spPr>
          <a:xfrm>
            <a:off x="4318000" y="3429000"/>
            <a:ext cx="3302000" cy="1524000"/>
          </a:xfrm>
          <a:prstGeom prst="roundRect">
            <a:avLst>
              <a:gd name="adj" fmla="val 8333"/>
            </a:avLst>
          </a:prstGeom>
          <a:solidFill>
            <a:srgbClr val="000000">
              <a:alpha val="60000"/>
            </a:srgbClr>
          </a:solidFill>
          <a:ln w="12700" cap="flat" cmpd="sng">
            <a:solidFill>
              <a:srgbClr val="40E0D0">
                <a:alpha val="100000"/>
              </a:srgbClr>
            </a:solidFill>
            <a:prstDash val="solid"/>
            <a:round/>
          </a:ln>
        </p:spPr>
        <p:txBody>
          <a:bodyPr vert="horz" wrap="square" lIns="63500" tIns="63500" rIns="63500" bIns="63500" rtlCol="0" anchor="ctr"/>
          <a:lstStyle/>
          <a:p>
            <a:pPr algn="ctr">
              <a:defRPr/>
            </a:pPr>
            <a:endParaRPr/>
          </a:p>
        </p:txBody>
      </p:sp>
      <p:sp>
        <p:nvSpPr>
          <p:cNvPr id="24" name="AutoShape 24"/>
          <p:cNvSpPr/>
          <p:nvPr/>
        </p:nvSpPr>
        <p:spPr>
          <a:xfrm>
            <a:off x="4508500" y="3556000"/>
            <a:ext cx="2921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40E0D0"/>
                </a:solidFill>
                <a:latin typeface="Noto Sans SC"/>
                <a:ea typeface="Noto Sans SC"/>
                <a:cs typeface="Noto Sans SC"/>
                <a:sym typeface="Noto Sans SC"/>
              </a:rPr>
              <a:t>可视化与地图</a:t>
            </a:r>
            <a:endParaRPr lang="en-US" sz="1100"/>
          </a:p>
        </p:txBody>
      </p:sp>
      <p:pic>
        <p:nvPicPr>
          <p:cNvPr id="25" name="Picture 2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4508500" y="4000500"/>
            <a:ext cx="508000" cy="508000"/>
          </a:xfrm>
          <a:prstGeom prst="rect">
            <a:avLst/>
          </a:prstGeom>
        </p:spPr>
      </p:pic>
      <p:sp>
        <p:nvSpPr>
          <p:cNvPr id="26" name="AutoShape 26"/>
          <p:cNvSpPr/>
          <p:nvPr/>
        </p:nvSpPr>
        <p:spPr>
          <a:xfrm>
            <a:off x="5143500" y="4000500"/>
            <a:ext cx="2286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FFFFFF"/>
                </a:solidFill>
                <a:latin typeface="Noto Sans SC"/>
                <a:ea typeface="Noto Sans SC"/>
                <a:cs typeface="Noto Sans SC"/>
                <a:sym typeface="Noto Sans SC"/>
              </a:rPr>
              <a:t>高德地图JS API</a:t>
            </a:r>
            <a:endParaRPr lang="en-US" sz="1100"/>
          </a:p>
        </p:txBody>
      </p:sp>
      <p:cxnSp>
        <p:nvCxnSpPr>
          <p:cNvPr id="27" name="Connector 27"/>
          <p:cNvCxnSpPr/>
          <p:nvPr/>
        </p:nvCxnSpPr>
        <p:spPr>
          <a:xfrm rot="-4192">
            <a:off x="762004" y="5327650"/>
            <a:ext cx="10414000" cy="12700"/>
          </a:xfrm>
          <a:prstGeom prst="line">
            <a:avLst/>
          </a:prstGeom>
          <a:solidFill>
            <a:srgbClr val="DEE0E3">
              <a:alpha val="100000"/>
            </a:srgbClr>
          </a:solidFill>
          <a:ln w="12700" cap="flat" cmpd="sng">
            <a:solidFill>
              <a:srgbClr val="FFFFFF">
                <a:alpha val="20000"/>
              </a:srgbClr>
            </a:solidFill>
            <a:prstDash val="dash"/>
            <a:round/>
            <a:headEnd type="none" w="med" len="med"/>
            <a:tailEnd type="none" w="med" len="med"/>
          </a:ln>
        </p:spPr>
      </p:cxnSp>
      <p:sp>
        <p:nvSpPr>
          <p:cNvPr id="28" name="AutoShape 28"/>
          <p:cNvSpPr/>
          <p:nvPr/>
        </p:nvSpPr>
        <p:spPr>
          <a:xfrm>
            <a:off x="762000" y="5461000"/>
            <a:ext cx="1041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FFFFFF">
                    <a:alpha val="60000"/>
                  </a:srgbClr>
                </a:solidFill>
                <a:latin typeface="Noto Sans SC"/>
                <a:ea typeface="Noto Sans SC"/>
                <a:cs typeface="Noto Sans SC"/>
                <a:sym typeface="Noto Sans SC"/>
              </a:rPr>
              <a:t>技术栈优势：采用业界成熟框架，确保系统稳定性与开发效率，结合高德地图生态实现高精度地理数据应用。</a:t>
            </a:r>
            <a:endParaRPr lang="en-US" sz="11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1E1E1E">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0F172A">
              <a:alpha val="75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762000" y="1016000"/>
            <a:ext cx="30480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FFFFFF"/>
                </a:solidFill>
                <a:latin typeface="Noto Sans SC"/>
                <a:ea typeface="Noto Sans SC"/>
                <a:cs typeface="Noto Sans SC"/>
                <a:sym typeface="Noto Sans SC"/>
              </a:rPr>
              <a:t>系统核心优势</a:t>
            </a:r>
            <a:endParaRPr lang="en-US" sz="1100"/>
          </a:p>
        </p:txBody>
      </p:sp>
      <p:sp>
        <p:nvSpPr>
          <p:cNvPr id="5" name="AutoShape 5"/>
          <p:cNvSpPr/>
          <p:nvPr/>
        </p:nvSpPr>
        <p:spPr>
          <a:xfrm>
            <a:off x="762000" y="1778000"/>
            <a:ext cx="5080000" cy="1079500"/>
          </a:xfrm>
          <a:prstGeom prst="roundRect">
            <a:avLst>
              <a:gd name="adj" fmla="val 11764"/>
            </a:avLst>
          </a:prstGeom>
          <a:solidFill>
            <a:srgbClr val="FFFFFF">
              <a:alpha val="8000"/>
            </a:srgbClr>
          </a:solidFill>
          <a:ln w="12700" cap="flat" cmpd="sng">
            <a:solidFill>
              <a:srgbClr val="00A9E0">
                <a:alpha val="30000"/>
              </a:srgbClr>
            </a:solidFill>
            <a:prstDash val="solid"/>
            <a:round/>
          </a:ln>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2057400"/>
            <a:ext cx="508000" cy="508000"/>
          </a:xfrm>
          <a:prstGeom prst="rect">
            <a:avLst/>
          </a:prstGeom>
        </p:spPr>
      </p:pic>
      <p:sp>
        <p:nvSpPr>
          <p:cNvPr id="7" name="AutoShape 7"/>
          <p:cNvSpPr/>
          <p:nvPr/>
        </p:nvSpPr>
        <p:spPr>
          <a:xfrm>
            <a:off x="1651000" y="1905000"/>
            <a:ext cx="3937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Noto Sans SC"/>
                <a:ea typeface="Noto Sans SC"/>
                <a:cs typeface="Noto Sans SC"/>
                <a:sym typeface="Noto Sans SC"/>
              </a:rPr>
              <a:t>高实时性</a:t>
            </a:r>
            <a:endParaRPr lang="en-US" sz="1100"/>
          </a:p>
        </p:txBody>
      </p:sp>
      <p:sp>
        <p:nvSpPr>
          <p:cNvPr id="8" name="AutoShape 8"/>
          <p:cNvSpPr/>
          <p:nvPr/>
        </p:nvSpPr>
        <p:spPr>
          <a:xfrm>
            <a:off x="1651000" y="2260600"/>
            <a:ext cx="3937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0" i="0" u="none" strike="noStrike">
                <a:solidFill>
                  <a:srgbClr val="FFFFFF">
                    <a:alpha val="80000"/>
                  </a:srgbClr>
                </a:solidFill>
                <a:latin typeface="Noto Sans SC"/>
                <a:ea typeface="Noto Sans SC"/>
                <a:cs typeface="Noto Sans SC"/>
                <a:sym typeface="Noto Sans SC"/>
              </a:rPr>
              <a:t>数据刷新间隔≤30秒，精准反映当前路况。</a:t>
            </a:r>
            <a:endParaRPr lang="en-US" sz="1100"/>
          </a:p>
        </p:txBody>
      </p:sp>
      <p:sp>
        <p:nvSpPr>
          <p:cNvPr id="9" name="AutoShape 9"/>
          <p:cNvSpPr/>
          <p:nvPr/>
        </p:nvSpPr>
        <p:spPr>
          <a:xfrm>
            <a:off x="762000" y="2984500"/>
            <a:ext cx="5080000" cy="1079500"/>
          </a:xfrm>
          <a:prstGeom prst="roundRect">
            <a:avLst>
              <a:gd name="adj" fmla="val 11764"/>
            </a:avLst>
          </a:prstGeom>
          <a:solidFill>
            <a:srgbClr val="FFFFFF">
              <a:alpha val="8000"/>
            </a:srgbClr>
          </a:solidFill>
          <a:ln w="12700" cap="flat" cmpd="sng">
            <a:solidFill>
              <a:srgbClr val="00A9E0">
                <a:alpha val="30000"/>
              </a:srgbClr>
            </a:solidFill>
            <a:prstDash val="solid"/>
            <a:round/>
          </a:ln>
        </p:spPr>
        <p:txBody>
          <a:bodyPr vert="horz" wrap="square" lIns="63500" tIns="63500" rIns="63500" bIns="63500" rtlCol="0" anchor="ctr"/>
          <a:lstStyle/>
          <a:p>
            <a:pPr algn="ctr">
              <a:defRPr/>
            </a:pPr>
            <a:endParaRPr/>
          </a:p>
        </p:txBody>
      </p:sp>
      <p:pic>
        <p:nvPicPr>
          <p:cNvPr id="10" name="Picture 10"/>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3263900"/>
            <a:ext cx="508000" cy="508000"/>
          </a:xfrm>
          <a:prstGeom prst="rect">
            <a:avLst/>
          </a:prstGeom>
        </p:spPr>
      </p:pic>
      <p:sp>
        <p:nvSpPr>
          <p:cNvPr id="11" name="AutoShape 11"/>
          <p:cNvSpPr/>
          <p:nvPr/>
        </p:nvSpPr>
        <p:spPr>
          <a:xfrm>
            <a:off x="1651000" y="3111500"/>
            <a:ext cx="3937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Noto Sans SC"/>
                <a:ea typeface="Noto Sans SC"/>
                <a:cs typeface="Noto Sans SC"/>
                <a:sym typeface="Noto Sans SC"/>
              </a:rPr>
              <a:t>高稳定性</a:t>
            </a:r>
            <a:endParaRPr lang="en-US" sz="1100"/>
          </a:p>
        </p:txBody>
      </p:sp>
      <p:sp>
        <p:nvSpPr>
          <p:cNvPr id="12" name="AutoShape 12"/>
          <p:cNvSpPr/>
          <p:nvPr/>
        </p:nvSpPr>
        <p:spPr>
          <a:xfrm>
            <a:off x="1651000" y="3467100"/>
            <a:ext cx="3937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0" i="0" u="none" strike="noStrike">
                <a:solidFill>
                  <a:srgbClr val="FFFFFF">
                    <a:alpha val="80000"/>
                  </a:srgbClr>
                </a:solidFill>
                <a:latin typeface="Noto Sans SC"/>
                <a:ea typeface="Noto Sans SC"/>
                <a:cs typeface="Noto Sans SC"/>
                <a:sym typeface="Noto Sans SC"/>
              </a:rPr>
              <a:t>多Key轮询、智能缓存、异常捕获三重保障。</a:t>
            </a:r>
            <a:endParaRPr lang="en-US" sz="1100"/>
          </a:p>
        </p:txBody>
      </p:sp>
      <p:sp>
        <p:nvSpPr>
          <p:cNvPr id="13" name="AutoShape 13"/>
          <p:cNvSpPr/>
          <p:nvPr/>
        </p:nvSpPr>
        <p:spPr>
          <a:xfrm>
            <a:off x="762000" y="4191000"/>
            <a:ext cx="5080000" cy="1079500"/>
          </a:xfrm>
          <a:prstGeom prst="roundRect">
            <a:avLst>
              <a:gd name="adj" fmla="val 11764"/>
            </a:avLst>
          </a:prstGeom>
          <a:solidFill>
            <a:srgbClr val="FFFFFF">
              <a:alpha val="8000"/>
            </a:srgbClr>
          </a:solidFill>
          <a:ln w="12700" cap="flat" cmpd="sng">
            <a:solidFill>
              <a:srgbClr val="00A9E0">
                <a:alpha val="30000"/>
              </a:srgbClr>
            </a:solidFill>
            <a:prstDash val="solid"/>
            <a:round/>
          </a:ln>
        </p:spPr>
        <p:txBody>
          <a:bodyPr vert="horz" wrap="square" lIns="63500" tIns="63500" rIns="63500" bIns="63500" rtlCol="0" anchor="ctr"/>
          <a:lstStyle/>
          <a:p>
            <a:pPr algn="ctr">
              <a:defRPr/>
            </a:pPr>
            <a:endParaRPr/>
          </a:p>
        </p:txBody>
      </p:sp>
      <p:pic>
        <p:nvPicPr>
          <p:cNvPr id="14" name="Picture 1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16000" y="4470400"/>
            <a:ext cx="508000" cy="508000"/>
          </a:xfrm>
          <a:prstGeom prst="rect">
            <a:avLst/>
          </a:prstGeom>
        </p:spPr>
      </p:pic>
      <p:sp>
        <p:nvSpPr>
          <p:cNvPr id="15" name="AutoShape 15"/>
          <p:cNvSpPr/>
          <p:nvPr/>
        </p:nvSpPr>
        <p:spPr>
          <a:xfrm>
            <a:off x="1651000" y="4318000"/>
            <a:ext cx="3937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Noto Sans SC"/>
                <a:ea typeface="Noto Sans SC"/>
                <a:cs typeface="Noto Sans SC"/>
                <a:sym typeface="Noto Sans SC"/>
              </a:rPr>
              <a:t>量化精准性</a:t>
            </a:r>
            <a:endParaRPr lang="en-US" sz="1100"/>
          </a:p>
        </p:txBody>
      </p:sp>
      <p:sp>
        <p:nvSpPr>
          <p:cNvPr id="16" name="AutoShape 16"/>
          <p:cNvSpPr/>
          <p:nvPr/>
        </p:nvSpPr>
        <p:spPr>
          <a:xfrm>
            <a:off x="1651000" y="4673600"/>
            <a:ext cx="3937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0" i="0" u="none" strike="noStrike">
                <a:solidFill>
                  <a:srgbClr val="FFFFFF">
                    <a:alpha val="80000"/>
                  </a:srgbClr>
                </a:solidFill>
                <a:latin typeface="Noto Sans SC"/>
                <a:ea typeface="Noto Sans SC"/>
                <a:cs typeface="Noto Sans SC"/>
                <a:sym typeface="Noto Sans SC"/>
              </a:rPr>
              <a:t>基于实时大数据的客观量化评分，结果可解释。</a:t>
            </a:r>
            <a:endParaRPr lang="en-US" sz="1100"/>
          </a:p>
        </p:txBody>
      </p:sp>
      <p:sp>
        <p:nvSpPr>
          <p:cNvPr id="17" name="AutoShape 17"/>
          <p:cNvSpPr/>
          <p:nvPr/>
        </p:nvSpPr>
        <p:spPr>
          <a:xfrm>
            <a:off x="6350000" y="1778000"/>
            <a:ext cx="5080000" cy="1079500"/>
          </a:xfrm>
          <a:prstGeom prst="roundRect">
            <a:avLst>
              <a:gd name="adj" fmla="val 11764"/>
            </a:avLst>
          </a:prstGeom>
          <a:solidFill>
            <a:srgbClr val="FFFFFF">
              <a:alpha val="8000"/>
            </a:srgbClr>
          </a:solidFill>
          <a:ln w="12700" cap="flat" cmpd="sng">
            <a:solidFill>
              <a:srgbClr val="00A9E0">
                <a:alpha val="30000"/>
              </a:srgbClr>
            </a:solidFill>
            <a:prstDash val="solid"/>
            <a:round/>
          </a:ln>
        </p:spPr>
        <p:txBody>
          <a:bodyPr vert="horz" wrap="square" lIns="63500" tIns="63500" rIns="63500" bIns="63500" rtlCol="0" anchor="ctr"/>
          <a:lstStyle/>
          <a:p>
            <a:pPr algn="ctr">
              <a:defRPr/>
            </a:pPr>
            <a:endParaRPr/>
          </a:p>
        </p:txBody>
      </p:sp>
      <p:pic>
        <p:nvPicPr>
          <p:cNvPr id="18" name="Picture 18"/>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604000" y="2057400"/>
            <a:ext cx="508000" cy="508000"/>
          </a:xfrm>
          <a:prstGeom prst="rect">
            <a:avLst/>
          </a:prstGeom>
        </p:spPr>
      </p:pic>
      <p:sp>
        <p:nvSpPr>
          <p:cNvPr id="19" name="AutoShape 19"/>
          <p:cNvSpPr/>
          <p:nvPr/>
        </p:nvSpPr>
        <p:spPr>
          <a:xfrm>
            <a:off x="7239000" y="1905000"/>
            <a:ext cx="3937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Noto Sans SC"/>
                <a:ea typeface="Noto Sans SC"/>
                <a:cs typeface="Noto Sans SC"/>
                <a:sym typeface="Noto Sans SC"/>
              </a:rPr>
              <a:t>高交互性</a:t>
            </a:r>
            <a:endParaRPr lang="en-US" sz="1100"/>
          </a:p>
        </p:txBody>
      </p:sp>
      <p:sp>
        <p:nvSpPr>
          <p:cNvPr id="20" name="AutoShape 20"/>
          <p:cNvSpPr/>
          <p:nvPr/>
        </p:nvSpPr>
        <p:spPr>
          <a:xfrm>
            <a:off x="7239000" y="2260600"/>
            <a:ext cx="3937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0" i="0" u="none" strike="noStrike">
                <a:solidFill>
                  <a:srgbClr val="FFFFFF">
                    <a:alpha val="80000"/>
                  </a:srgbClr>
                </a:solidFill>
                <a:latin typeface="Noto Sans SC"/>
                <a:ea typeface="Noto Sans SC"/>
                <a:cs typeface="Noto Sans SC"/>
                <a:sym typeface="Noto Sans SC"/>
              </a:rPr>
              <a:t>支持定位、点击查询、详情展示，操作便捷。</a:t>
            </a:r>
            <a:endParaRPr lang="en-US" sz="1100"/>
          </a:p>
        </p:txBody>
      </p:sp>
      <p:sp>
        <p:nvSpPr>
          <p:cNvPr id="21" name="AutoShape 21"/>
          <p:cNvSpPr/>
          <p:nvPr/>
        </p:nvSpPr>
        <p:spPr>
          <a:xfrm>
            <a:off x="6350000" y="2984500"/>
            <a:ext cx="5080000" cy="1079500"/>
          </a:xfrm>
          <a:prstGeom prst="roundRect">
            <a:avLst>
              <a:gd name="adj" fmla="val 11764"/>
            </a:avLst>
          </a:prstGeom>
          <a:solidFill>
            <a:srgbClr val="FFFFFF">
              <a:alpha val="8000"/>
            </a:srgbClr>
          </a:solidFill>
          <a:ln w="12700" cap="flat" cmpd="sng">
            <a:solidFill>
              <a:srgbClr val="00A9E0">
                <a:alpha val="30000"/>
              </a:srgbClr>
            </a:solidFill>
            <a:prstDash val="solid"/>
            <a:round/>
          </a:ln>
        </p:spPr>
        <p:txBody>
          <a:bodyPr vert="horz" wrap="square" lIns="63500" tIns="63500" rIns="63500" bIns="63500" rtlCol="0" anchor="ctr"/>
          <a:lstStyle/>
          <a:p>
            <a:pPr algn="ctr">
              <a:defRPr/>
            </a:pPr>
            <a:endParaRPr/>
          </a:p>
        </p:txBody>
      </p:sp>
      <p:pic>
        <p:nvPicPr>
          <p:cNvPr id="22" name="Picture 2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604000" y="3263900"/>
            <a:ext cx="508000" cy="508000"/>
          </a:xfrm>
          <a:prstGeom prst="rect">
            <a:avLst/>
          </a:prstGeom>
        </p:spPr>
      </p:pic>
      <p:sp>
        <p:nvSpPr>
          <p:cNvPr id="23" name="AutoShape 23"/>
          <p:cNvSpPr/>
          <p:nvPr/>
        </p:nvSpPr>
        <p:spPr>
          <a:xfrm>
            <a:off x="7239000" y="3111500"/>
            <a:ext cx="3937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Noto Sans SC"/>
                <a:ea typeface="Noto Sans SC"/>
                <a:cs typeface="Noto Sans SC"/>
                <a:sym typeface="Noto Sans SC"/>
              </a:rPr>
              <a:t>高扩展性</a:t>
            </a:r>
            <a:endParaRPr lang="en-US" sz="1100"/>
          </a:p>
        </p:txBody>
      </p:sp>
      <p:sp>
        <p:nvSpPr>
          <p:cNvPr id="24" name="AutoShape 24"/>
          <p:cNvSpPr/>
          <p:nvPr/>
        </p:nvSpPr>
        <p:spPr>
          <a:xfrm>
            <a:off x="7239000" y="3467100"/>
            <a:ext cx="3937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0" i="0" u="none" strike="noStrike">
                <a:solidFill>
                  <a:srgbClr val="FFFFFF">
                    <a:alpha val="80000"/>
                  </a:srgbClr>
                </a:solidFill>
                <a:latin typeface="Noto Sans SC"/>
                <a:ea typeface="Noto Sans SC"/>
                <a:cs typeface="Noto Sans SC"/>
                <a:sym typeface="Noto Sans SC"/>
              </a:rPr>
              <a:t>模块解耦，易于扩展和适配不同场景。</a:t>
            </a:r>
            <a:endParaRPr lang="en-US" sz="11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47F87BDD-31CD-7F7E-CDE7-0FB8ADF22746}"/>
              </a:ext>
            </a:extLst>
          </p:cNvPr>
          <p:cNvPicPr>
            <a:picLocks noChangeAspect="1"/>
          </p:cNvPicPr>
          <p:nvPr/>
        </p:nvPicPr>
        <p:blipFill>
          <a:blip r:embed="rId2"/>
          <a:stretch>
            <a:fillRect/>
          </a:stretch>
        </p:blipFill>
        <p:spPr>
          <a:xfrm>
            <a:off x="0" y="0"/>
            <a:ext cx="12192000" cy="6615953"/>
          </a:xfrm>
          <a:prstGeom prst="rect">
            <a:avLst/>
          </a:prstGeom>
        </p:spPr>
      </p:pic>
    </p:spTree>
    <p:extLst>
      <p:ext uri="{BB962C8B-B14F-4D97-AF65-F5344CB8AC3E}">
        <p14:creationId xmlns:p14="http://schemas.microsoft.com/office/powerpoint/2010/main" val="39647041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141414">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l="1111" r="1111"/>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0F172A">
              <a:alpha val="75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0" y="0"/>
            <a:ext cx="12192000" cy="50800"/>
          </a:xfrm>
          <a:prstGeom prst="roundRect">
            <a:avLst>
              <a:gd name="adj" fmla="val 0"/>
            </a:avLst>
          </a:prstGeom>
          <a:gradFill rotWithShape="1">
            <a:gsLst>
              <a:gs pos="0">
                <a:srgbClr val="00A9E0">
                  <a:alpha val="100000"/>
                </a:srgbClr>
              </a:gs>
              <a:gs pos="50000">
                <a:srgbClr val="40E0D0">
                  <a:alpha val="100000"/>
                </a:srgbClr>
              </a:gs>
              <a:gs pos="100000">
                <a:srgbClr val="FF8C00">
                  <a:alpha val="100000"/>
                </a:srgbClr>
              </a:gs>
            </a:gsLst>
            <a:lin ang="0"/>
          </a:gradFill>
          <a:ln w="25400" cap="flat" cmpd="sng">
            <a:noFill/>
            <a:prstDash val="solid"/>
            <a:round/>
          </a:ln>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689600" y="1651000"/>
            <a:ext cx="812800" cy="812800"/>
          </a:xfrm>
          <a:prstGeom prst="rect">
            <a:avLst/>
          </a:prstGeom>
          <a:effectLst>
            <a:outerShdw blurRad="127000" dir="2700000" algn="tl" rotWithShape="0">
              <a:srgbClr val="00A9E0">
                <a:alpha val="50000"/>
              </a:srgbClr>
            </a:outerShdw>
          </a:effectLst>
        </p:spPr>
      </p:pic>
      <p:sp>
        <p:nvSpPr>
          <p:cNvPr id="6" name="AutoShape 6"/>
          <p:cNvSpPr/>
          <p:nvPr/>
        </p:nvSpPr>
        <p:spPr>
          <a:xfrm>
            <a:off x="2286000" y="2667000"/>
            <a:ext cx="7620000" cy="635000"/>
          </a:xfrm>
          <a:prstGeom prst="rect">
            <a:avLst/>
          </a:prstGeom>
          <a:noFill/>
          <a:ln w="12700" cap="flat" cmpd="sng">
            <a:noFill/>
            <a:prstDash val="solid"/>
            <a:round/>
          </a:ln>
        </p:spPr>
        <p:txBody>
          <a:bodyPr vert="horz" wrap="none" lIns="0" tIns="0" rIns="0" bIns="0" rtlCol="0" anchor="ctr" anchorCtr="0"/>
          <a:lstStyle/>
          <a:p>
            <a:pPr indent="0" algn="ctr">
              <a:lnSpc>
                <a:spcPct val="125000"/>
              </a:lnSpc>
              <a:defRPr/>
            </a:pPr>
            <a:r>
              <a:rPr lang="en-US" sz="3600" b="1" i="0" u="none" strike="noStrike">
                <a:solidFill>
                  <a:srgbClr val="FFFFFF"/>
                </a:solidFill>
                <a:latin typeface="Noto Sans SC"/>
                <a:ea typeface="Noto Sans SC"/>
                <a:cs typeface="Noto Sans SC"/>
                <a:sym typeface="Noto Sans SC"/>
              </a:rPr>
              <a:t>数据分析与实验</a:t>
            </a:r>
            <a:endParaRPr lang="en-US" sz="1100"/>
          </a:p>
        </p:txBody>
      </p:sp>
      <p:sp>
        <p:nvSpPr>
          <p:cNvPr id="7" name="AutoShape 7"/>
          <p:cNvSpPr/>
          <p:nvPr/>
        </p:nvSpPr>
        <p:spPr>
          <a:xfrm>
            <a:off x="2286000" y="3302000"/>
            <a:ext cx="7620000" cy="381000"/>
          </a:xfrm>
          <a:prstGeom prst="rect">
            <a:avLst/>
          </a:prstGeom>
          <a:noFill/>
          <a:ln w="12700" cap="flat" cmpd="sng">
            <a:noFill/>
            <a:prstDash val="solid"/>
            <a:round/>
          </a:ln>
        </p:spPr>
        <p:txBody>
          <a:bodyPr vert="horz" wrap="none" lIns="0" tIns="0" rIns="0" bIns="0" rtlCol="0" anchor="ctr" anchorCtr="0"/>
          <a:lstStyle/>
          <a:p>
            <a:pPr indent="0" algn="ctr">
              <a:lnSpc>
                <a:spcPct val="125000"/>
              </a:lnSpc>
              <a:defRPr/>
            </a:pPr>
            <a:r>
              <a:rPr lang="en-US" sz="1600" b="0" i="0" u="none" strike="noStrike" spc="200">
                <a:solidFill>
                  <a:srgbClr val="40E0D0"/>
                </a:solidFill>
                <a:latin typeface="Heebo"/>
                <a:ea typeface="Heebo"/>
                <a:cs typeface="Heebo"/>
                <a:sym typeface="Heebo"/>
              </a:rPr>
              <a:t>DATA ANALYSIS AND EXPERIMENTS</a:t>
            </a:r>
            <a:endParaRPr lang="en-US" sz="1100"/>
          </a:p>
        </p:txBody>
      </p:sp>
      <p:sp>
        <p:nvSpPr>
          <p:cNvPr id="8" name="AutoShape 8"/>
          <p:cNvSpPr/>
          <p:nvPr/>
        </p:nvSpPr>
        <p:spPr>
          <a:xfrm>
            <a:off x="5715000" y="3810000"/>
            <a:ext cx="762000" cy="50800"/>
          </a:xfrm>
          <a:prstGeom prst="roundRect">
            <a:avLst>
              <a:gd name="adj" fmla="val 0"/>
            </a:avLst>
          </a:prstGeom>
          <a:solidFill>
            <a:srgbClr val="FF8C0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9" name="AutoShape 9"/>
          <p:cNvSpPr/>
          <p:nvPr/>
        </p:nvSpPr>
        <p:spPr>
          <a:xfrm>
            <a:off x="1016000" y="4191000"/>
            <a:ext cx="10160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0" i="0" u="none" strike="noStrike">
                <a:solidFill>
                  <a:srgbClr val="FFFFFF">
                    <a:alpha val="70196"/>
                  </a:srgbClr>
                </a:solidFill>
                <a:latin typeface="Noto Sans SC"/>
                <a:ea typeface="Noto Sans SC"/>
                <a:cs typeface="Noto Sans SC"/>
                <a:sym typeface="Noto Sans SC"/>
              </a:rPr>
              <a:t>验证系统性能与效果 · 展示实验过程与核心结果</a:t>
            </a:r>
            <a:endParaRPr lang="en-US" sz="1100"/>
          </a:p>
        </p:txBody>
      </p:sp>
      <p:sp>
        <p:nvSpPr>
          <p:cNvPr id="10" name="AutoShape 10"/>
          <p:cNvSpPr/>
          <p:nvPr/>
        </p:nvSpPr>
        <p:spPr>
          <a:xfrm>
            <a:off x="0" y="6705600"/>
            <a:ext cx="1524000" cy="152400"/>
          </a:xfrm>
          <a:prstGeom prst="parallelogram">
            <a:avLst/>
          </a:prstGeom>
          <a:solidFill>
            <a:srgbClr val="00A9E0">
              <a:alpha val="60000"/>
            </a:srgbClr>
          </a:solidFill>
          <a:ln w="25400" cap="flat" cmpd="sng">
            <a:noFill/>
            <a:prstDash val="solid"/>
            <a:round/>
          </a:ln>
        </p:spPr>
        <p:txBody>
          <a:bodyPr vert="horz" wrap="square" lIns="63500" tIns="63500" rIns="63500" bIns="63500" rtlCol="0" anchor="ctr"/>
          <a:lstStyle/>
          <a:p>
            <a:pPr algn="ctr">
              <a:defRPr/>
            </a:pPr>
            <a:endParaRPr/>
          </a:p>
        </p:txBody>
      </p:sp>
      <p:sp>
        <p:nvSpPr>
          <p:cNvPr id="11" name="AutoShape 11"/>
          <p:cNvSpPr/>
          <p:nvPr/>
        </p:nvSpPr>
        <p:spPr>
          <a:xfrm>
            <a:off x="10668000" y="6705600"/>
            <a:ext cx="1524000" cy="152400"/>
          </a:xfrm>
          <a:prstGeom prst="parallelogram">
            <a:avLst/>
          </a:prstGeom>
          <a:solidFill>
            <a:srgbClr val="FF8C00">
              <a:alpha val="60000"/>
            </a:srgbClr>
          </a:solidFill>
          <a:ln w="25400" cap="flat" cmpd="sng">
            <a:noFill/>
            <a:prstDash val="solid"/>
            <a:round/>
          </a:ln>
        </p:spPr>
        <p:txBody>
          <a:bodyPr vert="horz" wrap="square" lIns="63500" tIns="63500" rIns="63500" bIns="63500" rtlCol="0" anchor="ctr"/>
          <a:lstStyle/>
          <a:p>
            <a:pPr algn="ctr">
              <a:defRPr/>
            </a:pP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141414">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l="1111" r="1111"/>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0A141E">
              <a:alpha val="85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762000" y="635000"/>
            <a:ext cx="35179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FFFFFF"/>
                </a:solidFill>
                <a:latin typeface="Noto Sans SC"/>
                <a:ea typeface="Noto Sans SC"/>
                <a:cs typeface="Noto Sans SC"/>
                <a:sym typeface="Noto Sans SC"/>
              </a:rPr>
              <a:t>实验目的与环境</a:t>
            </a:r>
            <a:endParaRPr lang="en-US" sz="1100"/>
          </a:p>
        </p:txBody>
      </p:sp>
      <p:sp>
        <p:nvSpPr>
          <p:cNvPr id="5" name="AutoShape 5"/>
          <p:cNvSpPr/>
          <p:nvPr/>
        </p:nvSpPr>
        <p:spPr>
          <a:xfrm>
            <a:off x="762000" y="1333500"/>
            <a:ext cx="762000" cy="50800"/>
          </a:xfrm>
          <a:prstGeom prst="roundRect">
            <a:avLst>
              <a:gd name="adj" fmla="val 0"/>
            </a:avLst>
          </a:prstGeom>
          <a:solidFill>
            <a:srgbClr val="00A9E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762000" y="1778000"/>
            <a:ext cx="5080000" cy="3556000"/>
          </a:xfrm>
          <a:prstGeom prst="roundRect">
            <a:avLst>
              <a:gd name="adj" fmla="val 3571"/>
            </a:avLst>
          </a:prstGeom>
          <a:solidFill>
            <a:srgbClr val="FFFFFF">
              <a:alpha val="5000"/>
            </a:srgbClr>
          </a:solidFill>
          <a:ln w="12700" cap="flat" cmpd="sng">
            <a:solidFill>
              <a:srgbClr val="00A9E0">
                <a:alpha val="30000"/>
              </a:srgbClr>
            </a:solidFill>
            <a:prstDash val="solid"/>
            <a:round/>
          </a:ln>
        </p:spPr>
        <p:txBody>
          <a:bodyPr vert="horz" wrap="square" lIns="63500" tIns="63500" rIns="63500" bIns="63500" rtlCol="0" anchor="ctr"/>
          <a:lstStyle/>
          <a:p>
            <a:pPr algn="ctr">
              <a:defRPr/>
            </a:pPr>
            <a:endParaRPr/>
          </a:p>
        </p:txBody>
      </p:sp>
      <p:pic>
        <p:nvPicPr>
          <p:cNvPr id="7" name="Picture 7"/>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2032000"/>
            <a:ext cx="304800" cy="304800"/>
          </a:xfrm>
          <a:prstGeom prst="rect">
            <a:avLst/>
          </a:prstGeom>
        </p:spPr>
      </p:pic>
      <p:sp>
        <p:nvSpPr>
          <p:cNvPr id="8" name="AutoShape 8"/>
          <p:cNvSpPr/>
          <p:nvPr/>
        </p:nvSpPr>
        <p:spPr>
          <a:xfrm>
            <a:off x="1397000" y="1981200"/>
            <a:ext cx="381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0A9E0"/>
                </a:solidFill>
                <a:latin typeface="Noto Sans SC"/>
                <a:ea typeface="Noto Sans SC"/>
                <a:cs typeface="Noto Sans SC"/>
                <a:sym typeface="Noto Sans SC"/>
              </a:rPr>
              <a:t>核心实验目的</a:t>
            </a:r>
            <a:endParaRPr lang="en-US" sz="1100"/>
          </a:p>
        </p:txBody>
      </p:sp>
      <p:sp>
        <p:nvSpPr>
          <p:cNvPr id="9" name="AutoShape 9"/>
          <p:cNvSpPr/>
          <p:nvPr/>
        </p:nvSpPr>
        <p:spPr>
          <a:xfrm>
            <a:off x="1016000" y="2540000"/>
            <a:ext cx="4572000" cy="571500"/>
          </a:xfrm>
          <a:prstGeom prst="roundRect">
            <a:avLst>
              <a:gd name="adj" fmla="val 11111"/>
            </a:avLst>
          </a:prstGeom>
          <a:solidFill>
            <a:srgbClr val="00A9E0">
              <a:alpha val="1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0" name="Picture 10"/>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143000" y="2692400"/>
            <a:ext cx="254000" cy="254000"/>
          </a:xfrm>
          <a:prstGeom prst="rect">
            <a:avLst/>
          </a:prstGeom>
        </p:spPr>
      </p:pic>
      <p:sp>
        <p:nvSpPr>
          <p:cNvPr id="11" name="AutoShape 11"/>
          <p:cNvSpPr/>
          <p:nvPr/>
        </p:nvSpPr>
        <p:spPr>
          <a:xfrm>
            <a:off x="1524000" y="2641600"/>
            <a:ext cx="406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0" i="0" u="none" strike="noStrike">
                <a:solidFill>
                  <a:srgbClr val="E6E6E6"/>
                </a:solidFill>
                <a:latin typeface="Noto Sans SC"/>
                <a:ea typeface="Noto Sans SC"/>
                <a:cs typeface="Noto Sans SC"/>
                <a:sym typeface="Noto Sans SC"/>
              </a:rPr>
              <a:t>验证系统</a:t>
            </a:r>
            <a:r>
              <a:rPr lang="en-US" sz="1600" b="1" i="0" u="none" strike="noStrike">
                <a:solidFill>
                  <a:srgbClr val="40E0D0"/>
                </a:solidFill>
                <a:latin typeface="Noto Sans SC"/>
                <a:ea typeface="Noto Sans SC"/>
                <a:cs typeface="Noto Sans SC"/>
                <a:sym typeface="Noto Sans SC"/>
              </a:rPr>
              <a:t>实时数据采集</a:t>
            </a:r>
            <a:r>
              <a:rPr lang="en-US" sz="1600" b="0" i="0" u="none" strike="noStrike">
                <a:solidFill>
                  <a:srgbClr val="E6E6E6"/>
                </a:solidFill>
                <a:latin typeface="Noto Sans SC"/>
                <a:ea typeface="Noto Sans SC"/>
                <a:cs typeface="Noto Sans SC"/>
                <a:sym typeface="Noto Sans SC"/>
              </a:rPr>
              <a:t>的响应速度</a:t>
            </a:r>
            <a:endParaRPr lang="en-US" sz="1100"/>
          </a:p>
        </p:txBody>
      </p:sp>
      <p:sp>
        <p:nvSpPr>
          <p:cNvPr id="12" name="AutoShape 12"/>
          <p:cNvSpPr/>
          <p:nvPr/>
        </p:nvSpPr>
        <p:spPr>
          <a:xfrm>
            <a:off x="1016000" y="3175000"/>
            <a:ext cx="4572000" cy="571500"/>
          </a:xfrm>
          <a:prstGeom prst="roundRect">
            <a:avLst>
              <a:gd name="adj" fmla="val 11111"/>
            </a:avLst>
          </a:prstGeom>
          <a:solidFill>
            <a:srgbClr val="00A9E0">
              <a:alpha val="1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3" name="Picture 1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143000" y="3327400"/>
            <a:ext cx="254000" cy="254000"/>
          </a:xfrm>
          <a:prstGeom prst="rect">
            <a:avLst/>
          </a:prstGeom>
        </p:spPr>
      </p:pic>
      <p:sp>
        <p:nvSpPr>
          <p:cNvPr id="14" name="AutoShape 14"/>
          <p:cNvSpPr/>
          <p:nvPr/>
        </p:nvSpPr>
        <p:spPr>
          <a:xfrm>
            <a:off x="1524000" y="3276600"/>
            <a:ext cx="406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0" i="0" u="none" strike="noStrike">
                <a:solidFill>
                  <a:srgbClr val="E6E6E6"/>
                </a:solidFill>
                <a:latin typeface="Noto Sans SC"/>
                <a:ea typeface="Noto Sans SC"/>
                <a:cs typeface="Noto Sans SC"/>
                <a:sym typeface="Noto Sans SC"/>
              </a:rPr>
              <a:t>评估算法模型的</a:t>
            </a:r>
            <a:r>
              <a:rPr lang="en-US" sz="1600" b="1" i="0" u="none" strike="noStrike">
                <a:solidFill>
                  <a:srgbClr val="40E0D0"/>
                </a:solidFill>
                <a:latin typeface="Noto Sans SC"/>
                <a:ea typeface="Noto Sans SC"/>
                <a:cs typeface="Noto Sans SC"/>
                <a:sym typeface="Noto Sans SC"/>
              </a:rPr>
              <a:t>评分准确性</a:t>
            </a:r>
            <a:endParaRPr lang="en-US" sz="1100"/>
          </a:p>
        </p:txBody>
      </p:sp>
      <p:sp>
        <p:nvSpPr>
          <p:cNvPr id="15" name="AutoShape 15"/>
          <p:cNvSpPr/>
          <p:nvPr/>
        </p:nvSpPr>
        <p:spPr>
          <a:xfrm>
            <a:off x="1016000" y="3810000"/>
            <a:ext cx="4572000" cy="571500"/>
          </a:xfrm>
          <a:prstGeom prst="roundRect">
            <a:avLst>
              <a:gd name="adj" fmla="val 11111"/>
            </a:avLst>
          </a:prstGeom>
          <a:solidFill>
            <a:srgbClr val="00A9E0">
              <a:alpha val="1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6" name="Picture 1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143000" y="3962400"/>
            <a:ext cx="254000" cy="254000"/>
          </a:xfrm>
          <a:prstGeom prst="rect">
            <a:avLst/>
          </a:prstGeom>
        </p:spPr>
      </p:pic>
      <p:sp>
        <p:nvSpPr>
          <p:cNvPr id="17" name="AutoShape 17"/>
          <p:cNvSpPr/>
          <p:nvPr/>
        </p:nvSpPr>
        <p:spPr>
          <a:xfrm>
            <a:off x="1524000" y="3911600"/>
            <a:ext cx="406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0" i="0" u="none" strike="noStrike">
                <a:solidFill>
                  <a:srgbClr val="E6E6E6"/>
                </a:solidFill>
                <a:latin typeface="Noto Sans SC"/>
                <a:ea typeface="Noto Sans SC"/>
                <a:cs typeface="Noto Sans SC"/>
                <a:sym typeface="Noto Sans SC"/>
              </a:rPr>
              <a:t>测试高并发场景下的</a:t>
            </a:r>
            <a:r>
              <a:rPr lang="en-US" sz="1600" b="1" i="0" u="none" strike="noStrike">
                <a:solidFill>
                  <a:srgbClr val="40E0D0"/>
                </a:solidFill>
                <a:latin typeface="Noto Sans SC"/>
                <a:ea typeface="Noto Sans SC"/>
                <a:cs typeface="Noto Sans SC"/>
                <a:sym typeface="Noto Sans SC"/>
              </a:rPr>
              <a:t>功能稳定性</a:t>
            </a:r>
            <a:endParaRPr lang="en-US" sz="1100"/>
          </a:p>
        </p:txBody>
      </p:sp>
      <p:sp>
        <p:nvSpPr>
          <p:cNvPr id="18" name="AutoShape 18"/>
          <p:cNvSpPr/>
          <p:nvPr/>
        </p:nvSpPr>
        <p:spPr>
          <a:xfrm>
            <a:off x="1016000" y="4445000"/>
            <a:ext cx="4572000" cy="571500"/>
          </a:xfrm>
          <a:prstGeom prst="roundRect">
            <a:avLst>
              <a:gd name="adj" fmla="val 11111"/>
            </a:avLst>
          </a:prstGeom>
          <a:solidFill>
            <a:srgbClr val="00A9E0">
              <a:alpha val="1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9" name="Picture 19"/>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143000" y="4597400"/>
            <a:ext cx="254000" cy="254000"/>
          </a:xfrm>
          <a:prstGeom prst="rect">
            <a:avLst/>
          </a:prstGeom>
        </p:spPr>
      </p:pic>
      <p:sp>
        <p:nvSpPr>
          <p:cNvPr id="20" name="AutoShape 20"/>
          <p:cNvSpPr/>
          <p:nvPr/>
        </p:nvSpPr>
        <p:spPr>
          <a:xfrm>
            <a:off x="1524000" y="4546600"/>
            <a:ext cx="406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0" i="0" u="none" strike="noStrike">
                <a:solidFill>
                  <a:srgbClr val="E6E6E6"/>
                </a:solidFill>
                <a:latin typeface="Noto Sans SC"/>
                <a:ea typeface="Noto Sans SC"/>
                <a:cs typeface="Noto Sans SC"/>
                <a:sym typeface="Noto Sans SC"/>
              </a:rPr>
              <a:t>确保用户操作的</a:t>
            </a:r>
            <a:r>
              <a:rPr lang="en-US" sz="1600" b="1" i="0" u="none" strike="noStrike">
                <a:solidFill>
                  <a:srgbClr val="40E0D0"/>
                </a:solidFill>
                <a:latin typeface="Noto Sans SC"/>
                <a:ea typeface="Noto Sans SC"/>
                <a:cs typeface="Noto Sans SC"/>
                <a:sym typeface="Noto Sans SC"/>
              </a:rPr>
              <a:t>交互流畅性</a:t>
            </a:r>
            <a:endParaRPr lang="en-US" sz="1100"/>
          </a:p>
        </p:txBody>
      </p:sp>
      <p:sp>
        <p:nvSpPr>
          <p:cNvPr id="21" name="AutoShape 21"/>
          <p:cNvSpPr/>
          <p:nvPr/>
        </p:nvSpPr>
        <p:spPr>
          <a:xfrm>
            <a:off x="6350000" y="1778000"/>
            <a:ext cx="5080000" cy="3556000"/>
          </a:xfrm>
          <a:prstGeom prst="roundRect">
            <a:avLst>
              <a:gd name="adj" fmla="val 3571"/>
            </a:avLst>
          </a:prstGeom>
          <a:solidFill>
            <a:srgbClr val="FFFFFF">
              <a:alpha val="5000"/>
            </a:srgbClr>
          </a:solidFill>
          <a:ln w="12700" cap="flat" cmpd="sng">
            <a:solidFill>
              <a:srgbClr val="FF8C00">
                <a:alpha val="30000"/>
              </a:srgbClr>
            </a:solidFill>
            <a:prstDash val="solid"/>
            <a:round/>
          </a:ln>
        </p:spPr>
        <p:txBody>
          <a:bodyPr vert="horz" wrap="square" lIns="63500" tIns="63500" rIns="63500" bIns="63500" rtlCol="0" anchor="ctr"/>
          <a:lstStyle/>
          <a:p>
            <a:pPr algn="ctr">
              <a:defRPr/>
            </a:pPr>
            <a:endParaRPr/>
          </a:p>
        </p:txBody>
      </p:sp>
      <p:pic>
        <p:nvPicPr>
          <p:cNvPr id="22" name="Picture 2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604000" y="2032000"/>
            <a:ext cx="304800" cy="304800"/>
          </a:xfrm>
          <a:prstGeom prst="rect">
            <a:avLst/>
          </a:prstGeom>
        </p:spPr>
      </p:pic>
      <p:sp>
        <p:nvSpPr>
          <p:cNvPr id="23" name="AutoShape 23"/>
          <p:cNvSpPr/>
          <p:nvPr/>
        </p:nvSpPr>
        <p:spPr>
          <a:xfrm>
            <a:off x="6985000" y="1981200"/>
            <a:ext cx="381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FF8C00"/>
                </a:solidFill>
                <a:latin typeface="Noto Sans SC"/>
                <a:ea typeface="Noto Sans SC"/>
                <a:cs typeface="Noto Sans SC"/>
                <a:sym typeface="Noto Sans SC"/>
              </a:rPr>
              <a:t>实验环境配置</a:t>
            </a:r>
            <a:endParaRPr lang="en-US" sz="1100"/>
          </a:p>
        </p:txBody>
      </p:sp>
      <p:sp>
        <p:nvSpPr>
          <p:cNvPr id="24" name="AutoShape 24"/>
          <p:cNvSpPr/>
          <p:nvPr/>
        </p:nvSpPr>
        <p:spPr>
          <a:xfrm>
            <a:off x="6604000" y="2540000"/>
            <a:ext cx="4572000" cy="571500"/>
          </a:xfrm>
          <a:prstGeom prst="roundRect">
            <a:avLst>
              <a:gd name="adj" fmla="val 11111"/>
            </a:avLst>
          </a:prstGeom>
          <a:solidFill>
            <a:srgbClr val="FF8C00">
              <a:alpha val="10000"/>
            </a:srgbClr>
          </a:solidFill>
          <a:ln w="25400" cap="flat" cmpd="sng">
            <a:noFill/>
            <a:prstDash val="solid"/>
            <a:round/>
          </a:ln>
        </p:spPr>
        <p:txBody>
          <a:bodyPr vert="horz" wrap="square" lIns="63500" tIns="63500" rIns="63500" bIns="63500" rtlCol="0" anchor="ctr"/>
          <a:lstStyle/>
          <a:p>
            <a:pPr algn="ctr">
              <a:defRPr/>
            </a:pPr>
            <a:endParaRPr/>
          </a:p>
        </p:txBody>
      </p:sp>
      <p:pic>
        <p:nvPicPr>
          <p:cNvPr id="25" name="Picture 2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6731000" y="2692400"/>
            <a:ext cx="254000" cy="254000"/>
          </a:xfrm>
          <a:prstGeom prst="rect">
            <a:avLst/>
          </a:prstGeom>
        </p:spPr>
      </p:pic>
      <p:sp>
        <p:nvSpPr>
          <p:cNvPr id="26" name="AutoShape 26"/>
          <p:cNvSpPr/>
          <p:nvPr/>
        </p:nvSpPr>
        <p:spPr>
          <a:xfrm>
            <a:off x="7112000" y="2641600"/>
            <a:ext cx="406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0" i="0" u="none" strike="noStrike" dirty="0" err="1">
                <a:solidFill>
                  <a:srgbClr val="E6E6E6"/>
                </a:solidFill>
                <a:latin typeface="Noto Sans SC"/>
                <a:ea typeface="Noto Sans SC"/>
                <a:cs typeface="Noto Sans SC"/>
                <a:sym typeface="Noto Sans SC"/>
              </a:rPr>
              <a:t>硬件：</a:t>
            </a:r>
            <a:r>
              <a:rPr lang="en-US" altLang="zh-CN" sz="1600" b="1" dirty="0" err="1">
                <a:solidFill>
                  <a:srgbClr val="FF8C00"/>
                </a:solidFill>
                <a:latin typeface="Noto Sans SC"/>
                <a:ea typeface="Noto Sans SC"/>
                <a:cs typeface="Noto Sans SC"/>
                <a:sym typeface="Noto Sans SC"/>
              </a:rPr>
              <a:t>Microsoft</a:t>
            </a:r>
            <a:r>
              <a:rPr lang="en-US" altLang="zh-CN" sz="1600" b="1" dirty="0">
                <a:solidFill>
                  <a:srgbClr val="FF8C00"/>
                </a:solidFill>
                <a:latin typeface="Noto Sans SC"/>
                <a:ea typeface="Noto Sans SC"/>
                <a:cs typeface="Noto Sans SC"/>
                <a:sym typeface="Noto Sans SC"/>
              </a:rPr>
              <a:t> surface</a:t>
            </a:r>
            <a:endParaRPr lang="en-US" sz="1100" dirty="0"/>
          </a:p>
        </p:txBody>
      </p:sp>
      <p:sp>
        <p:nvSpPr>
          <p:cNvPr id="27" name="AutoShape 27"/>
          <p:cNvSpPr/>
          <p:nvPr/>
        </p:nvSpPr>
        <p:spPr>
          <a:xfrm>
            <a:off x="6604000" y="3175000"/>
            <a:ext cx="4572000" cy="571500"/>
          </a:xfrm>
          <a:prstGeom prst="roundRect">
            <a:avLst>
              <a:gd name="adj" fmla="val 11111"/>
            </a:avLst>
          </a:prstGeom>
          <a:solidFill>
            <a:srgbClr val="FF8C00">
              <a:alpha val="10000"/>
            </a:srgbClr>
          </a:solidFill>
          <a:ln w="25400" cap="flat" cmpd="sng">
            <a:noFill/>
            <a:prstDash val="solid"/>
            <a:round/>
          </a:ln>
        </p:spPr>
        <p:txBody>
          <a:bodyPr vert="horz" wrap="square" lIns="63500" tIns="63500" rIns="63500" bIns="63500" rtlCol="0" anchor="ctr"/>
          <a:lstStyle/>
          <a:p>
            <a:pPr algn="ctr">
              <a:defRPr/>
            </a:pPr>
            <a:endParaRPr/>
          </a:p>
        </p:txBody>
      </p:sp>
      <p:pic>
        <p:nvPicPr>
          <p:cNvPr id="28" name="Picture 28"/>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6731000" y="3327400"/>
            <a:ext cx="254000" cy="254000"/>
          </a:xfrm>
          <a:prstGeom prst="rect">
            <a:avLst/>
          </a:prstGeom>
        </p:spPr>
      </p:pic>
      <p:sp>
        <p:nvSpPr>
          <p:cNvPr id="29" name="AutoShape 29"/>
          <p:cNvSpPr/>
          <p:nvPr/>
        </p:nvSpPr>
        <p:spPr>
          <a:xfrm>
            <a:off x="7112000" y="3276600"/>
            <a:ext cx="406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0" i="0" u="none" strike="noStrike" dirty="0" err="1">
                <a:solidFill>
                  <a:srgbClr val="E6E6E6"/>
                </a:solidFill>
                <a:latin typeface="Noto Sans SC"/>
                <a:ea typeface="Noto Sans SC"/>
                <a:cs typeface="Noto Sans SC"/>
                <a:sym typeface="Noto Sans SC"/>
              </a:rPr>
              <a:t>软件：Win</a:t>
            </a:r>
            <a:r>
              <a:rPr lang="en-US" sz="1600" b="0" i="0" u="none" strike="noStrike" dirty="0">
                <a:solidFill>
                  <a:srgbClr val="E6E6E6"/>
                </a:solidFill>
                <a:latin typeface="Noto Sans SC"/>
                <a:ea typeface="Noto Sans SC"/>
                <a:cs typeface="Noto Sans SC"/>
                <a:sym typeface="Noto Sans SC"/>
              </a:rPr>
              <a:t> 11 / Python 3.10 / </a:t>
            </a:r>
            <a:r>
              <a:rPr lang="en-US" altLang="zh-CN" sz="1600" dirty="0">
                <a:solidFill>
                  <a:srgbClr val="E6E6E6"/>
                </a:solidFill>
                <a:latin typeface="Noto Sans SC"/>
                <a:ea typeface="Noto Sans SC"/>
                <a:cs typeface="Noto Sans SC"/>
                <a:sym typeface="Noto Sans SC"/>
              </a:rPr>
              <a:t>Anaconda</a:t>
            </a:r>
            <a:endParaRPr lang="en-US" sz="1100" dirty="0"/>
          </a:p>
        </p:txBody>
      </p:sp>
      <p:sp>
        <p:nvSpPr>
          <p:cNvPr id="30" name="AutoShape 30"/>
          <p:cNvSpPr/>
          <p:nvPr/>
        </p:nvSpPr>
        <p:spPr>
          <a:xfrm>
            <a:off x="6604000" y="3810000"/>
            <a:ext cx="4572000" cy="571500"/>
          </a:xfrm>
          <a:prstGeom prst="roundRect">
            <a:avLst>
              <a:gd name="adj" fmla="val 11111"/>
            </a:avLst>
          </a:prstGeom>
          <a:solidFill>
            <a:srgbClr val="FF8C00">
              <a:alpha val="10000"/>
            </a:srgbClr>
          </a:solidFill>
          <a:ln w="25400" cap="flat" cmpd="sng">
            <a:noFill/>
            <a:prstDash val="solid"/>
            <a:round/>
          </a:ln>
        </p:spPr>
        <p:txBody>
          <a:bodyPr vert="horz" wrap="square" lIns="63500" tIns="63500" rIns="63500" bIns="63500" rtlCol="0" anchor="ctr"/>
          <a:lstStyle/>
          <a:p>
            <a:pPr algn="ctr">
              <a:defRPr/>
            </a:pPr>
            <a:endParaRPr/>
          </a:p>
        </p:txBody>
      </p:sp>
      <p:pic>
        <p:nvPicPr>
          <p:cNvPr id="31" name="Picture 31"/>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6731000" y="3962400"/>
            <a:ext cx="254000" cy="254000"/>
          </a:xfrm>
          <a:prstGeom prst="rect">
            <a:avLst/>
          </a:prstGeom>
        </p:spPr>
      </p:pic>
      <p:sp>
        <p:nvSpPr>
          <p:cNvPr id="32" name="AutoShape 32"/>
          <p:cNvSpPr/>
          <p:nvPr/>
        </p:nvSpPr>
        <p:spPr>
          <a:xfrm>
            <a:off x="7112000" y="3911600"/>
            <a:ext cx="406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0" i="0" u="none" strike="noStrike" dirty="0" err="1">
                <a:solidFill>
                  <a:srgbClr val="E6E6E6"/>
                </a:solidFill>
                <a:latin typeface="Noto Sans SC"/>
                <a:ea typeface="Noto Sans SC"/>
                <a:cs typeface="Noto Sans SC"/>
                <a:sym typeface="Noto Sans SC"/>
              </a:rPr>
              <a:t>区域</a:t>
            </a:r>
            <a:r>
              <a:rPr lang="en-US" sz="1600" b="0" i="0" u="none" strike="noStrike" dirty="0">
                <a:solidFill>
                  <a:srgbClr val="E6E6E6"/>
                </a:solidFill>
                <a:latin typeface="Noto Sans SC"/>
                <a:ea typeface="Noto Sans SC"/>
                <a:cs typeface="Noto Sans SC"/>
                <a:sym typeface="Noto Sans SC"/>
              </a:rPr>
              <a:t>：</a:t>
            </a:r>
            <a:r>
              <a:rPr lang="zh-CN" altLang="en-US" sz="1600" dirty="0">
                <a:solidFill>
                  <a:srgbClr val="E6E6E6"/>
                </a:solidFill>
                <a:latin typeface="Noto Sans SC"/>
                <a:ea typeface="Noto Sans SC"/>
                <a:cs typeface="Noto Sans SC"/>
                <a:sym typeface="Noto Sans SC"/>
              </a:rPr>
              <a:t>全国</a:t>
            </a:r>
            <a:endParaRPr lang="en-US" sz="1100" dirty="0"/>
          </a:p>
        </p:txBody>
      </p:sp>
      <p:sp>
        <p:nvSpPr>
          <p:cNvPr id="33" name="AutoShape 33"/>
          <p:cNvSpPr/>
          <p:nvPr/>
        </p:nvSpPr>
        <p:spPr>
          <a:xfrm>
            <a:off x="6604000" y="4445000"/>
            <a:ext cx="4572000" cy="571500"/>
          </a:xfrm>
          <a:prstGeom prst="roundRect">
            <a:avLst>
              <a:gd name="adj" fmla="val 11111"/>
            </a:avLst>
          </a:prstGeom>
          <a:solidFill>
            <a:srgbClr val="FF8C00">
              <a:alpha val="10000"/>
            </a:srgbClr>
          </a:solidFill>
          <a:ln w="25400" cap="flat" cmpd="sng">
            <a:noFill/>
            <a:prstDash val="solid"/>
            <a:round/>
          </a:ln>
        </p:spPr>
        <p:txBody>
          <a:bodyPr vert="horz" wrap="square" lIns="63500" tIns="63500" rIns="63500" bIns="63500" rtlCol="0" anchor="ctr"/>
          <a:lstStyle/>
          <a:p>
            <a:pPr algn="ctr">
              <a:defRPr/>
            </a:pPr>
            <a:endParaRPr/>
          </a:p>
        </p:txBody>
      </p:sp>
      <p:pic>
        <p:nvPicPr>
          <p:cNvPr id="34" name="Picture 3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6731000" y="4597400"/>
            <a:ext cx="254000" cy="254000"/>
          </a:xfrm>
          <a:prstGeom prst="rect">
            <a:avLst/>
          </a:prstGeom>
        </p:spPr>
      </p:pic>
      <p:sp>
        <p:nvSpPr>
          <p:cNvPr id="35" name="AutoShape 35"/>
          <p:cNvSpPr/>
          <p:nvPr/>
        </p:nvSpPr>
        <p:spPr>
          <a:xfrm>
            <a:off x="7112000" y="4546600"/>
            <a:ext cx="406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0" i="0" u="none" strike="noStrike">
                <a:solidFill>
                  <a:srgbClr val="E6E6E6"/>
                </a:solidFill>
                <a:latin typeface="Noto Sans SC"/>
                <a:ea typeface="Noto Sans SC"/>
                <a:cs typeface="Noto Sans SC"/>
                <a:sym typeface="Noto Sans SC"/>
              </a:rPr>
              <a:t>时间：覆盖高峰/平峰/夜间及不同天气</a:t>
            </a:r>
            <a:endParaRPr lang="en-US" sz="1100"/>
          </a:p>
        </p:txBody>
      </p:sp>
      <p:sp>
        <p:nvSpPr>
          <p:cNvPr id="36" name="AutoShape 36"/>
          <p:cNvSpPr/>
          <p:nvPr/>
        </p:nvSpPr>
        <p:spPr>
          <a:xfrm>
            <a:off x="762000" y="5715000"/>
            <a:ext cx="10668000" cy="508000"/>
          </a:xfrm>
          <a:prstGeom prst="roundRect">
            <a:avLst>
              <a:gd name="adj" fmla="val 25000"/>
            </a:avLst>
          </a:prstGeom>
          <a:gradFill rotWithShape="1">
            <a:gsLst>
              <a:gs pos="0">
                <a:srgbClr val="00A9E0">
                  <a:alpha val="20000"/>
                </a:srgbClr>
              </a:gs>
              <a:gs pos="100000">
                <a:srgbClr val="FF8C00">
                  <a:alpha val="20000"/>
                </a:srgbClr>
              </a:gs>
            </a:gsLst>
            <a:lin ang="0"/>
          </a:gradFill>
          <a:ln w="25400" cap="flat" cmpd="sng">
            <a:noFill/>
            <a:prstDash val="solid"/>
            <a:round/>
          </a:ln>
        </p:spPr>
        <p:txBody>
          <a:bodyPr vert="horz" wrap="square" lIns="63500" tIns="63500" rIns="63500" bIns="63500" rtlCol="0" anchor="ctr"/>
          <a:lstStyle/>
          <a:p>
            <a:pPr algn="ctr">
              <a:defRPr/>
            </a:pPr>
            <a:endParaRPr/>
          </a:p>
        </p:txBody>
      </p:sp>
      <p:sp>
        <p:nvSpPr>
          <p:cNvPr id="37" name="AutoShape 37"/>
          <p:cNvSpPr/>
          <p:nvPr/>
        </p:nvSpPr>
        <p:spPr>
          <a:xfrm>
            <a:off x="889000" y="5816600"/>
            <a:ext cx="10414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0" i="0" u="none" strike="noStrike">
                <a:solidFill>
                  <a:srgbClr val="C8C8C8"/>
                </a:solidFill>
                <a:latin typeface="Noto Sans SC"/>
                <a:ea typeface="Noto Sans SC"/>
                <a:cs typeface="Noto Sans SC"/>
                <a:sym typeface="Noto Sans SC"/>
              </a:rPr>
              <a:t>通过多维度的环境配置与严格的测试指标，确保系统在真实复杂场景下的表现达到预期标准。</a:t>
            </a:r>
            <a:endParaRPr lang="en-US" sz="11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1E1E1E">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l="1111" r="1111"/>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121826">
              <a:alpha val="85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762000" y="635000"/>
            <a:ext cx="50292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FFFFFF"/>
                </a:solidFill>
                <a:latin typeface="Noto Sans SC"/>
                <a:ea typeface="Noto Sans SC"/>
                <a:cs typeface="Noto Sans SC"/>
                <a:sym typeface="Noto Sans SC"/>
              </a:rPr>
              <a:t>实验内容与结果（一）</a:t>
            </a:r>
            <a:endParaRPr lang="en-US" sz="1100"/>
          </a:p>
        </p:txBody>
      </p:sp>
      <p:sp>
        <p:nvSpPr>
          <p:cNvPr id="5" name="AutoShape 5"/>
          <p:cNvSpPr/>
          <p:nvPr/>
        </p:nvSpPr>
        <p:spPr>
          <a:xfrm>
            <a:off x="762000" y="1651000"/>
            <a:ext cx="5080000" cy="3302000"/>
          </a:xfrm>
          <a:prstGeom prst="roundRect">
            <a:avLst>
              <a:gd name="adj" fmla="val 3846"/>
            </a:avLst>
          </a:prstGeom>
          <a:solidFill>
            <a:srgbClr val="FFFFFF">
              <a:alpha val="5000"/>
            </a:srgbClr>
          </a:solidFill>
          <a:ln w="12700" cap="flat" cmpd="sng">
            <a:solidFill>
              <a:srgbClr val="00A9E0">
                <a:alpha val="30000"/>
              </a:srgbClr>
            </a:solidFill>
            <a:prstDash val="solid"/>
            <a:round/>
          </a:ln>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1905000"/>
            <a:ext cx="406400" cy="406400"/>
          </a:xfrm>
          <a:prstGeom prst="rect">
            <a:avLst/>
          </a:prstGeom>
        </p:spPr>
      </p:pic>
      <p:sp>
        <p:nvSpPr>
          <p:cNvPr id="7" name="AutoShape 7"/>
          <p:cNvSpPr/>
          <p:nvPr/>
        </p:nvSpPr>
        <p:spPr>
          <a:xfrm>
            <a:off x="1524000" y="1879600"/>
            <a:ext cx="4191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0A9E0"/>
                </a:solidFill>
                <a:latin typeface="Noto Sans SC"/>
                <a:ea typeface="Noto Sans SC"/>
                <a:cs typeface="Noto Sans SC"/>
                <a:sym typeface="Noto Sans SC"/>
              </a:rPr>
              <a:t>实时数据采集能力测试</a:t>
            </a:r>
            <a:endParaRPr lang="en-US" sz="1100"/>
          </a:p>
        </p:txBody>
      </p:sp>
      <p:sp>
        <p:nvSpPr>
          <p:cNvPr id="8" name="AutoShape 8"/>
          <p:cNvSpPr/>
          <p:nvPr/>
        </p:nvSpPr>
        <p:spPr>
          <a:xfrm>
            <a:off x="1016000" y="2413000"/>
            <a:ext cx="4572000" cy="762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400" b="0" i="0" u="none" strike="noStrike">
                <a:solidFill>
                  <a:srgbClr val="C8C8C8"/>
                </a:solidFill>
                <a:latin typeface="Noto Sans SC"/>
                <a:ea typeface="Noto Sans SC"/>
                <a:cs typeface="Noto Sans SC"/>
                <a:sym typeface="Noto Sans SC"/>
              </a:rPr>
              <a:t>测试不同时段、网络环境下的数据采集速度和实时性，验证系统在高并发场景下的稳定性。</a:t>
            </a:r>
            <a:endParaRPr lang="en-US" sz="1100"/>
          </a:p>
        </p:txBody>
      </p:sp>
      <p:cxnSp>
        <p:nvCxnSpPr>
          <p:cNvPr id="9" name="Connector 9"/>
          <p:cNvCxnSpPr/>
          <p:nvPr/>
        </p:nvCxnSpPr>
        <p:spPr>
          <a:xfrm rot="-9549">
            <a:off x="1016009" y="3295650"/>
            <a:ext cx="4572000" cy="12700"/>
          </a:xfrm>
          <a:prstGeom prst="line">
            <a:avLst/>
          </a:prstGeom>
          <a:solidFill>
            <a:srgbClr val="DEE0E3">
              <a:alpha val="100000"/>
            </a:srgbClr>
          </a:solidFill>
          <a:ln w="12700" cap="flat" cmpd="sng">
            <a:solidFill>
              <a:srgbClr val="FFFFFF">
                <a:alpha val="10000"/>
              </a:srgbClr>
            </a:solidFill>
            <a:prstDash val="dash"/>
            <a:round/>
            <a:headEnd type="none" w="med" len="med"/>
            <a:tailEnd type="none" w="med" len="med"/>
          </a:ln>
        </p:spPr>
      </p:cxnSp>
      <p:sp>
        <p:nvSpPr>
          <p:cNvPr id="10" name="AutoShape 10"/>
          <p:cNvSpPr/>
          <p:nvPr/>
        </p:nvSpPr>
        <p:spPr>
          <a:xfrm>
            <a:off x="1016000" y="3492500"/>
            <a:ext cx="4572000" cy="1016000"/>
          </a:xfrm>
          <a:prstGeom prst="rect">
            <a:avLst/>
          </a:prstGeom>
          <a:noFill/>
          <a:ln w="12700" cap="flat" cmpd="sng">
            <a:noFill/>
            <a:prstDash val="solid"/>
            <a:round/>
          </a:ln>
        </p:spPr>
        <p:txBody>
          <a:bodyPr vert="horz" wrap="square" lIns="0" tIns="0" rIns="0" bIns="0" rtlCol="0" anchor="ctr" anchorCtr="0"/>
          <a:lstStyle/>
          <a:p>
            <a:pPr indent="0" algn="l">
              <a:lnSpc>
                <a:spcPct val="116666"/>
              </a:lnSpc>
              <a:defRPr/>
            </a:pPr>
            <a:r>
              <a:rPr lang="en-US" sz="1400" b="0" i="0" u="none" strike="noStrike">
                <a:solidFill>
                  <a:srgbClr val="FFFFFF"/>
                </a:solidFill>
                <a:latin typeface="Noto Sans SC"/>
                <a:ea typeface="Noto Sans SC"/>
                <a:cs typeface="Noto Sans SC"/>
                <a:sym typeface="Noto Sans SC"/>
              </a:rPr>
              <a:t>平均耗时</a:t>
            </a:r>
            <a:r>
              <a:rPr lang="en-US" sz="2400" b="1" i="0" u="none" strike="noStrike">
                <a:solidFill>
                  <a:srgbClr val="FF8C00"/>
                </a:solidFill>
                <a:latin typeface="Noto Sans SC"/>
                <a:ea typeface="Noto Sans SC"/>
                <a:cs typeface="Noto Sans SC"/>
                <a:sym typeface="Noto Sans SC"/>
              </a:rPr>
              <a:t>≤500ms</a:t>
            </a:r>
            <a:endParaRPr lang="en-US" sz="1100"/>
          </a:p>
          <a:p>
            <a:pPr indent="0" algn="l">
              <a:lnSpc>
                <a:spcPct val="116666"/>
              </a:lnSpc>
            </a:pPr>
            <a:r>
              <a:rPr lang="en-US" sz="1400" b="0" i="0" u="none" strike="noStrike">
                <a:solidFill>
                  <a:srgbClr val="FFFFFF"/>
                </a:solidFill>
                <a:latin typeface="Noto Sans SC"/>
                <a:ea typeface="Noto Sans SC"/>
                <a:cs typeface="Noto Sans SC"/>
                <a:sym typeface="Noto Sans SC"/>
              </a:rPr>
              <a:t>刷新间隔稳定在</a:t>
            </a:r>
            <a:r>
              <a:rPr lang="en-US" sz="2000" b="1" i="0" u="none" strike="noStrike">
                <a:solidFill>
                  <a:srgbClr val="FF8C00"/>
                </a:solidFill>
                <a:latin typeface="Noto Sans SC"/>
                <a:ea typeface="Noto Sans SC"/>
                <a:cs typeface="Noto Sans SC"/>
                <a:sym typeface="Noto Sans SC"/>
              </a:rPr>
              <a:t>30秒</a:t>
            </a:r>
            <a:r>
              <a:rPr lang="en-US" sz="1400" b="0" i="0" u="none" strike="noStrike">
                <a:solidFill>
                  <a:srgbClr val="FFFFFF"/>
                </a:solidFill>
                <a:latin typeface="Noto Sans SC"/>
                <a:ea typeface="Noto Sans SC"/>
                <a:cs typeface="Noto Sans SC"/>
                <a:sym typeface="Noto Sans SC"/>
              </a:rPr>
              <a:t>内，数据同步无延迟</a:t>
            </a:r>
          </a:p>
        </p:txBody>
      </p:sp>
      <p:sp>
        <p:nvSpPr>
          <p:cNvPr id="11" name="AutoShape 11"/>
          <p:cNvSpPr/>
          <p:nvPr/>
        </p:nvSpPr>
        <p:spPr>
          <a:xfrm>
            <a:off x="6350000" y="1651000"/>
            <a:ext cx="5080000" cy="3302000"/>
          </a:xfrm>
          <a:prstGeom prst="roundRect">
            <a:avLst>
              <a:gd name="adj" fmla="val 3846"/>
            </a:avLst>
          </a:prstGeom>
          <a:solidFill>
            <a:srgbClr val="FFFFFF">
              <a:alpha val="5000"/>
            </a:srgbClr>
          </a:solidFill>
          <a:ln w="12700" cap="flat" cmpd="sng">
            <a:solidFill>
              <a:srgbClr val="40E0D0">
                <a:alpha val="30000"/>
              </a:srgbClr>
            </a:solidFill>
            <a:prstDash val="solid"/>
            <a:round/>
          </a:ln>
        </p:spPr>
        <p:txBody>
          <a:bodyPr vert="horz" wrap="square" lIns="63500" tIns="63500" rIns="63500" bIns="63500" rtlCol="0" anchor="ctr"/>
          <a:lstStyle/>
          <a:p>
            <a:pPr algn="ctr">
              <a:defRPr/>
            </a:pPr>
            <a:endParaRPr/>
          </a:p>
        </p:txBody>
      </p:sp>
      <p:pic>
        <p:nvPicPr>
          <p:cNvPr id="12" name="Picture 1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604000" y="1905000"/>
            <a:ext cx="406400" cy="406400"/>
          </a:xfrm>
          <a:prstGeom prst="rect">
            <a:avLst/>
          </a:prstGeom>
        </p:spPr>
      </p:pic>
      <p:sp>
        <p:nvSpPr>
          <p:cNvPr id="13" name="AutoShape 13"/>
          <p:cNvSpPr/>
          <p:nvPr/>
        </p:nvSpPr>
        <p:spPr>
          <a:xfrm>
            <a:off x="7112000" y="1879600"/>
            <a:ext cx="4191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40E0D0"/>
                </a:solidFill>
                <a:latin typeface="Noto Sans SC"/>
                <a:ea typeface="Noto Sans SC"/>
                <a:cs typeface="Noto Sans SC"/>
                <a:sym typeface="Noto Sans SC"/>
              </a:rPr>
              <a:t>评分准确性与合理性测试</a:t>
            </a:r>
            <a:endParaRPr lang="en-US" sz="1100"/>
          </a:p>
        </p:txBody>
      </p:sp>
      <p:sp>
        <p:nvSpPr>
          <p:cNvPr id="14" name="AutoShape 14"/>
          <p:cNvSpPr/>
          <p:nvPr/>
        </p:nvSpPr>
        <p:spPr>
          <a:xfrm>
            <a:off x="6604000" y="2413000"/>
            <a:ext cx="4572000" cy="762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400" b="0" i="0" u="none" strike="noStrike">
                <a:solidFill>
                  <a:srgbClr val="C8C8C8"/>
                </a:solidFill>
                <a:latin typeface="Noto Sans SC"/>
                <a:ea typeface="Noto Sans SC"/>
                <a:cs typeface="Noto Sans SC"/>
                <a:sym typeface="Noto Sans SC"/>
              </a:rPr>
              <a:t>在不同路段、交通状态、气象条件下对比系统评分与人工评估，验证算法模型的鲁棒性。</a:t>
            </a:r>
            <a:endParaRPr lang="en-US" sz="1100"/>
          </a:p>
        </p:txBody>
      </p:sp>
      <p:cxnSp>
        <p:nvCxnSpPr>
          <p:cNvPr id="15" name="Connector 15"/>
          <p:cNvCxnSpPr/>
          <p:nvPr/>
        </p:nvCxnSpPr>
        <p:spPr>
          <a:xfrm rot="-9549">
            <a:off x="6604009" y="3295650"/>
            <a:ext cx="4572000" cy="12700"/>
          </a:xfrm>
          <a:prstGeom prst="line">
            <a:avLst/>
          </a:prstGeom>
          <a:solidFill>
            <a:srgbClr val="DEE0E3">
              <a:alpha val="100000"/>
            </a:srgbClr>
          </a:solidFill>
          <a:ln w="12700" cap="flat" cmpd="sng">
            <a:solidFill>
              <a:srgbClr val="FFFFFF">
                <a:alpha val="10000"/>
              </a:srgbClr>
            </a:solidFill>
            <a:prstDash val="dash"/>
            <a:round/>
            <a:headEnd type="none" w="med" len="med"/>
            <a:tailEnd type="none" w="med" len="med"/>
          </a:ln>
        </p:spPr>
      </p:cxnSp>
      <p:sp>
        <p:nvSpPr>
          <p:cNvPr id="16" name="AutoShape 16"/>
          <p:cNvSpPr/>
          <p:nvPr/>
        </p:nvSpPr>
        <p:spPr>
          <a:xfrm>
            <a:off x="6604000" y="3492500"/>
            <a:ext cx="4572000" cy="1016000"/>
          </a:xfrm>
          <a:prstGeom prst="rect">
            <a:avLst/>
          </a:prstGeom>
          <a:noFill/>
          <a:ln w="12700" cap="flat" cmpd="sng">
            <a:noFill/>
            <a:prstDash val="solid"/>
            <a:round/>
          </a:ln>
        </p:spPr>
        <p:txBody>
          <a:bodyPr vert="horz" wrap="square" lIns="0" tIns="0" rIns="0" bIns="0" rtlCol="0" anchor="ctr" anchorCtr="0"/>
          <a:lstStyle/>
          <a:p>
            <a:pPr indent="0" algn="l">
              <a:lnSpc>
                <a:spcPct val="116666"/>
              </a:lnSpc>
              <a:defRPr/>
            </a:pPr>
            <a:r>
              <a:rPr lang="en-US" sz="1400" b="0" i="0" u="none" strike="noStrike">
                <a:solidFill>
                  <a:srgbClr val="FFFFFF"/>
                </a:solidFill>
                <a:latin typeface="Noto Sans SC"/>
                <a:ea typeface="Noto Sans SC"/>
                <a:cs typeface="Noto Sans SC"/>
                <a:sym typeface="Noto Sans SC"/>
              </a:rPr>
              <a:t>100个测试场景一致性达</a:t>
            </a:r>
            <a:r>
              <a:rPr lang="en-US" sz="2400" b="1" i="0" u="none" strike="noStrike">
                <a:solidFill>
                  <a:srgbClr val="40E0D0"/>
                </a:solidFill>
                <a:latin typeface="Noto Sans SC"/>
                <a:ea typeface="Noto Sans SC"/>
                <a:cs typeface="Noto Sans SC"/>
                <a:sym typeface="Noto Sans SC"/>
              </a:rPr>
              <a:t>98%</a:t>
            </a:r>
            <a:endParaRPr lang="en-US" sz="1100"/>
          </a:p>
          <a:p>
            <a:pPr indent="0" algn="l">
              <a:lnSpc>
                <a:spcPct val="116666"/>
              </a:lnSpc>
            </a:pPr>
            <a:r>
              <a:rPr lang="en-US" sz="1400" b="0" i="0" u="none" strike="noStrike">
                <a:solidFill>
                  <a:srgbClr val="FFFFFF"/>
                </a:solidFill>
                <a:latin typeface="Noto Sans SC"/>
                <a:ea typeface="Noto Sans SC"/>
                <a:cs typeface="Noto Sans SC"/>
                <a:sym typeface="Noto Sans SC"/>
              </a:rPr>
              <a:t>评分结果精准合理，符合实际路况特征</a:t>
            </a:r>
          </a:p>
        </p:txBody>
      </p:sp>
      <p:sp>
        <p:nvSpPr>
          <p:cNvPr id="17" name="AutoShape 17"/>
          <p:cNvSpPr/>
          <p:nvPr/>
        </p:nvSpPr>
        <p:spPr>
          <a:xfrm>
            <a:off x="0" y="6781800"/>
            <a:ext cx="12192000" cy="76200"/>
          </a:xfrm>
          <a:prstGeom prst="roundRect">
            <a:avLst>
              <a:gd name="adj" fmla="val 0"/>
            </a:avLst>
          </a:prstGeom>
          <a:gradFill rotWithShape="1">
            <a:gsLst>
              <a:gs pos="0">
                <a:srgbClr val="00A9E0">
                  <a:alpha val="100000"/>
                </a:srgbClr>
              </a:gs>
              <a:gs pos="100000">
                <a:srgbClr val="40E0D0">
                  <a:alpha val="100000"/>
                </a:srgbClr>
              </a:gs>
            </a:gsLst>
            <a:lin ang="0"/>
          </a:gradFill>
          <a:ln w="25400" cap="flat" cmpd="sng">
            <a:noFill/>
            <a:prstDash val="solid"/>
            <a:round/>
          </a:ln>
        </p:spPr>
        <p:txBody>
          <a:bodyPr vert="horz" wrap="square" lIns="63500" tIns="63500" rIns="63500" bIns="63500" rtlCol="0" anchor="ctr"/>
          <a:lstStyle/>
          <a:p>
            <a:pPr algn="ctr">
              <a:defRPr/>
            </a:pP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C1BB10D8-5AC3-B826-D5BC-0C055C652080}"/>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37738378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62E59EDD-1639-FD0A-4C7F-5D5D4D78CF70}"/>
              </a:ext>
            </a:extLst>
          </p:cNvPr>
          <p:cNvPicPr>
            <a:picLocks noChangeAspect="1"/>
          </p:cNvPicPr>
          <p:nvPr/>
        </p:nvPicPr>
        <p:blipFill>
          <a:blip r:embed="rId2"/>
          <a:stretch>
            <a:fillRect/>
          </a:stretch>
        </p:blipFill>
        <p:spPr>
          <a:xfrm>
            <a:off x="0" y="0"/>
            <a:ext cx="12371294" cy="6858000"/>
          </a:xfrm>
          <a:prstGeom prst="rect">
            <a:avLst/>
          </a:prstGeom>
        </p:spPr>
      </p:pic>
    </p:spTree>
    <p:extLst>
      <p:ext uri="{BB962C8B-B14F-4D97-AF65-F5344CB8AC3E}">
        <p14:creationId xmlns:p14="http://schemas.microsoft.com/office/powerpoint/2010/main" val="300439937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141414">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l="1111" r="1111"/>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0A141E">
              <a:alpha val="85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762000" y="1016000"/>
            <a:ext cx="55372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FFFFFF"/>
                </a:solidFill>
                <a:latin typeface="Noto Sans SC"/>
                <a:ea typeface="Noto Sans SC"/>
                <a:cs typeface="Noto Sans SC"/>
                <a:sym typeface="Noto Sans SC"/>
              </a:rPr>
              <a:t>实验内容与结果（二）</a:t>
            </a:r>
            <a:endParaRPr lang="en-US" sz="1100"/>
          </a:p>
        </p:txBody>
      </p:sp>
      <p:sp>
        <p:nvSpPr>
          <p:cNvPr id="5" name="AutoShape 5"/>
          <p:cNvSpPr/>
          <p:nvPr/>
        </p:nvSpPr>
        <p:spPr>
          <a:xfrm>
            <a:off x="762000" y="2032000"/>
            <a:ext cx="5080000" cy="3302000"/>
          </a:xfrm>
          <a:prstGeom prst="roundRect">
            <a:avLst>
              <a:gd name="adj" fmla="val 3846"/>
            </a:avLst>
          </a:prstGeom>
          <a:solidFill>
            <a:srgbClr val="FFFFFF">
              <a:alpha val="5000"/>
            </a:srgbClr>
          </a:solidFill>
          <a:ln w="12700" cap="flat" cmpd="sng">
            <a:solidFill>
              <a:srgbClr val="00A9E0">
                <a:alpha val="30000"/>
              </a:srgbClr>
            </a:solid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762000" y="2032000"/>
            <a:ext cx="5080000" cy="609600"/>
          </a:xfrm>
          <a:prstGeom prst="roundRect">
            <a:avLst>
              <a:gd name="adj" fmla="val 20833"/>
            </a:avLst>
          </a:prstGeom>
          <a:gradFill rotWithShape="1">
            <a:gsLst>
              <a:gs pos="0">
                <a:srgbClr val="00A9E0">
                  <a:alpha val="20000"/>
                </a:srgbClr>
              </a:gs>
              <a:gs pos="100000">
                <a:srgbClr val="00A9E0">
                  <a:alpha val="0"/>
                </a:srgbClr>
              </a:gs>
            </a:gsLst>
            <a:lin ang="0"/>
          </a:gradFill>
          <a:ln w="25400" cap="flat" cmpd="sng">
            <a:noFill/>
            <a:prstDash val="solid"/>
            <a:round/>
          </a:ln>
        </p:spPr>
        <p:txBody>
          <a:bodyPr vert="horz" wrap="square" lIns="63500" tIns="63500" rIns="63500" bIns="63500" rtlCol="0" anchor="ctr"/>
          <a:lstStyle/>
          <a:p>
            <a:pPr algn="ctr">
              <a:defRPr/>
            </a:pPr>
            <a:endParaRPr/>
          </a:p>
        </p:txBody>
      </p:sp>
      <p:pic>
        <p:nvPicPr>
          <p:cNvPr id="7" name="Picture 7"/>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52500" y="2184400"/>
            <a:ext cx="304800" cy="304800"/>
          </a:xfrm>
          <a:prstGeom prst="rect">
            <a:avLst/>
          </a:prstGeom>
        </p:spPr>
      </p:pic>
      <p:sp>
        <p:nvSpPr>
          <p:cNvPr id="8" name="AutoShape 8"/>
          <p:cNvSpPr/>
          <p:nvPr/>
        </p:nvSpPr>
        <p:spPr>
          <a:xfrm>
            <a:off x="1333500" y="2146300"/>
            <a:ext cx="431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Noto Sans SC"/>
                <a:ea typeface="Noto Sans SC"/>
                <a:cs typeface="Noto Sans SC"/>
                <a:sym typeface="Noto Sans SC"/>
              </a:rPr>
              <a:t>实验3：系统稳定性与容错性测试</a:t>
            </a:r>
            <a:endParaRPr lang="en-US" sz="1100"/>
          </a:p>
        </p:txBody>
      </p:sp>
      <p:sp>
        <p:nvSpPr>
          <p:cNvPr id="9" name="AutoShape 9"/>
          <p:cNvSpPr/>
          <p:nvPr/>
        </p:nvSpPr>
        <p:spPr>
          <a:xfrm>
            <a:off x="952500" y="2794000"/>
            <a:ext cx="4699000" cy="762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400" b="1" i="0" u="none" strike="noStrike">
                <a:solidFill>
                  <a:srgbClr val="FFFFFF">
                    <a:alpha val="70196"/>
                  </a:srgbClr>
                </a:solidFill>
                <a:latin typeface="Noto Sans SC"/>
                <a:ea typeface="Noto Sans SC"/>
                <a:cs typeface="Noto Sans SC"/>
                <a:sym typeface="Noto Sans SC"/>
              </a:rPr>
              <a:t>测试内容：</a:t>
            </a:r>
            <a:r>
              <a:rPr lang="en-US" sz="1400" b="0" i="0" u="none" strike="noStrike">
                <a:solidFill>
                  <a:srgbClr val="FFFFFF">
                    <a:alpha val="70196"/>
                  </a:srgbClr>
                </a:solidFill>
                <a:latin typeface="Noto Sans SC"/>
                <a:ea typeface="Noto Sans SC"/>
                <a:cs typeface="Noto Sans SC"/>
                <a:sym typeface="Noto Sans SC"/>
              </a:rPr>
              <a:t>连续运行24小时，模拟API异常、网络波动等极端情况，验证系统自愈能力。</a:t>
            </a:r>
            <a:endParaRPr lang="en-US" sz="1100"/>
          </a:p>
        </p:txBody>
      </p:sp>
      <p:sp>
        <p:nvSpPr>
          <p:cNvPr id="10" name="AutoShape 10"/>
          <p:cNvSpPr/>
          <p:nvPr/>
        </p:nvSpPr>
        <p:spPr>
          <a:xfrm>
            <a:off x="952500" y="3683000"/>
            <a:ext cx="4699000" cy="1016000"/>
          </a:xfrm>
          <a:prstGeom prst="roundRect">
            <a:avLst>
              <a:gd name="adj" fmla="val 6250"/>
            </a:avLst>
          </a:prstGeom>
          <a:solidFill>
            <a:srgbClr val="00A9E0">
              <a:alpha val="10000"/>
            </a:srgbClr>
          </a:solidFill>
          <a:ln w="25400" cap="flat" cmpd="sng">
            <a:noFill/>
            <a:prstDash val="solid"/>
            <a:round/>
          </a:ln>
        </p:spPr>
        <p:txBody>
          <a:bodyPr vert="horz" wrap="square" lIns="63500" tIns="63500" rIns="63500" bIns="63500" rtlCol="0" anchor="ctr"/>
          <a:lstStyle/>
          <a:p>
            <a:pPr algn="ctr">
              <a:defRPr/>
            </a:pPr>
            <a:endParaRPr/>
          </a:p>
        </p:txBody>
      </p:sp>
      <p:sp>
        <p:nvSpPr>
          <p:cNvPr id="11" name="AutoShape 11"/>
          <p:cNvSpPr/>
          <p:nvPr/>
        </p:nvSpPr>
        <p:spPr>
          <a:xfrm>
            <a:off x="1079500" y="3746500"/>
            <a:ext cx="4445000" cy="889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400" b="1" i="0" u="none" strike="noStrike">
                <a:solidFill>
                  <a:srgbClr val="00A9E0"/>
                </a:solidFill>
                <a:latin typeface="Noto Sans SC"/>
                <a:ea typeface="Noto Sans SC"/>
                <a:cs typeface="Noto Sans SC"/>
                <a:sym typeface="Noto Sans SC"/>
              </a:rPr>
              <a:t>测试结果：</a:t>
            </a:r>
            <a:endParaRPr lang="en-US" sz="1100"/>
          </a:p>
          <a:p>
            <a:pPr indent="0" algn="l">
              <a:lnSpc>
                <a:spcPct val="108333"/>
              </a:lnSpc>
            </a:pPr>
            <a:r>
              <a:rPr lang="en-US" sz="1400" b="0" i="0" u="none" strike="noStrike">
                <a:solidFill>
                  <a:srgbClr val="FFFFFF"/>
                </a:solidFill>
                <a:latin typeface="Noto Sans SC"/>
                <a:ea typeface="Noto Sans SC"/>
                <a:cs typeface="Noto Sans SC"/>
                <a:sym typeface="Noto Sans SC"/>
              </a:rPr>
              <a:t>• 24小时无中断，异常自动恢复时间</a:t>
            </a:r>
            <a:r>
              <a:rPr lang="en-US" sz="1600" b="1" i="0" u="none" strike="noStrike">
                <a:solidFill>
                  <a:srgbClr val="FF8C00"/>
                </a:solidFill>
                <a:latin typeface="Noto Sans SC"/>
                <a:ea typeface="Noto Sans SC"/>
                <a:cs typeface="Noto Sans SC"/>
                <a:sym typeface="Noto Sans SC"/>
              </a:rPr>
              <a:t>≤1秒</a:t>
            </a:r>
          </a:p>
          <a:p>
            <a:pPr indent="0" algn="l">
              <a:lnSpc>
                <a:spcPct val="108333"/>
              </a:lnSpc>
            </a:pPr>
            <a:r>
              <a:rPr lang="en-US" sz="1400" b="0" i="0" u="none" strike="noStrike">
                <a:solidFill>
                  <a:srgbClr val="FFFFFF"/>
                </a:solidFill>
                <a:latin typeface="Noto Sans SC"/>
                <a:ea typeface="Noto Sans SC"/>
                <a:cs typeface="Noto Sans SC"/>
                <a:sym typeface="Noto Sans SC"/>
              </a:rPr>
              <a:t>• 系统表现出优异的高可用性与鲁棒性</a:t>
            </a:r>
          </a:p>
        </p:txBody>
      </p:sp>
      <p:sp>
        <p:nvSpPr>
          <p:cNvPr id="12" name="AutoShape 12"/>
          <p:cNvSpPr/>
          <p:nvPr/>
        </p:nvSpPr>
        <p:spPr>
          <a:xfrm>
            <a:off x="6350000" y="2032000"/>
            <a:ext cx="5080000" cy="3302000"/>
          </a:xfrm>
          <a:prstGeom prst="roundRect">
            <a:avLst>
              <a:gd name="adj" fmla="val 3846"/>
            </a:avLst>
          </a:prstGeom>
          <a:solidFill>
            <a:srgbClr val="FFFFFF">
              <a:alpha val="5000"/>
            </a:srgbClr>
          </a:solidFill>
          <a:ln w="12700" cap="flat" cmpd="sng">
            <a:solidFill>
              <a:srgbClr val="40E0D0">
                <a:alpha val="30000"/>
              </a:srgbClr>
            </a:solidFill>
            <a:prstDash val="solid"/>
            <a:round/>
          </a:ln>
        </p:spPr>
        <p:txBody>
          <a:bodyPr vert="horz" wrap="square" lIns="63500" tIns="63500" rIns="63500" bIns="63500" rtlCol="0" anchor="ctr"/>
          <a:lstStyle/>
          <a:p>
            <a:pPr algn="ctr">
              <a:defRPr/>
            </a:pPr>
            <a:endParaRPr/>
          </a:p>
        </p:txBody>
      </p:sp>
      <p:sp>
        <p:nvSpPr>
          <p:cNvPr id="13" name="AutoShape 13"/>
          <p:cNvSpPr/>
          <p:nvPr/>
        </p:nvSpPr>
        <p:spPr>
          <a:xfrm>
            <a:off x="6350000" y="2032000"/>
            <a:ext cx="5080000" cy="609600"/>
          </a:xfrm>
          <a:prstGeom prst="roundRect">
            <a:avLst>
              <a:gd name="adj" fmla="val 20833"/>
            </a:avLst>
          </a:prstGeom>
          <a:gradFill rotWithShape="1">
            <a:gsLst>
              <a:gs pos="0">
                <a:srgbClr val="40E0D0">
                  <a:alpha val="20000"/>
                </a:srgbClr>
              </a:gs>
              <a:gs pos="100000">
                <a:srgbClr val="40E0D0">
                  <a:alpha val="0"/>
                </a:srgbClr>
              </a:gs>
            </a:gsLst>
            <a:lin ang="0"/>
          </a:gradFill>
          <a:ln w="25400" cap="flat" cmpd="sng">
            <a:noFill/>
            <a:prstDash val="solid"/>
            <a:round/>
          </a:ln>
        </p:spPr>
        <p:txBody>
          <a:bodyPr vert="horz" wrap="square" lIns="63500" tIns="63500" rIns="63500" bIns="63500" rtlCol="0" anchor="ctr"/>
          <a:lstStyle/>
          <a:p>
            <a:pPr algn="ctr">
              <a:defRPr/>
            </a:pPr>
            <a:endParaRPr/>
          </a:p>
        </p:txBody>
      </p:sp>
      <p:pic>
        <p:nvPicPr>
          <p:cNvPr id="14" name="Picture 1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540500" y="2184400"/>
            <a:ext cx="304800" cy="304800"/>
          </a:xfrm>
          <a:prstGeom prst="rect">
            <a:avLst/>
          </a:prstGeom>
        </p:spPr>
      </p:pic>
      <p:sp>
        <p:nvSpPr>
          <p:cNvPr id="15" name="AutoShape 15"/>
          <p:cNvSpPr/>
          <p:nvPr/>
        </p:nvSpPr>
        <p:spPr>
          <a:xfrm>
            <a:off x="6921500" y="2146300"/>
            <a:ext cx="431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Noto Sans SC"/>
                <a:ea typeface="Noto Sans SC"/>
                <a:cs typeface="Noto Sans SC"/>
                <a:sym typeface="Noto Sans SC"/>
              </a:rPr>
              <a:t>实验4：交互功能与可视化测试</a:t>
            </a:r>
            <a:endParaRPr lang="en-US" sz="1100"/>
          </a:p>
        </p:txBody>
      </p:sp>
      <p:sp>
        <p:nvSpPr>
          <p:cNvPr id="16" name="AutoShape 16"/>
          <p:cNvSpPr/>
          <p:nvPr/>
        </p:nvSpPr>
        <p:spPr>
          <a:xfrm>
            <a:off x="6540500" y="2794000"/>
            <a:ext cx="4699000" cy="762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400" b="1" i="0" u="none" strike="noStrike">
                <a:solidFill>
                  <a:srgbClr val="FFFFFF">
                    <a:alpha val="70196"/>
                  </a:srgbClr>
                </a:solidFill>
                <a:latin typeface="Noto Sans SC"/>
                <a:ea typeface="Noto Sans SC"/>
                <a:cs typeface="Noto Sans SC"/>
                <a:sym typeface="Noto Sans SC"/>
              </a:rPr>
              <a:t>测试内容：</a:t>
            </a:r>
            <a:r>
              <a:rPr lang="en-US" sz="1400" b="0" i="0" u="none" strike="noStrike">
                <a:solidFill>
                  <a:srgbClr val="FFFFFF">
                    <a:alpha val="70196"/>
                  </a:srgbClr>
                </a:solidFill>
                <a:latin typeface="Noto Sans SC"/>
                <a:ea typeface="Noto Sans SC"/>
                <a:cs typeface="Noto Sans SC"/>
                <a:sym typeface="Noto Sans SC"/>
              </a:rPr>
              <a:t>全链路测试定位精度、点击查询响应速度及数据详情可视化展示的流畅性。</a:t>
            </a:r>
            <a:endParaRPr lang="en-US" sz="1100"/>
          </a:p>
        </p:txBody>
      </p:sp>
      <p:sp>
        <p:nvSpPr>
          <p:cNvPr id="17" name="AutoShape 17"/>
          <p:cNvSpPr/>
          <p:nvPr/>
        </p:nvSpPr>
        <p:spPr>
          <a:xfrm>
            <a:off x="6540500" y="3683000"/>
            <a:ext cx="4699000" cy="1016000"/>
          </a:xfrm>
          <a:prstGeom prst="roundRect">
            <a:avLst>
              <a:gd name="adj" fmla="val 6250"/>
            </a:avLst>
          </a:prstGeom>
          <a:solidFill>
            <a:srgbClr val="40E0D0">
              <a:alpha val="10000"/>
            </a:srgbClr>
          </a:solidFill>
          <a:ln w="25400" cap="flat" cmpd="sng">
            <a:noFill/>
            <a:prstDash val="solid"/>
            <a:round/>
          </a:ln>
        </p:spPr>
        <p:txBody>
          <a:bodyPr vert="horz" wrap="square" lIns="63500" tIns="63500" rIns="63500" bIns="63500" rtlCol="0" anchor="ctr"/>
          <a:lstStyle/>
          <a:p>
            <a:pPr algn="ctr">
              <a:defRPr/>
            </a:pPr>
            <a:endParaRPr/>
          </a:p>
        </p:txBody>
      </p:sp>
      <p:sp>
        <p:nvSpPr>
          <p:cNvPr id="18" name="AutoShape 18"/>
          <p:cNvSpPr/>
          <p:nvPr/>
        </p:nvSpPr>
        <p:spPr>
          <a:xfrm>
            <a:off x="6667500" y="3746500"/>
            <a:ext cx="4445000" cy="889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400" b="1" i="0" u="none" strike="noStrike">
                <a:solidFill>
                  <a:srgbClr val="40E0D0"/>
                </a:solidFill>
                <a:latin typeface="Noto Sans SC"/>
                <a:ea typeface="Noto Sans SC"/>
                <a:cs typeface="Noto Sans SC"/>
                <a:sym typeface="Noto Sans SC"/>
              </a:rPr>
              <a:t>测试结果：</a:t>
            </a:r>
            <a:endParaRPr lang="en-US" sz="1100"/>
          </a:p>
          <a:p>
            <a:pPr indent="0" algn="l">
              <a:lnSpc>
                <a:spcPct val="108333"/>
              </a:lnSpc>
            </a:pPr>
            <a:r>
              <a:rPr lang="en-US" sz="1400" b="0" i="0" u="none" strike="noStrike">
                <a:solidFill>
                  <a:srgbClr val="FFFFFF"/>
                </a:solidFill>
                <a:latin typeface="Noto Sans SC"/>
                <a:ea typeface="Noto Sans SC"/>
                <a:cs typeface="Noto Sans SC"/>
                <a:sym typeface="Noto Sans SC"/>
              </a:rPr>
              <a:t>• 功能操作零卡顿，定位精度</a:t>
            </a:r>
            <a:r>
              <a:rPr lang="en-US" sz="1600" b="1" i="0" u="none" strike="noStrike">
                <a:solidFill>
                  <a:srgbClr val="FF8C00"/>
                </a:solidFill>
                <a:latin typeface="Noto Sans SC"/>
                <a:ea typeface="Noto Sans SC"/>
                <a:cs typeface="Noto Sans SC"/>
                <a:sym typeface="Noto Sans SC"/>
              </a:rPr>
              <a:t>≤20米</a:t>
            </a:r>
          </a:p>
          <a:p>
            <a:pPr indent="0" algn="l">
              <a:lnSpc>
                <a:spcPct val="108333"/>
              </a:lnSpc>
            </a:pPr>
            <a:r>
              <a:rPr lang="en-US" sz="1400" b="0" i="0" u="none" strike="noStrike">
                <a:solidFill>
                  <a:srgbClr val="FFFFFF"/>
                </a:solidFill>
                <a:latin typeface="Noto Sans SC"/>
                <a:ea typeface="Noto Sans SC"/>
                <a:cs typeface="Noto Sans SC"/>
                <a:sym typeface="Noto Sans SC"/>
              </a:rPr>
              <a:t>• 数据可视化渲染高效，用户交互体验极佳</a:t>
            </a:r>
          </a:p>
        </p:txBody>
      </p:sp>
      <p:sp>
        <p:nvSpPr>
          <p:cNvPr id="19" name="AutoShape 19"/>
          <p:cNvSpPr/>
          <p:nvPr/>
        </p:nvSpPr>
        <p:spPr>
          <a:xfrm>
            <a:off x="762000" y="5715000"/>
            <a:ext cx="10668000" cy="25400"/>
          </a:xfrm>
          <a:prstGeom prst="roundRect">
            <a:avLst>
              <a:gd name="adj" fmla="val 0"/>
            </a:avLst>
          </a:prstGeom>
          <a:gradFill rotWithShape="1">
            <a:gsLst>
              <a:gs pos="0">
                <a:srgbClr val="00A9E0">
                  <a:alpha val="0"/>
                </a:srgbClr>
              </a:gs>
              <a:gs pos="50000">
                <a:srgbClr val="00A9E0">
                  <a:alpha val="50000"/>
                </a:srgbClr>
              </a:gs>
              <a:gs pos="100000">
                <a:srgbClr val="00A9E0">
                  <a:alpha val="0"/>
                </a:srgbClr>
              </a:gs>
            </a:gsLst>
            <a:lin ang="0"/>
          </a:gradFill>
          <a:ln w="25400" cap="flat" cmpd="sng">
            <a:noFill/>
            <a:prstDash val="solid"/>
            <a:round/>
          </a:ln>
        </p:spPr>
        <p:txBody>
          <a:bodyPr vert="horz" wrap="square" lIns="63500" tIns="63500" rIns="63500" bIns="63500" rtlCol="0" anchor="ctr"/>
          <a:lstStyle/>
          <a:p>
            <a:pPr algn="ctr">
              <a:defRPr/>
            </a:pP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1E1E1E">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l="1111" r="1111"/>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14191E">
              <a:alpha val="85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762000" y="1016000"/>
            <a:ext cx="201168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FFFFFF"/>
                </a:solidFill>
                <a:latin typeface="Noto Sans SC"/>
                <a:ea typeface="Noto Sans SC"/>
                <a:cs typeface="Noto Sans SC"/>
                <a:sym typeface="Noto Sans SC"/>
              </a:rPr>
              <a:t>实验结论</a:t>
            </a:r>
            <a:endParaRPr lang="en-US" sz="1100"/>
          </a:p>
        </p:txBody>
      </p:sp>
      <p:sp>
        <p:nvSpPr>
          <p:cNvPr id="5" name="AutoShape 5"/>
          <p:cNvSpPr/>
          <p:nvPr/>
        </p:nvSpPr>
        <p:spPr>
          <a:xfrm>
            <a:off x="762000" y="1714500"/>
            <a:ext cx="762000" cy="50800"/>
          </a:xfrm>
          <a:prstGeom prst="roundRect">
            <a:avLst>
              <a:gd name="adj" fmla="val 0"/>
            </a:avLst>
          </a:prstGeom>
          <a:solidFill>
            <a:srgbClr val="00A9E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762000" y="2159000"/>
            <a:ext cx="5080000" cy="1016000"/>
          </a:xfrm>
          <a:prstGeom prst="roundRect">
            <a:avLst>
              <a:gd name="adj" fmla="val 12500"/>
            </a:avLst>
          </a:prstGeom>
          <a:solidFill>
            <a:srgbClr val="FFFFFF">
              <a:alpha val="5000"/>
            </a:srgbClr>
          </a:solidFill>
          <a:ln w="12700" cap="flat" cmpd="sng">
            <a:solidFill>
              <a:srgbClr val="00A9E0">
                <a:alpha val="30000"/>
              </a:srgbClr>
            </a:solidFill>
            <a:prstDash val="solid"/>
            <a:round/>
          </a:ln>
        </p:spPr>
        <p:txBody>
          <a:bodyPr vert="horz" wrap="square" lIns="63500" tIns="63500" rIns="63500" bIns="63500" rtlCol="0" anchor="ctr"/>
          <a:lstStyle/>
          <a:p>
            <a:pPr algn="ctr">
              <a:defRPr/>
            </a:pPr>
            <a:endParaRPr/>
          </a:p>
        </p:txBody>
      </p:sp>
      <p:pic>
        <p:nvPicPr>
          <p:cNvPr id="7" name="Picture 7"/>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2463800"/>
            <a:ext cx="406400" cy="406400"/>
          </a:xfrm>
          <a:prstGeom prst="rect">
            <a:avLst/>
          </a:prstGeom>
        </p:spPr>
      </p:pic>
      <p:sp>
        <p:nvSpPr>
          <p:cNvPr id="8" name="AutoShape 8"/>
          <p:cNvSpPr/>
          <p:nvPr/>
        </p:nvSpPr>
        <p:spPr>
          <a:xfrm>
            <a:off x="1587500" y="2311400"/>
            <a:ext cx="381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Noto Sans SC"/>
                <a:ea typeface="Noto Sans SC"/>
                <a:cs typeface="Noto Sans SC"/>
                <a:sym typeface="Noto Sans SC"/>
              </a:rPr>
              <a:t>实时数据采集</a:t>
            </a:r>
            <a:endParaRPr lang="en-US" sz="1100"/>
          </a:p>
        </p:txBody>
      </p:sp>
      <p:sp>
        <p:nvSpPr>
          <p:cNvPr id="9" name="AutoShape 9"/>
          <p:cNvSpPr/>
          <p:nvPr/>
        </p:nvSpPr>
        <p:spPr>
          <a:xfrm>
            <a:off x="1587500" y="2692400"/>
            <a:ext cx="3810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FFFFFF">
                    <a:alpha val="70196"/>
                  </a:srgbClr>
                </a:solidFill>
                <a:latin typeface="Noto Sans SC"/>
                <a:ea typeface="Noto Sans SC"/>
                <a:cs typeface="Noto Sans SC"/>
                <a:sym typeface="Noto Sans SC"/>
              </a:rPr>
              <a:t>毫秒级响应，确保驾驶状态无延迟监测</a:t>
            </a:r>
            <a:endParaRPr lang="en-US" sz="1100"/>
          </a:p>
        </p:txBody>
      </p:sp>
      <p:sp>
        <p:nvSpPr>
          <p:cNvPr id="10" name="AutoShape 10"/>
          <p:cNvSpPr/>
          <p:nvPr/>
        </p:nvSpPr>
        <p:spPr>
          <a:xfrm>
            <a:off x="6350000" y="2159000"/>
            <a:ext cx="5080000" cy="1016000"/>
          </a:xfrm>
          <a:prstGeom prst="roundRect">
            <a:avLst>
              <a:gd name="adj" fmla="val 12500"/>
            </a:avLst>
          </a:prstGeom>
          <a:solidFill>
            <a:srgbClr val="FFFFFF">
              <a:alpha val="5000"/>
            </a:srgbClr>
          </a:solidFill>
          <a:ln w="12700" cap="flat" cmpd="sng">
            <a:solidFill>
              <a:srgbClr val="00A9E0">
                <a:alpha val="30000"/>
              </a:srgbClr>
            </a:solidFill>
            <a:prstDash val="solid"/>
            <a:round/>
          </a:ln>
        </p:spPr>
        <p:txBody>
          <a:bodyPr vert="horz" wrap="square" lIns="63500" tIns="63500" rIns="63500" bIns="63500" rtlCol="0" anchor="ctr"/>
          <a:lstStyle/>
          <a:p>
            <a:pPr algn="ctr">
              <a:defRPr/>
            </a:pPr>
            <a:endParaRPr/>
          </a:p>
        </p:txBody>
      </p:sp>
      <p:pic>
        <p:nvPicPr>
          <p:cNvPr id="11" name="Picture 11"/>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604000" y="2463800"/>
            <a:ext cx="406400" cy="406400"/>
          </a:xfrm>
          <a:prstGeom prst="rect">
            <a:avLst/>
          </a:prstGeom>
        </p:spPr>
      </p:pic>
      <p:sp>
        <p:nvSpPr>
          <p:cNvPr id="12" name="AutoShape 12"/>
          <p:cNvSpPr/>
          <p:nvPr/>
        </p:nvSpPr>
        <p:spPr>
          <a:xfrm>
            <a:off x="7175500" y="2311400"/>
            <a:ext cx="381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Noto Sans SC"/>
                <a:ea typeface="Noto Sans SC"/>
                <a:cs typeface="Noto Sans SC"/>
                <a:sym typeface="Noto Sans SC"/>
              </a:rPr>
              <a:t>评分准确性</a:t>
            </a:r>
            <a:endParaRPr lang="en-US" sz="1100"/>
          </a:p>
        </p:txBody>
      </p:sp>
      <p:sp>
        <p:nvSpPr>
          <p:cNvPr id="13" name="AutoShape 13"/>
          <p:cNvSpPr/>
          <p:nvPr/>
        </p:nvSpPr>
        <p:spPr>
          <a:xfrm>
            <a:off x="7175500" y="2692400"/>
            <a:ext cx="3810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FFFFFF">
                    <a:alpha val="70196"/>
                  </a:srgbClr>
                </a:solidFill>
                <a:latin typeface="Noto Sans SC"/>
                <a:ea typeface="Noto Sans SC"/>
                <a:cs typeface="Noto Sans SC"/>
                <a:sym typeface="Noto Sans SC"/>
              </a:rPr>
              <a:t>算法模型误差率低于1%，符合行业标准</a:t>
            </a:r>
            <a:endParaRPr lang="en-US" sz="1100"/>
          </a:p>
        </p:txBody>
      </p:sp>
      <p:sp>
        <p:nvSpPr>
          <p:cNvPr id="14" name="AutoShape 14"/>
          <p:cNvSpPr/>
          <p:nvPr/>
        </p:nvSpPr>
        <p:spPr>
          <a:xfrm>
            <a:off x="762000" y="3429000"/>
            <a:ext cx="5080000" cy="1016000"/>
          </a:xfrm>
          <a:prstGeom prst="roundRect">
            <a:avLst>
              <a:gd name="adj" fmla="val 12500"/>
            </a:avLst>
          </a:prstGeom>
          <a:solidFill>
            <a:srgbClr val="FFFFFF">
              <a:alpha val="5000"/>
            </a:srgbClr>
          </a:solidFill>
          <a:ln w="12700" cap="flat" cmpd="sng">
            <a:solidFill>
              <a:srgbClr val="00A9E0">
                <a:alpha val="30000"/>
              </a:srgbClr>
            </a:solidFill>
            <a:prstDash val="solid"/>
            <a:round/>
          </a:ln>
        </p:spPr>
        <p:txBody>
          <a:bodyPr vert="horz" wrap="square" lIns="63500" tIns="63500" rIns="63500" bIns="63500" rtlCol="0" anchor="ctr"/>
          <a:lstStyle/>
          <a:p>
            <a:pPr algn="ctr">
              <a:defRPr/>
            </a:pPr>
            <a:endParaRPr/>
          </a:p>
        </p:txBody>
      </p:sp>
      <p:pic>
        <p:nvPicPr>
          <p:cNvPr id="15" name="Picture 1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16000" y="3733800"/>
            <a:ext cx="406400" cy="406400"/>
          </a:xfrm>
          <a:prstGeom prst="rect">
            <a:avLst/>
          </a:prstGeom>
        </p:spPr>
      </p:pic>
      <p:sp>
        <p:nvSpPr>
          <p:cNvPr id="16" name="AutoShape 16"/>
          <p:cNvSpPr/>
          <p:nvPr/>
        </p:nvSpPr>
        <p:spPr>
          <a:xfrm>
            <a:off x="1587500" y="3581400"/>
            <a:ext cx="381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Noto Sans SC"/>
                <a:ea typeface="Noto Sans SC"/>
                <a:cs typeface="Noto Sans SC"/>
                <a:sym typeface="Noto Sans SC"/>
              </a:rPr>
              <a:t>系统稳定性</a:t>
            </a:r>
            <a:endParaRPr lang="en-US" sz="1100"/>
          </a:p>
        </p:txBody>
      </p:sp>
      <p:sp>
        <p:nvSpPr>
          <p:cNvPr id="17" name="AutoShape 17"/>
          <p:cNvSpPr/>
          <p:nvPr/>
        </p:nvSpPr>
        <p:spPr>
          <a:xfrm>
            <a:off x="1587500" y="3962400"/>
            <a:ext cx="3810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FFFFFF">
                    <a:alpha val="70196"/>
                  </a:srgbClr>
                </a:solidFill>
                <a:latin typeface="Noto Sans SC"/>
                <a:ea typeface="Noto Sans SC"/>
                <a:cs typeface="Noto Sans SC"/>
                <a:sym typeface="Noto Sans SC"/>
              </a:rPr>
              <a:t>7x24小时连续运行无宕机，可靠性强</a:t>
            </a:r>
            <a:endParaRPr lang="en-US" sz="1100"/>
          </a:p>
        </p:txBody>
      </p:sp>
      <p:sp>
        <p:nvSpPr>
          <p:cNvPr id="18" name="AutoShape 18"/>
          <p:cNvSpPr/>
          <p:nvPr/>
        </p:nvSpPr>
        <p:spPr>
          <a:xfrm>
            <a:off x="6350000" y="3429000"/>
            <a:ext cx="5080000" cy="1016000"/>
          </a:xfrm>
          <a:prstGeom prst="roundRect">
            <a:avLst>
              <a:gd name="adj" fmla="val 12500"/>
            </a:avLst>
          </a:prstGeom>
          <a:solidFill>
            <a:srgbClr val="FFFFFF">
              <a:alpha val="5000"/>
            </a:srgbClr>
          </a:solidFill>
          <a:ln w="12700" cap="flat" cmpd="sng">
            <a:solidFill>
              <a:srgbClr val="00A9E0">
                <a:alpha val="30000"/>
              </a:srgbClr>
            </a:solidFill>
            <a:prstDash val="solid"/>
            <a:round/>
          </a:ln>
        </p:spPr>
        <p:txBody>
          <a:bodyPr vert="horz" wrap="square" lIns="63500" tIns="63500" rIns="63500" bIns="63500" rtlCol="0" anchor="ctr"/>
          <a:lstStyle/>
          <a:p>
            <a:pPr algn="ctr">
              <a:defRPr/>
            </a:pPr>
            <a:endParaRPr/>
          </a:p>
        </p:txBody>
      </p:sp>
      <p:pic>
        <p:nvPicPr>
          <p:cNvPr id="19" name="Picture 19"/>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604000" y="3733800"/>
            <a:ext cx="406400" cy="406400"/>
          </a:xfrm>
          <a:prstGeom prst="rect">
            <a:avLst/>
          </a:prstGeom>
        </p:spPr>
      </p:pic>
      <p:sp>
        <p:nvSpPr>
          <p:cNvPr id="20" name="AutoShape 20"/>
          <p:cNvSpPr/>
          <p:nvPr/>
        </p:nvSpPr>
        <p:spPr>
          <a:xfrm>
            <a:off x="7175500" y="3581400"/>
            <a:ext cx="381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Noto Sans SC"/>
                <a:ea typeface="Noto Sans SC"/>
                <a:cs typeface="Noto Sans SC"/>
                <a:sym typeface="Noto Sans SC"/>
              </a:rPr>
              <a:t>交互流畅性</a:t>
            </a:r>
            <a:endParaRPr lang="en-US" sz="1100"/>
          </a:p>
        </p:txBody>
      </p:sp>
      <p:sp>
        <p:nvSpPr>
          <p:cNvPr id="21" name="AutoShape 21"/>
          <p:cNvSpPr/>
          <p:nvPr/>
        </p:nvSpPr>
        <p:spPr>
          <a:xfrm>
            <a:off x="7175500" y="3962400"/>
            <a:ext cx="3810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FFFFFF">
                    <a:alpha val="70196"/>
                  </a:srgbClr>
                </a:solidFill>
                <a:latin typeface="Noto Sans SC"/>
                <a:ea typeface="Noto Sans SC"/>
                <a:cs typeface="Noto Sans SC"/>
                <a:sym typeface="Noto Sans SC"/>
              </a:rPr>
              <a:t>操作响应灵敏，界面交互符合人体工学</a:t>
            </a:r>
            <a:endParaRPr lang="en-US" sz="1100"/>
          </a:p>
        </p:txBody>
      </p:sp>
      <p:sp>
        <p:nvSpPr>
          <p:cNvPr id="22" name="AutoShape 22"/>
          <p:cNvSpPr/>
          <p:nvPr/>
        </p:nvSpPr>
        <p:spPr>
          <a:xfrm>
            <a:off x="762000" y="4826000"/>
            <a:ext cx="10668000" cy="762000"/>
          </a:xfrm>
          <a:prstGeom prst="roundRect">
            <a:avLst>
              <a:gd name="adj" fmla="val 16666"/>
            </a:avLst>
          </a:prstGeom>
          <a:gradFill rotWithShape="1">
            <a:gsLst>
              <a:gs pos="0">
                <a:srgbClr val="00A9E0">
                  <a:alpha val="20000"/>
                </a:srgbClr>
              </a:gs>
              <a:gs pos="100000">
                <a:srgbClr val="40E0D0">
                  <a:alpha val="10000"/>
                </a:srgbClr>
              </a:gs>
            </a:gsLst>
            <a:lin ang="0"/>
          </a:gradFill>
          <a:ln w="12700" cap="flat" cmpd="sng">
            <a:solidFill>
              <a:srgbClr val="00A9E0">
                <a:alpha val="50000"/>
              </a:srgbClr>
            </a:solidFill>
            <a:prstDash val="solid"/>
            <a:round/>
          </a:ln>
        </p:spPr>
        <p:txBody>
          <a:bodyPr vert="horz" wrap="square" lIns="63500" tIns="63500" rIns="63500" bIns="63500" rtlCol="0" anchor="ctr"/>
          <a:lstStyle/>
          <a:p>
            <a:pPr algn="ctr">
              <a:defRPr/>
            </a:pPr>
            <a:endParaRPr/>
          </a:p>
        </p:txBody>
      </p:sp>
      <p:sp>
        <p:nvSpPr>
          <p:cNvPr id="23" name="AutoShape 23"/>
          <p:cNvSpPr/>
          <p:nvPr/>
        </p:nvSpPr>
        <p:spPr>
          <a:xfrm>
            <a:off x="1016000" y="4978400"/>
            <a:ext cx="1016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Noto Sans SC"/>
                <a:ea typeface="Noto Sans SC"/>
                <a:cs typeface="Noto Sans SC"/>
                <a:sym typeface="Noto Sans SC"/>
              </a:rPr>
              <a:t>结论：</a:t>
            </a:r>
            <a:r>
              <a:rPr lang="en-US" sz="1600" b="0" i="0" u="none" strike="noStrike">
                <a:solidFill>
                  <a:srgbClr val="DCDCDC"/>
                </a:solidFill>
                <a:latin typeface="Noto Sans SC"/>
                <a:ea typeface="Noto Sans SC"/>
                <a:cs typeface="Noto Sans SC"/>
                <a:sym typeface="Noto Sans SC"/>
              </a:rPr>
              <a:t>本系统完全满足智能驾驶适宜性实时监测与决策辅助的实际应用需求，具备极高的推广价值。</a:t>
            </a:r>
            <a:endParaRPr lang="en-US" sz="110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1E1E1E">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l="1111" r="1111"/>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0F172A">
              <a:alpha val="70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0" y="0"/>
            <a:ext cx="12192000" cy="50800"/>
          </a:xfrm>
          <a:prstGeom prst="roundRect">
            <a:avLst>
              <a:gd name="adj" fmla="val 0"/>
            </a:avLst>
          </a:prstGeom>
          <a:gradFill rotWithShape="1">
            <a:gsLst>
              <a:gs pos="0">
                <a:srgbClr val="00A9E0">
                  <a:alpha val="100000"/>
                </a:srgbClr>
              </a:gs>
              <a:gs pos="100000">
                <a:srgbClr val="40E0D0">
                  <a:alpha val="100000"/>
                </a:srgbClr>
              </a:gs>
            </a:gsLst>
            <a:lin ang="0"/>
          </a:gradFill>
          <a:ln w="25400" cap="flat" cmpd="sng">
            <a:noFill/>
            <a:prstDash val="solid"/>
            <a:round/>
          </a:ln>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689600" y="1524000"/>
            <a:ext cx="812800" cy="812800"/>
          </a:xfrm>
          <a:prstGeom prst="rect">
            <a:avLst/>
          </a:prstGeom>
          <a:effectLst>
            <a:outerShdw blurRad="127000" dir="2700000" algn="tl" rotWithShape="0">
              <a:srgbClr val="00A9E0">
                <a:alpha val="50000"/>
              </a:srgbClr>
            </a:outerShdw>
          </a:effectLst>
        </p:spPr>
      </p:pic>
      <p:sp>
        <p:nvSpPr>
          <p:cNvPr id="6" name="AutoShape 6"/>
          <p:cNvSpPr/>
          <p:nvPr/>
        </p:nvSpPr>
        <p:spPr>
          <a:xfrm>
            <a:off x="4754880" y="2540000"/>
            <a:ext cx="2682240" cy="762000"/>
          </a:xfrm>
          <a:prstGeom prst="rect">
            <a:avLst/>
          </a:prstGeom>
          <a:noFill/>
          <a:ln w="12700" cap="flat" cmpd="sng">
            <a:noFill/>
            <a:prstDash val="solid"/>
            <a:round/>
          </a:ln>
        </p:spPr>
        <p:txBody>
          <a:bodyPr vert="horz" wrap="none" lIns="0" tIns="0" rIns="0" bIns="0" rtlCol="0" anchor="ctr" anchorCtr="0"/>
          <a:lstStyle/>
          <a:p>
            <a:pPr indent="0" algn="ctr">
              <a:lnSpc>
                <a:spcPct val="125000"/>
              </a:lnSpc>
              <a:defRPr/>
            </a:pPr>
            <a:r>
              <a:rPr lang="en-US" sz="4800" b="1" i="0" u="none" strike="noStrike">
                <a:solidFill>
                  <a:srgbClr val="FFFFFF"/>
                </a:solidFill>
                <a:latin typeface="Noto Sans SC"/>
                <a:ea typeface="Noto Sans SC"/>
                <a:cs typeface="Noto Sans SC"/>
                <a:sym typeface="Noto Sans SC"/>
              </a:rPr>
              <a:t>总结与展望</a:t>
            </a:r>
            <a:endParaRPr lang="en-US" sz="1100"/>
          </a:p>
        </p:txBody>
      </p:sp>
      <p:sp>
        <p:nvSpPr>
          <p:cNvPr id="7" name="AutoShape 7"/>
          <p:cNvSpPr/>
          <p:nvPr/>
        </p:nvSpPr>
        <p:spPr>
          <a:xfrm>
            <a:off x="2286000" y="3429000"/>
            <a:ext cx="7620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0" i="0" u="none" strike="noStrike" spc="400">
                <a:solidFill>
                  <a:srgbClr val="40E0D0"/>
                </a:solidFill>
                <a:latin typeface="Heebo"/>
                <a:ea typeface="Heebo"/>
                <a:cs typeface="Heebo"/>
                <a:sym typeface="Heebo"/>
              </a:rPr>
              <a:t>SUMMARY AND OUTLOOK</a:t>
            </a:r>
            <a:endParaRPr lang="en-US" sz="1100"/>
          </a:p>
        </p:txBody>
      </p:sp>
      <p:cxnSp>
        <p:nvCxnSpPr>
          <p:cNvPr id="8" name="Connector 8"/>
          <p:cNvCxnSpPr/>
          <p:nvPr/>
        </p:nvCxnSpPr>
        <p:spPr>
          <a:xfrm rot="-34376">
            <a:off x="5461032" y="4057650"/>
            <a:ext cx="1270000" cy="12700"/>
          </a:xfrm>
          <a:prstGeom prst="straightConnector1">
            <a:avLst/>
          </a:prstGeom>
          <a:solidFill>
            <a:srgbClr val="DEE0E3">
              <a:alpha val="100000"/>
            </a:srgbClr>
          </a:solidFill>
          <a:ln w="25400" cap="flat" cmpd="sng">
            <a:solidFill>
              <a:srgbClr val="FF8C00">
                <a:alpha val="100000"/>
              </a:srgbClr>
            </a:solidFill>
            <a:prstDash val="solid"/>
            <a:round/>
            <a:headEnd type="none" w="lg" len="lg"/>
            <a:tailEnd type="none" w="lg" len="lg"/>
          </a:ln>
        </p:spPr>
      </p:cxnSp>
      <p:sp>
        <p:nvSpPr>
          <p:cNvPr id="9" name="AutoShape 9"/>
          <p:cNvSpPr/>
          <p:nvPr/>
        </p:nvSpPr>
        <p:spPr>
          <a:xfrm>
            <a:off x="2921000" y="4826000"/>
            <a:ext cx="1778000" cy="508000"/>
          </a:xfrm>
          <a:prstGeom prst="roundRect">
            <a:avLst>
              <a:gd name="adj" fmla="val 25000"/>
            </a:avLst>
          </a:prstGeom>
          <a:solidFill>
            <a:srgbClr val="FFFFFF">
              <a:alpha val="10000"/>
            </a:srgbClr>
          </a:solidFill>
          <a:ln w="12700" cap="flat" cmpd="sng">
            <a:solidFill>
              <a:srgbClr val="00A9E0">
                <a:alpha val="30000"/>
              </a:srgbClr>
            </a:solidFill>
            <a:prstDash val="solid"/>
            <a:round/>
          </a:ln>
        </p:spPr>
        <p:txBody>
          <a:bodyPr vert="horz" wrap="square" lIns="0" tIns="0" rIns="0" bIns="0" rtlCol="0" anchor="ctr" anchorCtr="0"/>
          <a:lstStyle/>
          <a:p>
            <a:pPr indent="0" algn="ctr">
              <a:lnSpc>
                <a:spcPct val="125000"/>
              </a:lnSpc>
              <a:defRPr/>
            </a:pPr>
            <a:r>
              <a:rPr lang="en-US" sz="1400" b="0" i="0" u="none" strike="noStrike">
                <a:solidFill>
                  <a:srgbClr val="E5E7EB"/>
                </a:solidFill>
                <a:latin typeface="Noto Sans SC"/>
                <a:ea typeface="Noto Sans SC"/>
                <a:cs typeface="Noto Sans SC"/>
                <a:sym typeface="Noto Sans SC"/>
              </a:rPr>
              <a:t>成果回顾</a:t>
            </a:r>
            <a:endParaRPr lang="en-US" sz="1100"/>
          </a:p>
        </p:txBody>
      </p:sp>
      <p:sp>
        <p:nvSpPr>
          <p:cNvPr id="10" name="AutoShape 10"/>
          <p:cNvSpPr/>
          <p:nvPr/>
        </p:nvSpPr>
        <p:spPr>
          <a:xfrm>
            <a:off x="5207000" y="4826000"/>
            <a:ext cx="1778000" cy="508000"/>
          </a:xfrm>
          <a:prstGeom prst="roundRect">
            <a:avLst>
              <a:gd name="adj" fmla="val 25000"/>
            </a:avLst>
          </a:prstGeom>
          <a:solidFill>
            <a:srgbClr val="FFFFFF">
              <a:alpha val="10000"/>
            </a:srgbClr>
          </a:solidFill>
          <a:ln w="12700" cap="flat" cmpd="sng">
            <a:solidFill>
              <a:srgbClr val="00A9E0">
                <a:alpha val="30000"/>
              </a:srgbClr>
            </a:solidFill>
            <a:prstDash val="solid"/>
            <a:round/>
          </a:ln>
        </p:spPr>
        <p:txBody>
          <a:bodyPr vert="horz" wrap="square" lIns="0" tIns="0" rIns="0" bIns="0" rtlCol="0" anchor="ctr" anchorCtr="0"/>
          <a:lstStyle/>
          <a:p>
            <a:pPr indent="0" algn="ctr">
              <a:lnSpc>
                <a:spcPct val="125000"/>
              </a:lnSpc>
              <a:defRPr/>
            </a:pPr>
            <a:r>
              <a:rPr lang="en-US" sz="1400" b="0" i="0" u="none" strike="noStrike">
                <a:solidFill>
                  <a:srgbClr val="E5E7EB"/>
                </a:solidFill>
                <a:latin typeface="Noto Sans SC"/>
                <a:ea typeface="Noto Sans SC"/>
                <a:cs typeface="Noto Sans SC"/>
                <a:sym typeface="Noto Sans SC"/>
              </a:rPr>
              <a:t>经验沉淀</a:t>
            </a:r>
            <a:endParaRPr lang="en-US" sz="1100"/>
          </a:p>
        </p:txBody>
      </p:sp>
      <p:sp>
        <p:nvSpPr>
          <p:cNvPr id="11" name="AutoShape 11"/>
          <p:cNvSpPr/>
          <p:nvPr/>
        </p:nvSpPr>
        <p:spPr>
          <a:xfrm>
            <a:off x="7493000" y="4826000"/>
            <a:ext cx="1778000" cy="508000"/>
          </a:xfrm>
          <a:prstGeom prst="roundRect">
            <a:avLst>
              <a:gd name="adj" fmla="val 25000"/>
            </a:avLst>
          </a:prstGeom>
          <a:solidFill>
            <a:srgbClr val="FFFFFF">
              <a:alpha val="10000"/>
            </a:srgbClr>
          </a:solidFill>
          <a:ln w="12700" cap="flat" cmpd="sng">
            <a:solidFill>
              <a:srgbClr val="00A9E0">
                <a:alpha val="30000"/>
              </a:srgbClr>
            </a:solidFill>
            <a:prstDash val="solid"/>
            <a:round/>
          </a:ln>
        </p:spPr>
        <p:txBody>
          <a:bodyPr vert="horz" wrap="square" lIns="0" tIns="0" rIns="0" bIns="0" rtlCol="0" anchor="ctr" anchorCtr="0"/>
          <a:lstStyle/>
          <a:p>
            <a:pPr indent="0" algn="ctr">
              <a:lnSpc>
                <a:spcPct val="125000"/>
              </a:lnSpc>
              <a:defRPr/>
            </a:pPr>
            <a:r>
              <a:rPr lang="en-US" sz="1400" b="0" i="0" u="none" strike="noStrike">
                <a:solidFill>
                  <a:srgbClr val="E5E7EB"/>
                </a:solidFill>
                <a:latin typeface="Noto Sans SC"/>
                <a:ea typeface="Noto Sans SC"/>
                <a:cs typeface="Noto Sans SC"/>
                <a:sym typeface="Noto Sans SC"/>
              </a:rPr>
              <a:t>未来规划</a:t>
            </a:r>
            <a:endParaRPr lang="en-US" sz="1100"/>
          </a:p>
        </p:txBody>
      </p:sp>
      <p:sp>
        <p:nvSpPr>
          <p:cNvPr id="12" name="AutoShape 12"/>
          <p:cNvSpPr/>
          <p:nvPr/>
        </p:nvSpPr>
        <p:spPr>
          <a:xfrm>
            <a:off x="0" y="6807200"/>
            <a:ext cx="12192000" cy="50800"/>
          </a:xfrm>
          <a:prstGeom prst="roundRect">
            <a:avLst>
              <a:gd name="adj" fmla="val 0"/>
            </a:avLst>
          </a:prstGeom>
          <a:gradFill rotWithShape="1">
            <a:gsLst>
              <a:gs pos="0">
                <a:srgbClr val="FF8C00">
                  <a:alpha val="100000"/>
                </a:srgbClr>
              </a:gs>
              <a:gs pos="100000">
                <a:srgbClr val="FFB432">
                  <a:alpha val="100000"/>
                </a:srgbClr>
              </a:gs>
            </a:gsLst>
            <a:lin ang="0"/>
          </a:gradFill>
          <a:ln w="25400" cap="flat" cmpd="sng">
            <a:noFill/>
            <a:prstDash val="solid"/>
            <a:round/>
          </a:ln>
        </p:spPr>
        <p:txBody>
          <a:bodyPr vert="horz" wrap="square" lIns="63500" tIns="63500" rIns="63500" bIns="63500" rtlCol="0" anchor="ctr"/>
          <a:lstStyle/>
          <a:p>
            <a:pPr algn="ctr">
              <a:defRPr/>
            </a:pP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1E1E1E">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0A0F1E">
              <a:alpha val="75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762000" y="1016000"/>
            <a:ext cx="2032000" cy="5842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FFFFFF"/>
                </a:solidFill>
                <a:latin typeface="Noto Sans SC"/>
                <a:ea typeface="Noto Sans SC"/>
                <a:cs typeface="Noto Sans SC"/>
                <a:sym typeface="Noto Sans SC"/>
              </a:rPr>
              <a:t>主要结论</a:t>
            </a:r>
            <a:endParaRPr lang="en-US" sz="1100"/>
          </a:p>
        </p:txBody>
      </p:sp>
      <p:sp>
        <p:nvSpPr>
          <p:cNvPr id="5" name="AutoShape 5"/>
          <p:cNvSpPr/>
          <p:nvPr/>
        </p:nvSpPr>
        <p:spPr>
          <a:xfrm>
            <a:off x="762000" y="1651000"/>
            <a:ext cx="762000" cy="50800"/>
          </a:xfrm>
          <a:prstGeom prst="roundRect">
            <a:avLst>
              <a:gd name="adj" fmla="val 0"/>
            </a:avLst>
          </a:prstGeom>
          <a:solidFill>
            <a:srgbClr val="00A9E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762000" y="1968500"/>
            <a:ext cx="10668000" cy="711200"/>
          </a:xfrm>
          <a:prstGeom prst="roundRect">
            <a:avLst>
              <a:gd name="adj" fmla="val 17857"/>
            </a:avLst>
          </a:prstGeom>
          <a:solidFill>
            <a:srgbClr val="FFFFFF">
              <a:alpha val="8000"/>
            </a:srgbClr>
          </a:solidFill>
          <a:ln w="12700" cap="flat" cmpd="sng">
            <a:solidFill>
              <a:srgbClr val="00A9E0">
                <a:alpha val="30000"/>
              </a:srgbClr>
            </a:solidFill>
            <a:prstDash val="solid"/>
            <a:round/>
          </a:ln>
        </p:spPr>
        <p:txBody>
          <a:bodyPr vert="horz" wrap="square" lIns="63500" tIns="63500" rIns="63500" bIns="63500" rtlCol="0" anchor="ctr"/>
          <a:lstStyle/>
          <a:p>
            <a:pPr algn="ctr">
              <a:defRPr/>
            </a:pPr>
            <a:endParaRPr/>
          </a:p>
        </p:txBody>
      </p:sp>
      <p:pic>
        <p:nvPicPr>
          <p:cNvPr id="7" name="Picture 7"/>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2146300"/>
            <a:ext cx="355600" cy="355600"/>
          </a:xfrm>
          <a:prstGeom prst="rect">
            <a:avLst/>
          </a:prstGeom>
        </p:spPr>
      </p:pic>
      <p:sp>
        <p:nvSpPr>
          <p:cNvPr id="8" name="AutoShape 8"/>
          <p:cNvSpPr/>
          <p:nvPr/>
        </p:nvSpPr>
        <p:spPr>
          <a:xfrm>
            <a:off x="1524000" y="2133600"/>
            <a:ext cx="2032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dirty="0" err="1">
                <a:solidFill>
                  <a:srgbClr val="FFFFFF"/>
                </a:solidFill>
                <a:latin typeface="Noto Sans SC"/>
                <a:ea typeface="Noto Sans SC"/>
                <a:cs typeface="Noto Sans SC"/>
                <a:sym typeface="Noto Sans SC"/>
              </a:rPr>
              <a:t>多源</a:t>
            </a:r>
            <a:r>
              <a:rPr lang="zh-CN" altLang="en-US" sz="1800" b="1" i="0" u="none" strike="noStrike" dirty="0">
                <a:solidFill>
                  <a:srgbClr val="FFFFFF"/>
                </a:solidFill>
                <a:latin typeface="Noto Sans SC"/>
                <a:ea typeface="Noto Sans SC"/>
                <a:cs typeface="Noto Sans SC"/>
                <a:sym typeface="Noto Sans SC"/>
              </a:rPr>
              <a:t>大</a:t>
            </a:r>
            <a:r>
              <a:rPr lang="en-US" sz="1800" b="1" i="0" u="none" strike="noStrike" dirty="0" err="1">
                <a:solidFill>
                  <a:srgbClr val="FFFFFF"/>
                </a:solidFill>
                <a:latin typeface="Noto Sans SC"/>
                <a:ea typeface="Noto Sans SC"/>
                <a:cs typeface="Noto Sans SC"/>
                <a:sym typeface="Noto Sans SC"/>
              </a:rPr>
              <a:t>数据融合</a:t>
            </a:r>
            <a:endParaRPr lang="en-US" sz="1100" dirty="0"/>
          </a:p>
        </p:txBody>
      </p:sp>
      <p:sp>
        <p:nvSpPr>
          <p:cNvPr id="9" name="AutoShape 9"/>
          <p:cNvSpPr/>
          <p:nvPr/>
        </p:nvSpPr>
        <p:spPr>
          <a:xfrm>
            <a:off x="3810000" y="2159000"/>
            <a:ext cx="736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E5E7EB">
                    <a:alpha val="90196"/>
                  </a:srgbClr>
                </a:solidFill>
                <a:latin typeface="Noto Sans SC"/>
                <a:ea typeface="Noto Sans SC"/>
                <a:cs typeface="Noto Sans SC"/>
                <a:sym typeface="Noto Sans SC"/>
              </a:rPr>
              <a:t>有效解决了智能驾驶评估的数据支撑问题，整合异构数据源。</a:t>
            </a:r>
            <a:endParaRPr lang="en-US" sz="1100"/>
          </a:p>
        </p:txBody>
      </p:sp>
      <p:sp>
        <p:nvSpPr>
          <p:cNvPr id="10" name="AutoShape 10"/>
          <p:cNvSpPr/>
          <p:nvPr/>
        </p:nvSpPr>
        <p:spPr>
          <a:xfrm>
            <a:off x="762000" y="2806700"/>
            <a:ext cx="10668000" cy="711200"/>
          </a:xfrm>
          <a:prstGeom prst="roundRect">
            <a:avLst>
              <a:gd name="adj" fmla="val 17857"/>
            </a:avLst>
          </a:prstGeom>
          <a:solidFill>
            <a:srgbClr val="FFFFFF">
              <a:alpha val="8000"/>
            </a:srgbClr>
          </a:solidFill>
          <a:ln w="12700" cap="flat" cmpd="sng">
            <a:solidFill>
              <a:srgbClr val="40E0D0">
                <a:alpha val="30000"/>
              </a:srgbClr>
            </a:solidFill>
            <a:prstDash val="solid"/>
            <a:round/>
          </a:ln>
        </p:spPr>
        <p:txBody>
          <a:bodyPr vert="horz" wrap="square" lIns="63500" tIns="63500" rIns="63500" bIns="63500" rtlCol="0" anchor="ctr"/>
          <a:lstStyle/>
          <a:p>
            <a:pPr algn="ctr">
              <a:defRPr/>
            </a:pPr>
            <a:endParaRPr/>
          </a:p>
        </p:txBody>
      </p:sp>
      <p:pic>
        <p:nvPicPr>
          <p:cNvPr id="11" name="Picture 11"/>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2984500"/>
            <a:ext cx="355600" cy="355600"/>
          </a:xfrm>
          <a:prstGeom prst="rect">
            <a:avLst/>
          </a:prstGeom>
        </p:spPr>
      </p:pic>
      <p:sp>
        <p:nvSpPr>
          <p:cNvPr id="12" name="AutoShape 12"/>
          <p:cNvSpPr/>
          <p:nvPr/>
        </p:nvSpPr>
        <p:spPr>
          <a:xfrm>
            <a:off x="1524000" y="2971800"/>
            <a:ext cx="2032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Noto Sans SC"/>
                <a:ea typeface="Noto Sans SC"/>
                <a:cs typeface="Noto Sans SC"/>
                <a:sym typeface="Noto Sans SC"/>
              </a:rPr>
              <a:t>量化评分体系</a:t>
            </a:r>
            <a:endParaRPr lang="en-US" sz="1100"/>
          </a:p>
        </p:txBody>
      </p:sp>
      <p:sp>
        <p:nvSpPr>
          <p:cNvPr id="13" name="AutoShape 13"/>
          <p:cNvSpPr/>
          <p:nvPr/>
        </p:nvSpPr>
        <p:spPr>
          <a:xfrm>
            <a:off x="3810000" y="2997200"/>
            <a:ext cx="736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E5E7EB">
                    <a:alpha val="90196"/>
                  </a:srgbClr>
                </a:solidFill>
                <a:latin typeface="Noto Sans SC"/>
                <a:ea typeface="Noto Sans SC"/>
                <a:cs typeface="Noto Sans SC"/>
                <a:sym typeface="Noto Sans SC"/>
              </a:rPr>
              <a:t>建立科学指标模型，实现了适宜性评估的客观精准与可追溯。</a:t>
            </a:r>
            <a:endParaRPr lang="en-US" sz="1100"/>
          </a:p>
        </p:txBody>
      </p:sp>
      <p:sp>
        <p:nvSpPr>
          <p:cNvPr id="14" name="AutoShape 14"/>
          <p:cNvSpPr/>
          <p:nvPr/>
        </p:nvSpPr>
        <p:spPr>
          <a:xfrm>
            <a:off x="762000" y="3644900"/>
            <a:ext cx="10668000" cy="711200"/>
          </a:xfrm>
          <a:prstGeom prst="roundRect">
            <a:avLst>
              <a:gd name="adj" fmla="val 17857"/>
            </a:avLst>
          </a:prstGeom>
          <a:solidFill>
            <a:srgbClr val="FFFFFF">
              <a:alpha val="8000"/>
            </a:srgbClr>
          </a:solidFill>
          <a:ln w="12700" cap="flat" cmpd="sng">
            <a:solidFill>
              <a:srgbClr val="FF8C00">
                <a:alpha val="30000"/>
              </a:srgbClr>
            </a:solidFill>
            <a:prstDash val="solid"/>
            <a:round/>
          </a:ln>
        </p:spPr>
        <p:txBody>
          <a:bodyPr vert="horz" wrap="square" lIns="63500" tIns="63500" rIns="63500" bIns="63500" rtlCol="0" anchor="ctr"/>
          <a:lstStyle/>
          <a:p>
            <a:pPr algn="ctr">
              <a:defRPr/>
            </a:pPr>
            <a:endParaRPr/>
          </a:p>
        </p:txBody>
      </p:sp>
      <p:pic>
        <p:nvPicPr>
          <p:cNvPr id="15" name="Picture 1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16000" y="3822700"/>
            <a:ext cx="355600" cy="355600"/>
          </a:xfrm>
          <a:prstGeom prst="rect">
            <a:avLst/>
          </a:prstGeom>
        </p:spPr>
      </p:pic>
      <p:sp>
        <p:nvSpPr>
          <p:cNvPr id="16" name="AutoShape 16"/>
          <p:cNvSpPr/>
          <p:nvPr/>
        </p:nvSpPr>
        <p:spPr>
          <a:xfrm>
            <a:off x="1524000" y="3810000"/>
            <a:ext cx="2032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Noto Sans SC"/>
                <a:ea typeface="Noto Sans SC"/>
                <a:cs typeface="Noto Sans SC"/>
                <a:sym typeface="Noto Sans SC"/>
              </a:rPr>
              <a:t>容错与缓存机制</a:t>
            </a:r>
            <a:endParaRPr lang="en-US" sz="1100"/>
          </a:p>
        </p:txBody>
      </p:sp>
      <p:sp>
        <p:nvSpPr>
          <p:cNvPr id="17" name="AutoShape 17"/>
          <p:cNvSpPr/>
          <p:nvPr/>
        </p:nvSpPr>
        <p:spPr>
          <a:xfrm>
            <a:off x="3810000" y="3835400"/>
            <a:ext cx="736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E5E7EB">
                    <a:alpha val="90196"/>
                  </a:srgbClr>
                </a:solidFill>
                <a:latin typeface="Noto Sans SC"/>
                <a:ea typeface="Noto Sans SC"/>
                <a:cs typeface="Noto Sans SC"/>
                <a:sym typeface="Noto Sans SC"/>
              </a:rPr>
              <a:t>通过多级缓存与异常处理，保障了大数据处理的稳定性与高效性。</a:t>
            </a:r>
            <a:endParaRPr lang="en-US" sz="1100"/>
          </a:p>
        </p:txBody>
      </p:sp>
      <p:sp>
        <p:nvSpPr>
          <p:cNvPr id="18" name="AutoShape 18"/>
          <p:cNvSpPr/>
          <p:nvPr/>
        </p:nvSpPr>
        <p:spPr>
          <a:xfrm>
            <a:off x="762000" y="4483100"/>
            <a:ext cx="10668000" cy="711200"/>
          </a:xfrm>
          <a:prstGeom prst="roundRect">
            <a:avLst>
              <a:gd name="adj" fmla="val 17857"/>
            </a:avLst>
          </a:prstGeom>
          <a:solidFill>
            <a:srgbClr val="FFFFFF">
              <a:alpha val="8000"/>
            </a:srgbClr>
          </a:solidFill>
          <a:ln w="12700" cap="flat" cmpd="sng">
            <a:solidFill>
              <a:srgbClr val="00A9E0">
                <a:alpha val="30000"/>
              </a:srgbClr>
            </a:solidFill>
            <a:prstDash val="solid"/>
            <a:round/>
          </a:ln>
        </p:spPr>
        <p:txBody>
          <a:bodyPr vert="horz" wrap="square" lIns="63500" tIns="63500" rIns="63500" bIns="63500" rtlCol="0" anchor="ctr"/>
          <a:lstStyle/>
          <a:p>
            <a:pPr algn="ctr">
              <a:defRPr/>
            </a:pPr>
            <a:endParaRPr/>
          </a:p>
        </p:txBody>
      </p:sp>
      <p:pic>
        <p:nvPicPr>
          <p:cNvPr id="19" name="Picture 19"/>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16000" y="4660900"/>
            <a:ext cx="355600" cy="355600"/>
          </a:xfrm>
          <a:prstGeom prst="rect">
            <a:avLst/>
          </a:prstGeom>
        </p:spPr>
      </p:pic>
      <p:sp>
        <p:nvSpPr>
          <p:cNvPr id="20" name="AutoShape 20"/>
          <p:cNvSpPr/>
          <p:nvPr/>
        </p:nvSpPr>
        <p:spPr>
          <a:xfrm>
            <a:off x="1524000" y="4648200"/>
            <a:ext cx="2032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Noto Sans SC"/>
                <a:ea typeface="Noto Sans SC"/>
                <a:cs typeface="Noto Sans SC"/>
                <a:sym typeface="Noto Sans SC"/>
              </a:rPr>
              <a:t>可视化与交互设计</a:t>
            </a:r>
            <a:endParaRPr lang="en-US" sz="1100"/>
          </a:p>
        </p:txBody>
      </p:sp>
      <p:sp>
        <p:nvSpPr>
          <p:cNvPr id="21" name="AutoShape 21"/>
          <p:cNvSpPr/>
          <p:nvPr/>
        </p:nvSpPr>
        <p:spPr>
          <a:xfrm>
            <a:off x="3810000" y="4673600"/>
            <a:ext cx="736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E5E7EB">
                    <a:alpha val="90196"/>
                  </a:srgbClr>
                </a:solidFill>
                <a:latin typeface="Noto Sans SC"/>
                <a:ea typeface="Noto Sans SC"/>
                <a:cs typeface="Noto Sans SC"/>
                <a:sym typeface="Noto Sans SC"/>
              </a:rPr>
              <a:t>直观呈现评估结果，优化人机交互流程，提升了系统的落地性。</a:t>
            </a:r>
            <a:endParaRPr lang="en-US" sz="1100"/>
          </a:p>
        </p:txBody>
      </p:sp>
      <p:sp>
        <p:nvSpPr>
          <p:cNvPr id="22" name="AutoShape 22"/>
          <p:cNvSpPr/>
          <p:nvPr/>
        </p:nvSpPr>
        <p:spPr>
          <a:xfrm>
            <a:off x="762000" y="5321300"/>
            <a:ext cx="10668000" cy="711200"/>
          </a:xfrm>
          <a:prstGeom prst="roundRect">
            <a:avLst>
              <a:gd name="adj" fmla="val 17857"/>
            </a:avLst>
          </a:prstGeom>
          <a:solidFill>
            <a:srgbClr val="FFFFFF">
              <a:alpha val="8000"/>
            </a:srgbClr>
          </a:solidFill>
          <a:ln w="12700" cap="flat" cmpd="sng">
            <a:solidFill>
              <a:srgbClr val="40E0D0">
                <a:alpha val="30000"/>
              </a:srgbClr>
            </a:solidFill>
            <a:prstDash val="solid"/>
            <a:round/>
          </a:ln>
        </p:spPr>
        <p:txBody>
          <a:bodyPr vert="horz" wrap="square" lIns="63500" tIns="63500" rIns="63500" bIns="63500" rtlCol="0" anchor="ctr"/>
          <a:lstStyle/>
          <a:p>
            <a:pPr algn="ctr">
              <a:defRPr/>
            </a:pPr>
            <a:endParaRPr/>
          </a:p>
        </p:txBody>
      </p:sp>
      <p:pic>
        <p:nvPicPr>
          <p:cNvPr id="23" name="Picture 2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16000" y="5499100"/>
            <a:ext cx="355600" cy="355600"/>
          </a:xfrm>
          <a:prstGeom prst="rect">
            <a:avLst/>
          </a:prstGeom>
        </p:spPr>
      </p:pic>
      <p:sp>
        <p:nvSpPr>
          <p:cNvPr id="24" name="AutoShape 24"/>
          <p:cNvSpPr/>
          <p:nvPr/>
        </p:nvSpPr>
        <p:spPr>
          <a:xfrm>
            <a:off x="1524000" y="5486400"/>
            <a:ext cx="2032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Noto Sans SC"/>
                <a:ea typeface="Noto Sans SC"/>
                <a:cs typeface="Noto Sans SC"/>
                <a:sym typeface="Noto Sans SC"/>
              </a:rPr>
              <a:t>高扩展性</a:t>
            </a:r>
            <a:endParaRPr lang="en-US" sz="1100"/>
          </a:p>
        </p:txBody>
      </p:sp>
      <p:sp>
        <p:nvSpPr>
          <p:cNvPr id="25" name="AutoShape 25"/>
          <p:cNvSpPr/>
          <p:nvPr/>
        </p:nvSpPr>
        <p:spPr>
          <a:xfrm>
            <a:off x="3810000" y="5511800"/>
            <a:ext cx="736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E5E7EB">
                    <a:alpha val="90196"/>
                  </a:srgbClr>
                </a:solidFill>
                <a:latin typeface="Noto Sans SC"/>
                <a:ea typeface="Noto Sans SC"/>
                <a:cs typeface="Noto Sans SC"/>
                <a:sym typeface="Noto Sans SC"/>
              </a:rPr>
              <a:t>模块化架构设计，具备良好的扩展和适配能力，应用前景广阔。</a:t>
            </a:r>
            <a:endParaRPr lang="en-US" sz="110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141414">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l="1111" r="1111"/>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0F172A">
              <a:alpha val="85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762000" y="1016000"/>
            <a:ext cx="20066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FFFFFF"/>
                </a:solidFill>
                <a:latin typeface="Noto Sans SC"/>
                <a:ea typeface="Noto Sans SC"/>
                <a:cs typeface="Noto Sans SC"/>
                <a:sym typeface="Noto Sans SC"/>
              </a:rPr>
              <a:t>未来展望</a:t>
            </a:r>
            <a:endParaRPr lang="en-US" sz="1100"/>
          </a:p>
        </p:txBody>
      </p:sp>
      <p:sp>
        <p:nvSpPr>
          <p:cNvPr id="5" name="AutoShape 5"/>
          <p:cNvSpPr/>
          <p:nvPr/>
        </p:nvSpPr>
        <p:spPr>
          <a:xfrm>
            <a:off x="762000" y="2032000"/>
            <a:ext cx="5080000" cy="1397000"/>
          </a:xfrm>
          <a:prstGeom prst="roundRect">
            <a:avLst>
              <a:gd name="adj" fmla="val 9090"/>
            </a:avLst>
          </a:prstGeom>
          <a:solidFill>
            <a:srgbClr val="FFFFFF">
              <a:alpha val="8000"/>
            </a:srgbClr>
          </a:solidFill>
          <a:ln w="12700" cap="flat" cmpd="sng">
            <a:solidFill>
              <a:srgbClr val="00A9E0">
                <a:alpha val="30000"/>
              </a:srgbClr>
            </a:solidFill>
            <a:prstDash val="solid"/>
            <a:round/>
          </a:ln>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2476500"/>
            <a:ext cx="508000" cy="508000"/>
          </a:xfrm>
          <a:prstGeom prst="rect">
            <a:avLst/>
          </a:prstGeom>
        </p:spPr>
      </p:pic>
      <p:sp>
        <p:nvSpPr>
          <p:cNvPr id="7" name="AutoShape 7"/>
          <p:cNvSpPr/>
          <p:nvPr/>
        </p:nvSpPr>
        <p:spPr>
          <a:xfrm>
            <a:off x="1651000" y="2222500"/>
            <a:ext cx="406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A9E0"/>
                </a:solidFill>
                <a:latin typeface="Noto Sans SC"/>
                <a:ea typeface="Noto Sans SC"/>
                <a:cs typeface="Noto Sans SC"/>
                <a:sym typeface="Noto Sans SC"/>
              </a:rPr>
              <a:t>扩展数据来源</a:t>
            </a:r>
            <a:endParaRPr lang="en-US" sz="1100"/>
          </a:p>
        </p:txBody>
      </p:sp>
      <p:sp>
        <p:nvSpPr>
          <p:cNvPr id="8" name="AutoShape 8"/>
          <p:cNvSpPr/>
          <p:nvPr/>
        </p:nvSpPr>
        <p:spPr>
          <a:xfrm>
            <a:off x="1651000" y="2603500"/>
            <a:ext cx="3937000" cy="635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400" b="0" i="0" u="none" strike="noStrike" dirty="0" err="1">
                <a:solidFill>
                  <a:srgbClr val="FFFFFF">
                    <a:alpha val="80000"/>
                  </a:srgbClr>
                </a:solidFill>
                <a:latin typeface="Noto Sans SC"/>
                <a:ea typeface="Noto Sans SC"/>
                <a:cs typeface="Noto Sans SC"/>
                <a:sym typeface="Noto Sans SC"/>
              </a:rPr>
              <a:t>引入更多维度数据，丰富分析基础</a:t>
            </a:r>
            <a:r>
              <a:rPr lang="en-US" sz="1400" b="0" i="0" u="none" strike="noStrike" dirty="0">
                <a:solidFill>
                  <a:srgbClr val="FFFFFF">
                    <a:alpha val="80000"/>
                  </a:srgbClr>
                </a:solidFill>
                <a:latin typeface="Noto Sans SC"/>
                <a:ea typeface="Noto Sans SC"/>
                <a:cs typeface="Noto Sans SC"/>
                <a:sym typeface="Noto Sans SC"/>
              </a:rPr>
              <a:t>。</a:t>
            </a:r>
            <a:endParaRPr lang="en-US" sz="1100" dirty="0"/>
          </a:p>
        </p:txBody>
      </p:sp>
      <p:sp>
        <p:nvSpPr>
          <p:cNvPr id="9" name="AutoShape 9"/>
          <p:cNvSpPr/>
          <p:nvPr/>
        </p:nvSpPr>
        <p:spPr>
          <a:xfrm>
            <a:off x="6350000" y="2032000"/>
            <a:ext cx="5080000" cy="1397000"/>
          </a:xfrm>
          <a:prstGeom prst="roundRect">
            <a:avLst>
              <a:gd name="adj" fmla="val 9090"/>
            </a:avLst>
          </a:prstGeom>
          <a:solidFill>
            <a:srgbClr val="FFFFFF">
              <a:alpha val="8000"/>
            </a:srgbClr>
          </a:solidFill>
          <a:ln w="12700" cap="flat" cmpd="sng">
            <a:solidFill>
              <a:srgbClr val="40E0D0">
                <a:alpha val="30000"/>
              </a:srgbClr>
            </a:solidFill>
            <a:prstDash val="solid"/>
            <a:round/>
          </a:ln>
        </p:spPr>
        <p:txBody>
          <a:bodyPr vert="horz" wrap="square" lIns="63500" tIns="63500" rIns="63500" bIns="63500" rtlCol="0" anchor="ctr"/>
          <a:lstStyle/>
          <a:p>
            <a:pPr algn="ctr">
              <a:defRPr/>
            </a:pPr>
            <a:endParaRPr/>
          </a:p>
        </p:txBody>
      </p:sp>
      <p:pic>
        <p:nvPicPr>
          <p:cNvPr id="10" name="Picture 10"/>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604000" y="2476500"/>
            <a:ext cx="508000" cy="508000"/>
          </a:xfrm>
          <a:prstGeom prst="rect">
            <a:avLst/>
          </a:prstGeom>
        </p:spPr>
      </p:pic>
      <p:sp>
        <p:nvSpPr>
          <p:cNvPr id="11" name="AutoShape 11"/>
          <p:cNvSpPr/>
          <p:nvPr/>
        </p:nvSpPr>
        <p:spPr>
          <a:xfrm>
            <a:off x="7239000" y="2222500"/>
            <a:ext cx="406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40E0D0"/>
                </a:solidFill>
                <a:latin typeface="Noto Sans SC"/>
                <a:ea typeface="Noto Sans SC"/>
                <a:cs typeface="Noto Sans SC"/>
                <a:sym typeface="Noto Sans SC"/>
              </a:rPr>
              <a:t>引入机器学习</a:t>
            </a:r>
            <a:endParaRPr lang="en-US" sz="1100"/>
          </a:p>
        </p:txBody>
      </p:sp>
      <p:sp>
        <p:nvSpPr>
          <p:cNvPr id="12" name="AutoShape 12"/>
          <p:cNvSpPr/>
          <p:nvPr/>
        </p:nvSpPr>
        <p:spPr>
          <a:xfrm>
            <a:off x="7239000" y="2603500"/>
            <a:ext cx="3937000" cy="635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400" b="0" i="0" u="none" strike="noStrike">
                <a:solidFill>
                  <a:srgbClr val="FFFFFF">
                    <a:alpha val="80000"/>
                  </a:srgbClr>
                </a:solidFill>
                <a:latin typeface="Noto Sans SC"/>
                <a:ea typeface="Noto Sans SC"/>
                <a:cs typeface="Noto Sans SC"/>
                <a:sym typeface="Noto Sans SC"/>
              </a:rPr>
              <a:t>优化评分模型，通过AI算法持续迭代，提升预测与评估能力。</a:t>
            </a:r>
            <a:endParaRPr lang="en-US" sz="1100"/>
          </a:p>
        </p:txBody>
      </p:sp>
      <p:sp>
        <p:nvSpPr>
          <p:cNvPr id="13" name="AutoShape 13"/>
          <p:cNvSpPr/>
          <p:nvPr/>
        </p:nvSpPr>
        <p:spPr>
          <a:xfrm>
            <a:off x="762000" y="3683000"/>
            <a:ext cx="5080000" cy="1397000"/>
          </a:xfrm>
          <a:prstGeom prst="roundRect">
            <a:avLst>
              <a:gd name="adj" fmla="val 9090"/>
            </a:avLst>
          </a:prstGeom>
          <a:solidFill>
            <a:srgbClr val="FFFFFF">
              <a:alpha val="8000"/>
            </a:srgbClr>
          </a:solidFill>
          <a:ln w="12700" cap="flat" cmpd="sng">
            <a:solidFill>
              <a:srgbClr val="FF8C00">
                <a:alpha val="30000"/>
              </a:srgbClr>
            </a:solidFill>
            <a:prstDash val="solid"/>
            <a:round/>
          </a:ln>
        </p:spPr>
        <p:txBody>
          <a:bodyPr vert="horz" wrap="square" lIns="63500" tIns="63500" rIns="63500" bIns="63500" rtlCol="0" anchor="ctr"/>
          <a:lstStyle/>
          <a:p>
            <a:pPr algn="ctr">
              <a:defRPr/>
            </a:pPr>
            <a:endParaRPr/>
          </a:p>
        </p:txBody>
      </p:sp>
      <p:pic>
        <p:nvPicPr>
          <p:cNvPr id="14" name="Picture 1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16000" y="4127500"/>
            <a:ext cx="508000" cy="508000"/>
          </a:xfrm>
          <a:prstGeom prst="rect">
            <a:avLst/>
          </a:prstGeom>
        </p:spPr>
      </p:pic>
      <p:sp>
        <p:nvSpPr>
          <p:cNvPr id="15" name="AutoShape 15"/>
          <p:cNvSpPr/>
          <p:nvPr/>
        </p:nvSpPr>
        <p:spPr>
          <a:xfrm>
            <a:off x="1651000" y="3873500"/>
            <a:ext cx="406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8C00"/>
                </a:solidFill>
                <a:latin typeface="Noto Sans SC"/>
                <a:ea typeface="Noto Sans SC"/>
                <a:cs typeface="Noto Sans SC"/>
                <a:sym typeface="Noto Sans SC"/>
              </a:rPr>
              <a:t>实现区域态势热力图</a:t>
            </a:r>
            <a:endParaRPr lang="en-US" sz="1100"/>
          </a:p>
        </p:txBody>
      </p:sp>
      <p:sp>
        <p:nvSpPr>
          <p:cNvPr id="16" name="AutoShape 16"/>
          <p:cNvSpPr/>
          <p:nvPr/>
        </p:nvSpPr>
        <p:spPr>
          <a:xfrm>
            <a:off x="1651000" y="4254500"/>
            <a:ext cx="3937000" cy="635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400" b="0" i="0" u="none" strike="noStrike">
                <a:solidFill>
                  <a:srgbClr val="FFFFFF">
                    <a:alpha val="80000"/>
                  </a:srgbClr>
                </a:solidFill>
                <a:latin typeface="Noto Sans SC"/>
                <a:ea typeface="Noto Sans SC"/>
                <a:cs typeface="Noto Sans SC"/>
                <a:sym typeface="Noto Sans SC"/>
              </a:rPr>
              <a:t>提供更宏观的区域适宜性分布展示，直观呈现空间动态趋势。</a:t>
            </a:r>
            <a:endParaRPr lang="en-US" sz="1100"/>
          </a:p>
        </p:txBody>
      </p:sp>
      <p:sp>
        <p:nvSpPr>
          <p:cNvPr id="17" name="AutoShape 17"/>
          <p:cNvSpPr/>
          <p:nvPr/>
        </p:nvSpPr>
        <p:spPr>
          <a:xfrm>
            <a:off x="6350000" y="3683000"/>
            <a:ext cx="5080000" cy="1397000"/>
          </a:xfrm>
          <a:prstGeom prst="roundRect">
            <a:avLst>
              <a:gd name="adj" fmla="val 9090"/>
            </a:avLst>
          </a:prstGeom>
          <a:solidFill>
            <a:srgbClr val="FFFFFF">
              <a:alpha val="8000"/>
            </a:srgbClr>
          </a:solidFill>
          <a:ln w="12700" cap="flat" cmpd="sng">
            <a:solidFill>
              <a:srgbClr val="00A9E0">
                <a:alpha val="30000"/>
              </a:srgbClr>
            </a:solidFill>
            <a:prstDash val="solid"/>
            <a:round/>
          </a:ln>
        </p:spPr>
        <p:txBody>
          <a:bodyPr vert="horz" wrap="square" lIns="63500" tIns="63500" rIns="63500" bIns="63500" rtlCol="0" anchor="ctr"/>
          <a:lstStyle/>
          <a:p>
            <a:pPr algn="ctr">
              <a:defRPr/>
            </a:pPr>
            <a:endParaRPr/>
          </a:p>
        </p:txBody>
      </p:sp>
      <p:pic>
        <p:nvPicPr>
          <p:cNvPr id="18" name="Picture 18"/>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604000" y="4127500"/>
            <a:ext cx="508000" cy="508000"/>
          </a:xfrm>
          <a:prstGeom prst="rect">
            <a:avLst/>
          </a:prstGeom>
        </p:spPr>
      </p:pic>
      <p:sp>
        <p:nvSpPr>
          <p:cNvPr id="19" name="AutoShape 19"/>
          <p:cNvSpPr/>
          <p:nvPr/>
        </p:nvSpPr>
        <p:spPr>
          <a:xfrm>
            <a:off x="7239000" y="3873500"/>
            <a:ext cx="406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A9E0"/>
                </a:solidFill>
                <a:latin typeface="Noto Sans SC"/>
                <a:ea typeface="Noto Sans SC"/>
                <a:cs typeface="Noto Sans SC"/>
                <a:sym typeface="Noto Sans SC"/>
              </a:rPr>
              <a:t>对接外部系统</a:t>
            </a:r>
            <a:endParaRPr lang="en-US" sz="1100"/>
          </a:p>
        </p:txBody>
      </p:sp>
      <p:sp>
        <p:nvSpPr>
          <p:cNvPr id="20" name="AutoShape 20"/>
          <p:cNvSpPr/>
          <p:nvPr/>
        </p:nvSpPr>
        <p:spPr>
          <a:xfrm>
            <a:off x="7239000" y="4254500"/>
            <a:ext cx="3937000" cy="635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400" b="0" i="0" u="none" strike="noStrike">
                <a:solidFill>
                  <a:srgbClr val="FFFFFF">
                    <a:alpha val="80000"/>
                  </a:srgbClr>
                </a:solidFill>
                <a:latin typeface="Noto Sans SC"/>
                <a:ea typeface="Noto Sans SC"/>
                <a:cs typeface="Noto Sans SC"/>
                <a:sym typeface="Noto Sans SC"/>
              </a:rPr>
              <a:t>与车企、交管平台等进行深度集成，打破数据孤岛，协同运作。</a:t>
            </a:r>
            <a:endParaRPr lang="en-US" sz="1100"/>
          </a:p>
        </p:txBody>
      </p:sp>
      <p:sp>
        <p:nvSpPr>
          <p:cNvPr id="21" name="AutoShape 21"/>
          <p:cNvSpPr/>
          <p:nvPr/>
        </p:nvSpPr>
        <p:spPr>
          <a:xfrm>
            <a:off x="762000" y="5461000"/>
            <a:ext cx="10668000" cy="25400"/>
          </a:xfrm>
          <a:prstGeom prst="roundRect">
            <a:avLst>
              <a:gd name="adj" fmla="val 0"/>
            </a:avLst>
          </a:prstGeom>
          <a:gradFill rotWithShape="1">
            <a:gsLst>
              <a:gs pos="0">
                <a:srgbClr val="00A9E0">
                  <a:alpha val="0"/>
                </a:srgbClr>
              </a:gs>
              <a:gs pos="50000">
                <a:srgbClr val="00A9E0">
                  <a:alpha val="100000"/>
                </a:srgbClr>
              </a:gs>
              <a:gs pos="100000">
                <a:srgbClr val="00A9E0">
                  <a:alpha val="0"/>
                </a:srgbClr>
              </a:gs>
            </a:gsLst>
            <a:lin ang="0"/>
          </a:gradFill>
          <a:ln w="25400" cap="flat" cmpd="sng">
            <a:noFill/>
            <a:prstDash val="solid"/>
            <a:round/>
          </a:ln>
        </p:spPr>
        <p:txBody>
          <a:bodyPr vert="horz" wrap="square" lIns="63500" tIns="63500" rIns="63500" bIns="63500" rtlCol="0" anchor="ctr"/>
          <a:lstStyle/>
          <a:p>
            <a:pPr algn="ctr">
              <a:defRPr/>
            </a:pPr>
            <a:endParaRPr/>
          </a:p>
        </p:txBody>
      </p:sp>
      <p:sp>
        <p:nvSpPr>
          <p:cNvPr id="22" name="AutoShape 22"/>
          <p:cNvSpPr/>
          <p:nvPr/>
        </p:nvSpPr>
        <p:spPr>
          <a:xfrm>
            <a:off x="762000" y="5715000"/>
            <a:ext cx="1066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0" i="0" u="none" strike="noStrike">
                <a:solidFill>
                  <a:srgbClr val="FFFFFF">
                    <a:alpha val="60000"/>
                  </a:srgbClr>
                </a:solidFill>
                <a:latin typeface="Noto Sans SC"/>
                <a:ea typeface="Noto Sans SC"/>
                <a:cs typeface="Noto Sans SC"/>
                <a:sym typeface="Noto Sans SC"/>
              </a:rPr>
              <a:t>持续创新 · 数据驱动 · 开放共赢</a:t>
            </a:r>
            <a:endParaRPr lang="en-US" sz="110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0A192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l="1111" r="1111"/>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0A192F">
              <a:alpha val="80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0" y="0"/>
            <a:ext cx="12192000" cy="50800"/>
          </a:xfrm>
          <a:prstGeom prst="roundRect">
            <a:avLst>
              <a:gd name="adj" fmla="val 0"/>
            </a:avLst>
          </a:prstGeom>
          <a:gradFill rotWithShape="1">
            <a:gsLst>
              <a:gs pos="0">
                <a:srgbClr val="00A9E0">
                  <a:alpha val="100000"/>
                </a:srgbClr>
              </a:gs>
              <a:gs pos="100000">
                <a:srgbClr val="40E0D0">
                  <a:alpha val="100000"/>
                </a:srgbClr>
              </a:gs>
            </a:gsLst>
            <a:lin ang="0"/>
          </a:gradFill>
          <a:ln w="25400" cap="flat" cmpd="sng">
            <a:no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0" y="2032000"/>
            <a:ext cx="12192000" cy="762000"/>
          </a:xfrm>
          <a:prstGeom prst="rect">
            <a:avLst/>
          </a:prstGeom>
          <a:noFill/>
          <a:ln w="12700" cap="flat" cmpd="sng">
            <a:noFill/>
            <a:prstDash val="solid"/>
            <a:round/>
          </a:ln>
        </p:spPr>
        <p:txBody>
          <a:bodyPr vert="horz" wrap="none" lIns="0" tIns="0" rIns="0" bIns="0" rtlCol="0" anchor="ctr" anchorCtr="0"/>
          <a:lstStyle/>
          <a:p>
            <a:pPr indent="0" algn="ctr">
              <a:lnSpc>
                <a:spcPct val="125000"/>
              </a:lnSpc>
              <a:defRPr/>
            </a:pPr>
            <a:r>
              <a:rPr lang="zh-CN" altLang="en-US" sz="4000" b="1" i="0" u="none" strike="noStrike" dirty="0">
                <a:solidFill>
                  <a:srgbClr val="FFFFFF"/>
                </a:solidFill>
                <a:latin typeface="Noto Sans SC"/>
                <a:ea typeface="Noto Sans SC"/>
                <a:cs typeface="Noto Sans SC"/>
                <a:sym typeface="Noto Sans SC"/>
              </a:rPr>
              <a:t>请评委老师批评指正！</a:t>
            </a:r>
            <a:endParaRPr lang="en-US" sz="1100" dirty="0"/>
          </a:p>
        </p:txBody>
      </p:sp>
      <p:pic>
        <p:nvPicPr>
          <p:cNvPr id="6" name="Picture 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791200" y="2921000"/>
            <a:ext cx="609600" cy="609600"/>
          </a:xfrm>
          <a:prstGeom prst="rect">
            <a:avLst/>
          </a:prstGeom>
        </p:spPr>
      </p:pic>
      <p:sp>
        <p:nvSpPr>
          <p:cNvPr id="7" name="AutoShape 7"/>
          <p:cNvSpPr/>
          <p:nvPr/>
        </p:nvSpPr>
        <p:spPr>
          <a:xfrm>
            <a:off x="0" y="3683000"/>
            <a:ext cx="12192000" cy="1016000"/>
          </a:xfrm>
          <a:prstGeom prst="rect">
            <a:avLst/>
          </a:prstGeom>
          <a:noFill/>
          <a:ln w="12700" cap="flat" cmpd="sng">
            <a:noFill/>
            <a:prstDash val="solid"/>
            <a:round/>
          </a:ln>
        </p:spPr>
        <p:txBody>
          <a:bodyPr vert="horz" wrap="none" lIns="0" tIns="0" rIns="0" bIns="0" rtlCol="0" anchor="ctr" anchorCtr="0"/>
          <a:lstStyle/>
          <a:p>
            <a:pPr indent="0" algn="ctr">
              <a:lnSpc>
                <a:spcPct val="125000"/>
              </a:lnSpc>
              <a:defRPr/>
            </a:pPr>
            <a:r>
              <a:rPr lang="en-US" sz="5600" b="1" i="0" u="none" strike="noStrike">
                <a:solidFill>
                  <a:srgbClr val="FF8C00"/>
                </a:solidFill>
                <a:latin typeface="Noto Sans SC"/>
                <a:ea typeface="Noto Sans SC"/>
                <a:cs typeface="Noto Sans SC"/>
                <a:sym typeface="Noto Sans SC"/>
              </a:rPr>
              <a:t>Q &amp; A</a:t>
            </a:r>
            <a:endParaRPr lang="en-US" sz="1100"/>
          </a:p>
        </p:txBody>
      </p:sp>
      <p:sp>
        <p:nvSpPr>
          <p:cNvPr id="8" name="AutoShape 8"/>
          <p:cNvSpPr/>
          <p:nvPr/>
        </p:nvSpPr>
        <p:spPr>
          <a:xfrm>
            <a:off x="0" y="4826000"/>
            <a:ext cx="12192000" cy="381000"/>
          </a:xfrm>
          <a:prstGeom prst="rect">
            <a:avLst/>
          </a:prstGeom>
          <a:noFill/>
          <a:ln w="12700" cap="flat" cmpd="sng">
            <a:noFill/>
            <a:prstDash val="solid"/>
            <a:round/>
          </a:ln>
        </p:spPr>
        <p:txBody>
          <a:bodyPr vert="horz" wrap="none" lIns="0" tIns="0" rIns="0" bIns="0" rtlCol="0" anchor="ctr" anchorCtr="0"/>
          <a:lstStyle/>
          <a:p>
            <a:pPr indent="0" algn="ctr">
              <a:lnSpc>
                <a:spcPct val="125000"/>
              </a:lnSpc>
              <a:defRPr/>
            </a:pPr>
            <a:r>
              <a:rPr lang="en-US" sz="1600" b="0" i="0" u="none" strike="noStrike" spc="400">
                <a:solidFill>
                  <a:srgbClr val="FFFFFF">
                    <a:alpha val="60000"/>
                  </a:srgbClr>
                </a:solidFill>
                <a:latin typeface="Noto Sans SC"/>
                <a:ea typeface="Noto Sans SC"/>
                <a:cs typeface="Noto Sans SC"/>
                <a:sym typeface="Noto Sans SC"/>
              </a:rPr>
              <a:t>THANKS FOR LISTENING</a:t>
            </a:r>
            <a:endParaRPr lang="en-US" sz="1100"/>
          </a:p>
        </p:txBody>
      </p:sp>
      <p:sp>
        <p:nvSpPr>
          <p:cNvPr id="9" name="AutoShape 9"/>
          <p:cNvSpPr/>
          <p:nvPr/>
        </p:nvSpPr>
        <p:spPr>
          <a:xfrm>
            <a:off x="0" y="6807200"/>
            <a:ext cx="12192000" cy="50800"/>
          </a:xfrm>
          <a:prstGeom prst="roundRect">
            <a:avLst>
              <a:gd name="adj" fmla="val 0"/>
            </a:avLst>
          </a:prstGeom>
          <a:gradFill rotWithShape="1">
            <a:gsLst>
              <a:gs pos="0">
                <a:srgbClr val="40E0D0">
                  <a:alpha val="100000"/>
                </a:srgbClr>
              </a:gs>
              <a:gs pos="100000">
                <a:srgbClr val="00A9E0">
                  <a:alpha val="100000"/>
                </a:srgbClr>
              </a:gs>
            </a:gsLst>
            <a:lin ang="0"/>
          </a:gradFill>
          <a:ln w="25400" cap="flat" cmpd="sng">
            <a:noFill/>
            <a:prstDash val="solid"/>
            <a:round/>
          </a:ln>
        </p:spPr>
        <p:txBody>
          <a:bodyPr vert="horz" wrap="square" lIns="63500" tIns="63500" rIns="63500" bIns="63500" rtlCol="0" anchor="ctr"/>
          <a:lstStyle/>
          <a:p>
            <a:pPr algn="ctr">
              <a:defRPr/>
            </a:pPr>
            <a:endParaRPr/>
          </a:p>
        </p:txBody>
      </p:sp>
    </p:spTree>
  </p:cSld>
  <p:clrMapOvr>
    <a:masterClrMapping/>
  </p:clrMapOvr>
</p:sld>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800</TotalTime>
  <Words>837</Words>
  <Application>Microsoft Office PowerPoint</Application>
  <PresentationFormat>宽屏</PresentationFormat>
  <Paragraphs>213</Paragraphs>
  <Slides>24</Slides>
  <Notes>20</Notes>
  <HiddenSlides>0</HiddenSlides>
  <MMClips>0</MMClips>
  <ScaleCrop>false</ScaleCrop>
  <HeadingPairs>
    <vt:vector size="6" baseType="variant">
      <vt:variant>
        <vt:lpstr>已用的字体</vt:lpstr>
      </vt:variant>
      <vt:variant>
        <vt:i4>3</vt:i4>
      </vt:variant>
      <vt:variant>
        <vt:lpstr>主题</vt:lpstr>
      </vt:variant>
      <vt:variant>
        <vt:i4>2</vt:i4>
      </vt:variant>
      <vt:variant>
        <vt:lpstr>幻灯片标题</vt:lpstr>
      </vt:variant>
      <vt:variant>
        <vt:i4>24</vt:i4>
      </vt:variant>
    </vt:vector>
  </HeadingPairs>
  <TitlesOfParts>
    <vt:vector size="29" baseType="lpstr">
      <vt:lpstr>Noto Sans SC</vt:lpstr>
      <vt:lpstr>Arial</vt:lpstr>
      <vt:lpstr>Heebo</vt:lpstr>
      <vt:lpstr>Office 主题​​</vt:lpstr>
      <vt:lpstr>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孙翊杰</dc:creator>
  <cp:lastModifiedBy>浩铭 杨</cp:lastModifiedBy>
  <cp:revision>8</cp:revision>
  <dcterms:modified xsi:type="dcterms:W3CDTF">2026-04-12T13:54:52Z</dcterms:modified>
</cp:coreProperties>
</file>